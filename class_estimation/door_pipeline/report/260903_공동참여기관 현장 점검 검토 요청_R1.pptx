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8"/>
  </p:notesMasterIdLst>
  <p:sldIdLst>
    <p:sldId id="1649" r:id="rId2"/>
    <p:sldId id="1650" r:id="rId3"/>
    <p:sldId id="1651" r:id="rId4"/>
    <p:sldId id="1652" r:id="rId5"/>
    <p:sldId id="1653" r:id="rId6"/>
    <p:sldId id="1654" r:id="rId7"/>
    <p:sldId id="1655" r:id="rId8"/>
    <p:sldId id="1656" r:id="rId9"/>
    <p:sldId id="1657" r:id="rId10"/>
    <p:sldId id="1658" r:id="rId11"/>
    <p:sldId id="1659" r:id="rId12"/>
    <p:sldId id="1660" r:id="rId13"/>
    <p:sldId id="1661" r:id="rId14"/>
    <p:sldId id="1662" r:id="rId15"/>
    <p:sldId id="1663" r:id="rId16"/>
    <p:sldId id="1664" r:id="rId17"/>
  </p:sldIdLst>
  <p:sldSz cx="12192000" cy="6858000"/>
  <p:notesSz cx="6807200" cy="9939338"/>
  <p:embeddedFontLst>
    <p:embeddedFont>
      <p:font typeface="KoPubWorld돋움체 Bold" panose="00000800000000000000" pitchFamily="2" charset="-127"/>
      <p:bold r:id="rId19"/>
    </p:embeddedFont>
    <p:embeddedFont>
      <p:font typeface="KoPub돋움체 Bold" panose="02020603020101020101" pitchFamily="18" charset="-127"/>
      <p:regular r:id="rId20"/>
    </p:embeddedFont>
    <p:embeddedFont>
      <p:font typeface="KoPub돋움체 Medium" panose="02020603020101020101" pitchFamily="18" charset="-127"/>
      <p:regular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E98609-6246-4B34-B2CB-B9519CB94DBD}">
          <p14:sldIdLst>
            <p14:sldId id="1649"/>
            <p14:sldId id="1650"/>
            <p14:sldId id="1651"/>
            <p14:sldId id="1652"/>
            <p14:sldId id="1653"/>
            <p14:sldId id="1654"/>
            <p14:sldId id="1655"/>
            <p14:sldId id="1656"/>
            <p14:sldId id="1657"/>
            <p14:sldId id="1658"/>
            <p14:sldId id="1659"/>
            <p14:sldId id="1660"/>
            <p14:sldId id="1661"/>
            <p14:sldId id="1662"/>
            <p14:sldId id="1663"/>
            <p14:sldId id="1664"/>
          </p14:sldIdLst>
        </p14:section>
        <p14:section name="별첨" id="{7D21C946-527E-4BA7-9510-607E85619B74}">
          <p14:sldIdLst/>
        </p14:section>
      </p14:sectionLst>
    </p:ext>
    <p:ext uri="{EFAFB233-063F-42B5-8137-9DF3F51BA10A}">
      <p15:sldGuideLst xmlns:p15="http://schemas.microsoft.com/office/powerpoint/2012/main">
        <p15:guide id="2" pos="762" userDrawn="1">
          <p15:clr>
            <a:srgbClr val="A4A3A4"/>
          </p15:clr>
        </p15:guide>
        <p15:guide id="3" orient="horz" pos="4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E45"/>
    <a:srgbClr val="67696F"/>
    <a:srgbClr val="B9BCC0"/>
    <a:srgbClr val="57585C"/>
    <a:srgbClr val="E0E4E6"/>
    <a:srgbClr val="0000FF"/>
    <a:srgbClr val="CCECFF"/>
    <a:srgbClr val="003399"/>
    <a:srgbClr val="008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23" autoAdjust="0"/>
    <p:restoredTop sz="96336" autoAdjust="0"/>
  </p:normalViewPr>
  <p:slideViewPr>
    <p:cSldViewPr snapToGrid="0">
      <p:cViewPr varScale="1">
        <p:scale>
          <a:sx n="150" d="100"/>
          <a:sy n="150" d="100"/>
        </p:scale>
        <p:origin x="88" y="220"/>
      </p:cViewPr>
      <p:guideLst>
        <p:guide pos="762"/>
        <p:guide orient="horz" pos="40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084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5687" tIns="47844" rIns="95687" bIns="47844" rtlCol="0"/>
          <a:lstStyle>
            <a:lvl1pPr algn="l">
              <a:defRPr sz="13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5687" tIns="47844" rIns="95687" bIns="47844" rtlCol="0"/>
          <a:lstStyle>
            <a:lvl1pPr algn="r">
              <a:defRPr sz="13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EB72BE2B-44C0-421A-B80A-A7AF87DE1E35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87" tIns="47844" rIns="95687" bIns="47844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5687" tIns="47844" rIns="95687" bIns="47844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5687" tIns="47844" rIns="95687" bIns="47844" rtlCol="0" anchor="b"/>
          <a:lstStyle>
            <a:lvl1pPr algn="l">
              <a:defRPr sz="13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5687" tIns="47844" rIns="95687" bIns="47844" rtlCol="0" anchor="b"/>
          <a:lstStyle>
            <a:lvl1pPr algn="r">
              <a:defRPr sz="13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4657E711-952B-4476-B1EB-68AC514D822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5328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2020603020101020101" pitchFamily="18" charset="-127"/>
        <a:ea typeface="KoPub돋움체 Medium" panose="02020603020101020101" pitchFamily="18" charset="-127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  <a:lvl3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3pPr>
            <a:lvl4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4pPr>
            <a:lvl5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12192000" cy="6858000"/>
            <a:chOff x="0" y="0"/>
            <a:chExt cx="9906000" cy="6858000"/>
          </a:xfrm>
        </p:grpSpPr>
        <p:pic>
          <p:nvPicPr>
            <p:cNvPr id="8" name="Picture 2" descr="D:\주혜개인작업\공기업(크몽)_190601\그림1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276" r="1"/>
            <a:stretch/>
          </p:blipFill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A4F90E5-1AD4-4856-9DD1-80778F9139AF}"/>
                </a:ext>
              </a:extLst>
            </p:cNvPr>
            <p:cNvSpPr/>
            <p:nvPr/>
          </p:nvSpPr>
          <p:spPr>
            <a:xfrm>
              <a:off x="0" y="999342"/>
              <a:ext cx="9905995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1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10" name="자유형: 도형 31">
            <a:extLst>
              <a:ext uri="{FF2B5EF4-FFF2-40B4-BE49-F238E27FC236}">
                <a16:creationId xmlns:a16="http://schemas.microsoft.com/office/drawing/2014/main" id="{995F0373-2146-42BB-9DFB-D6325DA92A96}"/>
              </a:ext>
            </a:extLst>
          </p:cNvPr>
          <p:cNvSpPr/>
          <p:nvPr userDrawn="1"/>
        </p:nvSpPr>
        <p:spPr>
          <a:xfrm rot="506043">
            <a:off x="-80489" y="-101414"/>
            <a:ext cx="1557404" cy="1214046"/>
          </a:xfrm>
          <a:custGeom>
            <a:avLst/>
            <a:gdLst>
              <a:gd name="connsiteX0" fmla="*/ 0 w 1265391"/>
              <a:gd name="connsiteY0" fmla="*/ 187625 h 1214046"/>
              <a:gd name="connsiteX1" fmla="*/ 1265391 w 1265391"/>
              <a:gd name="connsiteY1" fmla="*/ 0 h 1214046"/>
              <a:gd name="connsiteX2" fmla="*/ 1265391 w 1265391"/>
              <a:gd name="connsiteY2" fmla="*/ 1048987 h 1214046"/>
              <a:gd name="connsiteX3" fmla="*/ 152193 w 1265391"/>
              <a:gd name="connsiteY3" fmla="*/ 1214046 h 121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5391" h="1214046">
                <a:moveTo>
                  <a:pt x="0" y="187625"/>
                </a:moveTo>
                <a:lnTo>
                  <a:pt x="1265391" y="0"/>
                </a:lnTo>
                <a:lnTo>
                  <a:pt x="1265391" y="1048987"/>
                </a:lnTo>
                <a:lnTo>
                  <a:pt x="152193" y="1214046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1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자유형: 도형 32">
            <a:extLst>
              <a:ext uri="{FF2B5EF4-FFF2-40B4-BE49-F238E27FC236}">
                <a16:creationId xmlns:a16="http://schemas.microsoft.com/office/drawing/2014/main" id="{90D39638-26A4-4893-A9D8-48B101BBEE74}"/>
              </a:ext>
            </a:extLst>
          </p:cNvPr>
          <p:cNvSpPr/>
          <p:nvPr userDrawn="1"/>
        </p:nvSpPr>
        <p:spPr>
          <a:xfrm rot="1007880">
            <a:off x="-117796" y="-209390"/>
            <a:ext cx="1548787" cy="1195362"/>
          </a:xfrm>
          <a:custGeom>
            <a:avLst/>
            <a:gdLst>
              <a:gd name="connsiteX0" fmla="*/ 1258389 w 1258389"/>
              <a:gd name="connsiteY0" fmla="*/ 0 h 1195362"/>
              <a:gd name="connsiteX1" fmla="*/ 1258389 w 1258389"/>
              <a:gd name="connsiteY1" fmla="*/ 1083892 h 1195362"/>
              <a:gd name="connsiteX2" fmla="*/ 889135 w 1258389"/>
              <a:gd name="connsiteY2" fmla="*/ 1195362 h 1195362"/>
              <a:gd name="connsiteX3" fmla="*/ 246177 w 1258389"/>
              <a:gd name="connsiteY3" fmla="*/ 1195362 h 1195362"/>
              <a:gd name="connsiteX4" fmla="*/ 0 w 1258389"/>
              <a:gd name="connsiteY4" fmla="*/ 379883 h 1195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8389" h="1195362">
                <a:moveTo>
                  <a:pt x="1258389" y="0"/>
                </a:moveTo>
                <a:lnTo>
                  <a:pt x="1258389" y="1083892"/>
                </a:lnTo>
                <a:lnTo>
                  <a:pt x="889135" y="1195362"/>
                </a:lnTo>
                <a:lnTo>
                  <a:pt x="246177" y="1195362"/>
                </a:lnTo>
                <a:lnTo>
                  <a:pt x="0" y="379883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1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019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908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EBE4A2-7C04-60D7-19D0-ADAADDD7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81780"/>
            <a:ext cx="2844800" cy="250831"/>
          </a:xfrm>
        </p:spPr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634F34-4E11-CF9E-F9A4-0460575BDA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8" b="78538"/>
          <a:stretch/>
        </p:blipFill>
        <p:spPr>
          <a:xfrm>
            <a:off x="0" y="10291"/>
            <a:ext cx="12192000" cy="145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79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1E60FD-CFB7-0B62-10DA-538BEF17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03644CA-B621-EECD-B18D-8716A20F73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8" b="78538"/>
          <a:stretch/>
        </p:blipFill>
        <p:spPr>
          <a:xfrm>
            <a:off x="0" y="10291"/>
            <a:ext cx="12192000" cy="145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2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51C803C-7B87-43B9-84E8-8EB37EC9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A5F12D-AB58-D050-7752-620CA1548F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8" b="78538"/>
          <a:stretch/>
        </p:blipFill>
        <p:spPr>
          <a:xfrm>
            <a:off x="0" y="10291"/>
            <a:ext cx="12192000" cy="145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6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1E60FD-CFB7-0B62-10DA-538BEF17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F1A59FF-0986-876A-6252-FA1E29090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8" b="78538"/>
          <a:stretch/>
        </p:blipFill>
        <p:spPr>
          <a:xfrm>
            <a:off x="0" y="10291"/>
            <a:ext cx="12192000" cy="145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2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25162-B9FB-40C4-3CCE-1FF538AE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298560-FF3F-A4BC-0D3E-8800B0CB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562F0E-54F4-EF0E-B5C5-CF58108FE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D8BCC3-0EE8-0B07-8B95-BAEBCC756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765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1E60FD-CFB7-0B62-10DA-538BEF17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1ACD9A9-420B-F30C-F63C-58431BCCB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8" b="78538"/>
          <a:stretch/>
        </p:blipFill>
        <p:spPr>
          <a:xfrm>
            <a:off x="0" y="10291"/>
            <a:ext cx="12192000" cy="145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58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4E8851-9BF2-5AD5-E41A-E6AB2E13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619875"/>
            <a:ext cx="2844800" cy="245522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99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26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6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4960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4" r:id="rId3"/>
    <p:sldLayoutId id="2147483685" r:id="rId4"/>
    <p:sldLayoutId id="2147483712" r:id="rId5"/>
    <p:sldLayoutId id="2147483709" r:id="rId6"/>
    <p:sldLayoutId id="2147483711" r:id="rId7"/>
    <p:sldLayoutId id="2147483710" r:id="rId8"/>
    <p:sldLayoutId id="2147483686" r:id="rId9"/>
    <p:sldLayoutId id="2147483679" r:id="rId10"/>
  </p:sldLayoutIdLst>
  <p:hf hdr="0" ftr="0" dt="0"/>
  <p:txStyles>
    <p:titleStyle>
      <a:lvl1pPr algn="ctr" defTabSz="990539" rtl="0" eaLnBrk="1" latinLnBrk="1" hangingPunct="1">
        <a:spcBef>
          <a:spcPct val="0"/>
        </a:spcBef>
        <a:buNone/>
        <a:defRPr sz="4767" kern="1200">
          <a:solidFill>
            <a:schemeClr val="tx1"/>
          </a:solidFill>
          <a:latin typeface="KoPub돋움체 Bold" panose="02020603020101020101" pitchFamily="18" charset="-127"/>
          <a:ea typeface="KoPub돋움체 Bold" panose="02020603020101020101" pitchFamily="18" charset="-127"/>
          <a:cs typeface="+mj-cs"/>
        </a:defRPr>
      </a:lvl1pPr>
    </p:titleStyle>
    <p:bodyStyle>
      <a:lvl1pPr marL="371452" indent="-371452" algn="l" defTabSz="990539" rtl="0" eaLnBrk="1" latinLnBrk="1" hangingPunct="1">
        <a:spcBef>
          <a:spcPct val="20000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KoPub돋움체 Bold" panose="02020603020101020101" pitchFamily="18" charset="-127"/>
          <a:ea typeface="KoPub돋움체 Bold" panose="02020603020101020101" pitchFamily="18" charset="-127"/>
          <a:cs typeface="+mn-cs"/>
        </a:defRPr>
      </a:lvl1pPr>
      <a:lvl2pPr marL="804813" indent="-309544" algn="l" defTabSz="990539" rtl="0" eaLnBrk="1" latinLnBrk="1" hangingPunct="1">
        <a:spcBef>
          <a:spcPct val="20000"/>
        </a:spcBef>
        <a:buFont typeface="Arial" panose="020B0604020202020204" pitchFamily="34" charset="0"/>
        <a:buChar char="–"/>
        <a:defRPr sz="3033" kern="1200">
          <a:solidFill>
            <a:schemeClr val="tx1"/>
          </a:solidFill>
          <a:latin typeface="KoPub돋움체 Bold" panose="02020603020101020101" pitchFamily="18" charset="-127"/>
          <a:ea typeface="KoPub돋움체 Bold" panose="02020603020101020101" pitchFamily="18" charset="-127"/>
          <a:cs typeface="+mn-cs"/>
        </a:defRPr>
      </a:lvl2pPr>
      <a:lvl3pPr marL="1238173" indent="-247635" algn="l" defTabSz="990539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KoPub돋움체 Bold" panose="02020603020101020101" pitchFamily="18" charset="-127"/>
          <a:ea typeface="KoPub돋움체 Bold" panose="02020603020101020101" pitchFamily="18" charset="-127"/>
          <a:cs typeface="+mn-cs"/>
        </a:defRPr>
      </a:lvl3pPr>
      <a:lvl4pPr marL="1733443" indent="-247635" algn="l" defTabSz="990539" rtl="0" eaLnBrk="1" latinLnBrk="1" hangingPunct="1">
        <a:spcBef>
          <a:spcPct val="20000"/>
        </a:spcBef>
        <a:buFont typeface="Arial" panose="020B0604020202020204" pitchFamily="34" charset="0"/>
        <a:buChar char="–"/>
        <a:defRPr sz="2167" kern="1200">
          <a:solidFill>
            <a:schemeClr val="tx1"/>
          </a:solidFill>
          <a:latin typeface="KoPub돋움체 Bold" panose="02020603020101020101" pitchFamily="18" charset="-127"/>
          <a:ea typeface="KoPub돋움체 Bold" panose="02020603020101020101" pitchFamily="18" charset="-127"/>
          <a:cs typeface="+mn-cs"/>
        </a:defRPr>
      </a:lvl4pPr>
      <a:lvl5pPr marL="2228712" indent="-247635" algn="l" defTabSz="990539" rtl="0" eaLnBrk="1" latinLnBrk="1" hangingPunct="1">
        <a:spcBef>
          <a:spcPct val="20000"/>
        </a:spcBef>
        <a:buFont typeface="Arial" panose="020B0604020202020204" pitchFamily="34" charset="0"/>
        <a:buChar char="»"/>
        <a:defRPr sz="2167" kern="1200">
          <a:solidFill>
            <a:schemeClr val="tx1"/>
          </a:solidFill>
          <a:latin typeface="KoPub돋움체 Bold" panose="02020603020101020101" pitchFamily="18" charset="-127"/>
          <a:ea typeface="KoPub돋움체 Bold" panose="02020603020101020101" pitchFamily="18" charset="-127"/>
          <a:cs typeface="+mn-cs"/>
        </a:defRPr>
      </a:lvl5pPr>
      <a:lvl6pPr marL="2723983" indent="-247635" algn="l" defTabSz="990539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253" indent="-247635" algn="l" defTabSz="990539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522" indent="-247635" algn="l" defTabSz="990539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791" indent="-247635" algn="l" defTabSz="990539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39" rtl="0" eaLnBrk="1" latinLnBrk="1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1pPr>
      <a:lvl2pPr marL="495270" algn="l" defTabSz="990539" rtl="0" eaLnBrk="1" latinLnBrk="1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2pPr>
      <a:lvl3pPr marL="990539" algn="l" defTabSz="990539" rtl="0" eaLnBrk="1" latinLnBrk="1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3pPr>
      <a:lvl4pPr marL="1485810" algn="l" defTabSz="990539" rtl="0" eaLnBrk="1" latinLnBrk="1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4pPr>
      <a:lvl5pPr marL="1981077" algn="l" defTabSz="990539" rtl="0" eaLnBrk="1" latinLnBrk="1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5pPr>
      <a:lvl6pPr marL="2476349" algn="l" defTabSz="990539" rtl="0" eaLnBrk="1" latinLnBrk="1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16" algn="l" defTabSz="990539" rtl="0" eaLnBrk="1" latinLnBrk="1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7pPr>
      <a:lvl8pPr marL="3466887" algn="l" defTabSz="990539" rtl="0" eaLnBrk="1" latinLnBrk="1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8pPr>
      <a:lvl9pPr marL="3962156" algn="l" defTabSz="990539" rtl="0" eaLnBrk="1" latinLnBrk="1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299653"/>
            <a:ext cx="20345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종류</a:t>
            </a:r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및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확보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1555685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1-1.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필요한 제조 데이터가 잘 정의되어 있는가?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884869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884869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305493"/>
            <a:ext cx="331927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붐·하부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센터프레임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로봇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용접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공정의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아크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카메라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영상과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PAUT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스캔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영상을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비전은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표면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정상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불량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판정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PAUT는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결함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위치·크기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검출에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활용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판정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클래스는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OK/NG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구조이며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유형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분류는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향후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고도화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예정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884869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884869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305493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레이저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용접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Fillet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이미지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데이터를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정상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1종(1000W)·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이상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12종으로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구분해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OK/NG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판별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및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모델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학습·검증에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활용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884869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884869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</a:t>
            </a:r>
            <a:r>
              <a:rPr sz="1200" b="1" dirty="0" err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연구원</a:t>
            </a:r>
            <a:endParaRPr sz="1200" b="1" dirty="0">
              <a:solidFill>
                <a:srgbClr val="FFFFF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38744" y="2305493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도어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8종(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차종×위치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)을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인식하기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위해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RGB+Depth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이미지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쌍을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판별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외형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치수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슬롯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수·배치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)을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CAD에서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추출해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스펙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파일로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관리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024565"/>
            <a:ext cx="11201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1-2. 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실라인에서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획득되는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제조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스펙이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잘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정의되어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있는가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353749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353749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774373"/>
            <a:ext cx="3319272" cy="81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로봇·PLC 상태 정보는 LAN 기반 TCP 소켓 통신으로 수신. 불량 발생 시점 조인트 좌표를 영상 프레임·판정 결과와 연계. 카메라는 MECAWELD M2-130U, 운영 시 60fps 스트리밍 취득.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353749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353749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774373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로봇 용접 시작/종료 I/O 신호로 영상 저장을 제어하고, 제품·Joint 정보는 Ethernet TCP/IP로 수신하도록 통신 규격 정의. 실라인 상시 운영은 차년도 실증 예정.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353749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353749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774373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경주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공장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용접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라인에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무인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시스템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정식 설치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‧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가동 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(2026-08-27~).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작업자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조작으로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저장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→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세종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NAS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업로드되는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체계로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구성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E258E7-F998-592A-468A-6EC9F610E124}"/>
              </a:ext>
            </a:extLst>
          </p:cNvPr>
          <p:cNvGrpSpPr/>
          <p:nvPr/>
        </p:nvGrpSpPr>
        <p:grpSpPr>
          <a:xfrm>
            <a:off x="376596" y="885257"/>
            <a:ext cx="6677211" cy="307777"/>
            <a:chOff x="460669" y="1030288"/>
            <a:chExt cx="6677211" cy="30777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58F7591-9C01-6410-2EC8-107630194F61}"/>
                </a:ext>
              </a:extLst>
            </p:cNvPr>
            <p:cNvSpPr/>
            <p:nvPr/>
          </p:nvSpPr>
          <p:spPr>
            <a:xfrm>
              <a:off x="831025" y="1030288"/>
              <a:ext cx="6306855" cy="30777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600">
                  <a:solidFill>
                    <a:schemeClr val="accent3">
                      <a:lumOff val="-5176"/>
                    </a:schemeClr>
                  </a:solidFill>
                  <a:latin typeface="S-Core Dream 7 ExtraBold"/>
                  <a:ea typeface="S-Core Dream 7 ExtraBold"/>
                  <a:cs typeface="S-Core Dream 7 ExtraBold"/>
                  <a:sym typeface="S-Core Dream 7 ExtraBold"/>
                </a:defRPr>
              </a:pPr>
              <a:r>
                <a:rPr lang="en-US" altLang="ko-KR" sz="2000" b="1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AI </a:t>
              </a:r>
              <a:r>
                <a:rPr lang="ko-KR" altLang="en-US" sz="2000" b="1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자율제조 실현을 위한 데이터</a:t>
              </a:r>
              <a:r>
                <a:rPr lang="en-US" altLang="ko-KR" sz="2000" b="1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2000" b="1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모델 확보 현황 및 향후 계획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DC85D72F-17DF-F46F-5B9D-85939B5F3745}"/>
                </a:ext>
              </a:extLst>
            </p:cNvPr>
            <p:cNvGrpSpPr/>
            <p:nvPr/>
          </p:nvGrpSpPr>
          <p:grpSpPr>
            <a:xfrm>
              <a:off x="460669" y="1072886"/>
              <a:ext cx="279903" cy="223371"/>
              <a:chOff x="455905" y="3343173"/>
              <a:chExt cx="299797" cy="239248"/>
            </a:xfrm>
          </p:grpSpPr>
          <p:sp>
            <p:nvSpPr>
              <p:cNvPr id="5" name="모서리가 둥근 직사각형 74">
                <a:extLst>
                  <a:ext uri="{FF2B5EF4-FFF2-40B4-BE49-F238E27FC236}">
                    <a16:creationId xmlns:a16="http://schemas.microsoft.com/office/drawing/2014/main" id="{86B768DE-0655-1724-B792-C3A54E0813EA}"/>
                  </a:ext>
                </a:extLst>
              </p:cNvPr>
              <p:cNvSpPr/>
              <p:nvPr/>
            </p:nvSpPr>
            <p:spPr>
              <a:xfrm>
                <a:off x="547439" y="3343173"/>
                <a:ext cx="207369" cy="239248"/>
              </a:xfrm>
              <a:prstGeom prst="roundRect">
                <a:avLst/>
              </a:prstGeom>
              <a:solidFill>
                <a:srgbClr val="1B75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400"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" name="자유형 75">
                <a:extLst>
                  <a:ext uri="{FF2B5EF4-FFF2-40B4-BE49-F238E27FC236}">
                    <a16:creationId xmlns:a16="http://schemas.microsoft.com/office/drawing/2014/main" id="{9BE659F5-32E3-2E95-D8BB-B8A572F6646B}"/>
                  </a:ext>
                </a:extLst>
              </p:cNvPr>
              <p:cNvSpPr/>
              <p:nvPr/>
            </p:nvSpPr>
            <p:spPr>
              <a:xfrm>
                <a:off x="455905" y="3397179"/>
                <a:ext cx="169069" cy="181759"/>
              </a:xfrm>
              <a:custGeom>
                <a:avLst/>
                <a:gdLst>
                  <a:gd name="connsiteX0" fmla="*/ 64294 w 169069"/>
                  <a:gd name="connsiteY0" fmla="*/ 133350 h 133350"/>
                  <a:gd name="connsiteX1" fmla="*/ 0 w 169069"/>
                  <a:gd name="connsiteY1" fmla="*/ 0 h 133350"/>
                  <a:gd name="connsiteX2" fmla="*/ 169069 w 169069"/>
                  <a:gd name="connsiteY2" fmla="*/ 0 h 133350"/>
                  <a:gd name="connsiteX3" fmla="*/ 64294 w 169069"/>
                  <a:gd name="connsiteY3" fmla="*/ 13335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9069" h="133350">
                    <a:moveTo>
                      <a:pt x="64294" y="133350"/>
                    </a:moveTo>
                    <a:lnTo>
                      <a:pt x="0" y="0"/>
                    </a:lnTo>
                    <a:lnTo>
                      <a:pt x="169069" y="0"/>
                    </a:lnTo>
                    <a:lnTo>
                      <a:pt x="64294" y="133350"/>
                    </a:lnTo>
                    <a:close/>
                  </a:path>
                </a:pathLst>
              </a:custGeom>
              <a:gradFill>
                <a:gsLst>
                  <a:gs pos="63000">
                    <a:schemeClr val="bg1">
                      <a:lumMod val="50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400"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7" name="모서리가 둥근 직사각형 76">
                <a:extLst>
                  <a:ext uri="{FF2B5EF4-FFF2-40B4-BE49-F238E27FC236}">
                    <a16:creationId xmlns:a16="http://schemas.microsoft.com/office/drawing/2014/main" id="{6BE82793-483B-93A9-7340-E73094F94AF4}"/>
                  </a:ext>
                </a:extLst>
              </p:cNvPr>
              <p:cNvSpPr/>
              <p:nvPr/>
            </p:nvSpPr>
            <p:spPr>
              <a:xfrm>
                <a:off x="522340" y="3343173"/>
                <a:ext cx="202647" cy="239248"/>
              </a:xfrm>
              <a:prstGeom prst="roundRect">
                <a:avLst>
                  <a:gd name="adj" fmla="val 0"/>
                </a:avLst>
              </a:prstGeom>
              <a:solidFill>
                <a:srgbClr val="1B75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400"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8" name="자유형 77">
                <a:extLst>
                  <a:ext uri="{FF2B5EF4-FFF2-40B4-BE49-F238E27FC236}">
                    <a16:creationId xmlns:a16="http://schemas.microsoft.com/office/drawing/2014/main" id="{0EDB0C93-EC1A-5AEC-0E1C-727B231A17A4}"/>
                  </a:ext>
                </a:extLst>
              </p:cNvPr>
              <p:cNvSpPr/>
              <p:nvPr/>
            </p:nvSpPr>
            <p:spPr>
              <a:xfrm>
                <a:off x="522338" y="3438361"/>
                <a:ext cx="233364" cy="142915"/>
              </a:xfrm>
              <a:custGeom>
                <a:avLst/>
                <a:gdLst>
                  <a:gd name="connsiteX0" fmla="*/ 0 w 243723"/>
                  <a:gd name="connsiteY0" fmla="*/ 0 h 144059"/>
                  <a:gd name="connsiteX1" fmla="*/ 179700 w 243723"/>
                  <a:gd name="connsiteY1" fmla="*/ 16668 h 144059"/>
                  <a:gd name="connsiteX2" fmla="*/ 233364 w 243723"/>
                  <a:gd name="connsiteY2" fmla="*/ 56605 h 144059"/>
                  <a:gd name="connsiteX3" fmla="*/ 233364 w 243723"/>
                  <a:gd name="connsiteY3" fmla="*/ 144059 h 144059"/>
                  <a:gd name="connsiteX4" fmla="*/ 243723 w 243723"/>
                  <a:gd name="connsiteY4" fmla="*/ 144059 h 144059"/>
                  <a:gd name="connsiteX5" fmla="*/ 169951 w 243723"/>
                  <a:gd name="connsiteY5" fmla="*/ 142874 h 144059"/>
                  <a:gd name="connsiteX6" fmla="*/ 7812 w 243723"/>
                  <a:gd name="connsiteY6" fmla="*/ 142875 h 144059"/>
                  <a:gd name="connsiteX7" fmla="*/ 0 w 243723"/>
                  <a:gd name="connsiteY7" fmla="*/ 0 h 144059"/>
                  <a:gd name="connsiteX0" fmla="*/ 0 w 243723"/>
                  <a:gd name="connsiteY0" fmla="*/ 0 h 145411"/>
                  <a:gd name="connsiteX1" fmla="*/ 179700 w 243723"/>
                  <a:gd name="connsiteY1" fmla="*/ 16668 h 145411"/>
                  <a:gd name="connsiteX2" fmla="*/ 233364 w 243723"/>
                  <a:gd name="connsiteY2" fmla="*/ 56605 h 145411"/>
                  <a:gd name="connsiteX3" fmla="*/ 233364 w 243723"/>
                  <a:gd name="connsiteY3" fmla="*/ 144059 h 145411"/>
                  <a:gd name="connsiteX4" fmla="*/ 243723 w 243723"/>
                  <a:gd name="connsiteY4" fmla="*/ 144059 h 145411"/>
                  <a:gd name="connsiteX5" fmla="*/ 169951 w 243723"/>
                  <a:gd name="connsiteY5" fmla="*/ 142874 h 145411"/>
                  <a:gd name="connsiteX6" fmla="*/ 7812 w 243723"/>
                  <a:gd name="connsiteY6" fmla="*/ 142875 h 145411"/>
                  <a:gd name="connsiteX7" fmla="*/ 0 w 243723"/>
                  <a:gd name="connsiteY7" fmla="*/ 0 h 145411"/>
                  <a:gd name="connsiteX0" fmla="*/ 0 w 233364"/>
                  <a:gd name="connsiteY0" fmla="*/ 0 h 144059"/>
                  <a:gd name="connsiteX1" fmla="*/ 179700 w 233364"/>
                  <a:gd name="connsiteY1" fmla="*/ 16668 h 144059"/>
                  <a:gd name="connsiteX2" fmla="*/ 233364 w 233364"/>
                  <a:gd name="connsiteY2" fmla="*/ 56605 h 144059"/>
                  <a:gd name="connsiteX3" fmla="*/ 233364 w 233364"/>
                  <a:gd name="connsiteY3" fmla="*/ 144059 h 144059"/>
                  <a:gd name="connsiteX4" fmla="*/ 148473 w 233364"/>
                  <a:gd name="connsiteY4" fmla="*/ 115484 h 144059"/>
                  <a:gd name="connsiteX5" fmla="*/ 169951 w 233364"/>
                  <a:gd name="connsiteY5" fmla="*/ 142874 h 144059"/>
                  <a:gd name="connsiteX6" fmla="*/ 7812 w 233364"/>
                  <a:gd name="connsiteY6" fmla="*/ 142875 h 144059"/>
                  <a:gd name="connsiteX7" fmla="*/ 0 w 233364"/>
                  <a:gd name="connsiteY7" fmla="*/ 0 h 144059"/>
                  <a:gd name="connsiteX0" fmla="*/ 0 w 233364"/>
                  <a:gd name="connsiteY0" fmla="*/ 0 h 143422"/>
                  <a:gd name="connsiteX1" fmla="*/ 179700 w 233364"/>
                  <a:gd name="connsiteY1" fmla="*/ 16668 h 143422"/>
                  <a:gd name="connsiteX2" fmla="*/ 233364 w 233364"/>
                  <a:gd name="connsiteY2" fmla="*/ 56605 h 143422"/>
                  <a:gd name="connsiteX3" fmla="*/ 202408 w 233364"/>
                  <a:gd name="connsiteY3" fmla="*/ 105959 h 143422"/>
                  <a:gd name="connsiteX4" fmla="*/ 148473 w 233364"/>
                  <a:gd name="connsiteY4" fmla="*/ 115484 h 143422"/>
                  <a:gd name="connsiteX5" fmla="*/ 169951 w 233364"/>
                  <a:gd name="connsiteY5" fmla="*/ 142874 h 143422"/>
                  <a:gd name="connsiteX6" fmla="*/ 7812 w 233364"/>
                  <a:gd name="connsiteY6" fmla="*/ 142875 h 143422"/>
                  <a:gd name="connsiteX7" fmla="*/ 0 w 233364"/>
                  <a:gd name="connsiteY7" fmla="*/ 0 h 143422"/>
                  <a:gd name="connsiteX0" fmla="*/ 0 w 233364"/>
                  <a:gd name="connsiteY0" fmla="*/ 0 h 142915"/>
                  <a:gd name="connsiteX1" fmla="*/ 179700 w 233364"/>
                  <a:gd name="connsiteY1" fmla="*/ 16668 h 142915"/>
                  <a:gd name="connsiteX2" fmla="*/ 233364 w 233364"/>
                  <a:gd name="connsiteY2" fmla="*/ 56605 h 142915"/>
                  <a:gd name="connsiteX3" fmla="*/ 202408 w 233364"/>
                  <a:gd name="connsiteY3" fmla="*/ 105959 h 142915"/>
                  <a:gd name="connsiteX4" fmla="*/ 148473 w 233364"/>
                  <a:gd name="connsiteY4" fmla="*/ 115484 h 142915"/>
                  <a:gd name="connsiteX5" fmla="*/ 115182 w 233364"/>
                  <a:gd name="connsiteY5" fmla="*/ 133349 h 142915"/>
                  <a:gd name="connsiteX6" fmla="*/ 7812 w 233364"/>
                  <a:gd name="connsiteY6" fmla="*/ 142875 h 142915"/>
                  <a:gd name="connsiteX7" fmla="*/ 0 w 233364"/>
                  <a:gd name="connsiteY7" fmla="*/ 0 h 142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3364" h="142915">
                    <a:moveTo>
                      <a:pt x="0" y="0"/>
                    </a:moveTo>
                    <a:lnTo>
                      <a:pt x="179700" y="16668"/>
                    </a:lnTo>
                    <a:lnTo>
                      <a:pt x="233364" y="56605"/>
                    </a:lnTo>
                    <a:lnTo>
                      <a:pt x="202408" y="105959"/>
                    </a:lnTo>
                    <a:lnTo>
                      <a:pt x="148473" y="115484"/>
                    </a:lnTo>
                    <a:cubicBezTo>
                      <a:pt x="123882" y="115089"/>
                      <a:pt x="115961" y="138507"/>
                      <a:pt x="115182" y="133349"/>
                    </a:cubicBezTo>
                    <a:cubicBezTo>
                      <a:pt x="36529" y="132556"/>
                      <a:pt x="86465" y="143668"/>
                      <a:pt x="7812" y="142875"/>
                    </a:cubicBezTo>
                    <a:cubicBezTo>
                      <a:pt x="6944" y="92869"/>
                      <a:pt x="868" y="50006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3B5C"/>
                  </a:gs>
                  <a:gs pos="62000">
                    <a:srgbClr val="003B5C">
                      <a:alpha val="5000"/>
                    </a:srgbClr>
                  </a:gs>
                  <a:gs pos="100000">
                    <a:srgbClr val="003B5C">
                      <a:alpha val="0"/>
                    </a:srgbClr>
                  </a:gs>
                </a:gsLst>
                <a:lin ang="4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400"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0" name="오른쪽 화살표 78">
                <a:extLst>
                  <a:ext uri="{FF2B5EF4-FFF2-40B4-BE49-F238E27FC236}">
                    <a16:creationId xmlns:a16="http://schemas.microsoft.com/office/drawing/2014/main" id="{777F97EE-FF58-A141-12AA-EBA2509660F2}"/>
                  </a:ext>
                </a:extLst>
              </p:cNvPr>
              <p:cNvSpPr/>
              <p:nvPr/>
            </p:nvSpPr>
            <p:spPr>
              <a:xfrm>
                <a:off x="521787" y="3397179"/>
                <a:ext cx="182674" cy="119306"/>
              </a:xfrm>
              <a:prstGeom prst="rightArrow">
                <a:avLst>
                  <a:gd name="adj1" fmla="val 50000"/>
                  <a:gd name="adj2" fmla="val 6858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400"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20345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 데이터 종류 및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1-3.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자율제조를 위해 부족한 데이터셋이 무엇인가? 확보 계획은?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81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아크 카메라 미설치로 실환경 데이터 미확보. 현장 조명·촬영각도 등 변동성 반영 데이터 및 미세불량 데이터 부족. PAUT도 S-Scan 공개데이터뿐, B/C-Scan 미확보. 카메라 설치(2026.12) 후 재학습 계획.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실제 현장 데이터 다양성 확보가 주요 과제. 카메라 FPS·샘플링 주기·전송속도 확정 및 실시간 추론 지연시간 검증 필요.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경주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부족이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핵심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—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시스템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(2026-08-27~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가동</a:t>
            </a:r>
            <a:r>
              <a:rPr 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8종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재수집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후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재평가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예정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1-4.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어떤 제조 설비 또는 라인(테스트베드, 실운전라인 등)에서 데이터를 취득하였는가?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81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실설비 미도입 상태로 AI-HUB·Roboflow·Kaggle 등 공개 데이터셋 13종(weld-defect_sample) 및 공개 PAUT 영상 9건(ytube_ndt)을 취합·가공하여 구성. 고객사 협의 후 수집범위 설정.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27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경주 명성실업 실증처(테스트베드)에서 취득.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세종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실험실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(ZED X Mini)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취득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경주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공장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2026-08-27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부터 취득 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20345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 데이터 종류 및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1-5.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모델 구축을 위해 지금까지 확보한 제조 데이터는 어느 정도인가? (Raw/레이블 기준)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용접표면 불량탐지 114,986장(42.6GB), PAUT 불량검출 1,857장. 전량 YOLO 포맷 바운딩박스 라벨링 완료. Train/Val/Test 그룹 단위 분할.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원본 13개 조건 1,117장(정상61/이상1,056), 전처리·증강 후 총 4,497장. Train/Val/Test 분할 관리, 전량 라벨 완료.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실험실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원본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1,256장(8종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+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증강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2,512장,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합계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3,768장.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전량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라벨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완료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en-US" sz="1000" dirty="0">
              <a:solidFill>
                <a:srgbClr val="3A3D4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118000"/>
              </a:lnSpc>
            </a:pP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데이터 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8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종 중 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종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31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세션 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2,708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쌍 수집 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(8/31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기준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sz="1000" dirty="0">
              <a:solidFill>
                <a:srgbClr val="3A3D4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1-6.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정의된 제조 데이터가 실시간(온프레미스, 클라우드 등)으로 확보되고 있는가?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실시간 수집 인터페이스·저장구조 설계(수집/추론 서비스 분리). 평상시 압축저장 + 불량감지 시 전후 이벤트영상 별도저장 구조. 다만 실제 상시 자동수집 운영 실적은 아직 없음.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27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 상시 운영은 차년도 실증 대상으로, 현재는 미가동.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lang="ko-KR" altLang="en-US"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온프레미스로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실시간 확보 중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>
              <a:lnSpc>
                <a:spcPct val="118000"/>
              </a:lnSpc>
            </a:pP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시스템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가동 중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(2026-08-27~)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가동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시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세종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NAS로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업로드되는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실시간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체계로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완료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47">
            <a:extLst>
              <a:ext uri="{FF2B5EF4-FFF2-40B4-BE49-F238E27FC236}">
                <a16:creationId xmlns:a16="http://schemas.microsoft.com/office/drawing/2014/main" id="{1701DF2D-A921-2E92-DF62-EB78EDED5C42}"/>
              </a:ext>
            </a:extLst>
          </p:cNvPr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FEAEA67E-AC49-7812-1F35-7B0DEB7A6EAC}"/>
              </a:ext>
            </a:extLst>
          </p:cNvPr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20345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 데이터 종류 및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1-7.  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옵션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인스트럭션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셋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데이터를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제공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가능한가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미구축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실환경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확보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및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불량판정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기준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정립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이후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구축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여부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검토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예정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993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현재는 OK/NG 이진 라벨 중심의 이미지 데이터셋으로 구성되어 있어, 판정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근거·결함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설명 등 다양한 지식을 포함하는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인스트럭션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셋 형태의 데이터는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미구축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상태이다. 향후 결함 유형별 세부 분류 체계가 정립되면, 판정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사유·조치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가이드를 포함한 형태로 확장을 검토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예정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sz="1000" i="1" dirty="0">
              <a:solidFill>
                <a:srgbClr val="3B3E45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도어 인식 결과(종류, 좌표, 판별 근거)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CAD 스펙 정보와 연계하여 관리하고 있어,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인스트럭션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셋 데이터로 가공할 수 있는 기초 여건은 마련되어 있다. 다만 현재는 별도의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인스트럭션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셋 형태로 정리된 산출물은 없으며, 무인 수집 시스템을 통한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실환경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데이터 축적 이후 필요성을 검토할 예정이다.</a:t>
            </a:r>
            <a:endParaRPr lang="ko-KR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3630168"/>
            <a:ext cx="15568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전처리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2-1.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취득되는 제조 데이터 중 불필요 데이터를 정의하고 있는가?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공개데이터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중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대상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공정과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무관한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이미지를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선별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제외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다클래스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결함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라벨은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NG로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통합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인접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프레임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간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중복은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SSIM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필터로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제거</a:t>
            </a:r>
            <a:r>
              <a:rPr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현재는 정상 조건 1종·이상 조건 12종으로 구분된 데이터를 기준으로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학습·검증에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활용하고 있으며, 별도의 불필요 데이터 정의 기준은 아직 수립되지 않았다.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상시 운영 시점에 맞춰 공정과 무관한 프레임(용접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미진행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구간, 초점 이탈 영상 등)을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선별·제외하는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기준을 마련할 계획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임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sz="1000" i="1" dirty="0">
              <a:solidFill>
                <a:srgbClr val="3B3E45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정의하여 처리 중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r>
              <a:rPr lang="ko-KR" altLang="en-US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카메라 안정화 구간 제외</a:t>
            </a:r>
            <a:r>
              <a:rPr lang="en-US" altLang="ko-KR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실험실 취득 시 </a:t>
            </a:r>
            <a:r>
              <a:rPr lang="ko-KR" altLang="en-US" sz="1000" dirty="0" err="1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블러</a:t>
            </a:r>
            <a:r>
              <a:rPr lang="ko-KR" altLang="en-US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점수 </a:t>
            </a:r>
            <a:r>
              <a:rPr lang="ko-KR" altLang="en-US" sz="1000" dirty="0" err="1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임계값</a:t>
            </a:r>
            <a:r>
              <a:rPr lang="ko-KR" altLang="en-US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미만 프레임 제외</a:t>
            </a:r>
            <a:r>
              <a:rPr lang="en-US" altLang="ko-KR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CAD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정합 불량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en-US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IoU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&lt; 0.8)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이미지는 학습에서 자동 제외</a:t>
            </a:r>
            <a:endParaRPr lang="en-US" altLang="ko-KR" sz="1000" dirty="0">
              <a:solidFill>
                <a:srgbClr val="3B3E45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 프레임에 도어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장은 학습 미 사용</a:t>
            </a:r>
            <a:endParaRPr lang="en-US" altLang="ko-KR" sz="1000" dirty="0">
              <a:solidFill>
                <a:srgbClr val="3B3E45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Unknown </a:t>
            </a:r>
            <a:r>
              <a:rPr lang="ko-KR" altLang="en-US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라벨 세션은 학습 미 사용</a:t>
            </a:r>
            <a:endParaRPr lang="en-US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15568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데이터 전처리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2-2.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제조 데이터 내 몇 종의 전처리 기법이 활용되고 있는가?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SSIM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유사프레임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OK/NG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변환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640×640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리사이즈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3종.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단계에서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Mosaic·이동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크기변환·좌우반전·HSV색상변환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등 5종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추가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적용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Grayscale, CLAHE, 마진 마스킹, 256×256 리사이즈 등 4종 적용.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81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CNN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은 깊이 기반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Edge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채널 합성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en-US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RGB+Edge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4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채널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리사이즈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정규화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온라인 증강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홀 판별기는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1280×768 letterbox +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회전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±180°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증강을 적용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오프라인 증강 데이터는 학습이 아닌 강건성 평가 전용으로 규정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sz="1000" i="1" dirty="0">
              <a:solidFill>
                <a:srgbClr val="3B3E45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2-3.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저장할 제조 데이터의 표준 형태가 정의되었는가?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입력데이터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640×640,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png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/jpg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표준화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YYYY/MM/DD/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part_no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order_no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디렉토리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파일명에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부품·오더·로봇·조인트좌표·촬영일시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포함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영상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파일명은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모델번호_생산번호_JointID_YYYYMMDD_HHMMSS.mp4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규칙으로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표준화하여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제품·용접부·시각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추적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가능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정의 완료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운영 중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날짜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도어종류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세션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폴더에 </a:t>
            </a:r>
            <a:r>
              <a:rPr lang="en-US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RGB·Depth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쌍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 </a:t>
            </a:r>
            <a:r>
              <a:rPr lang="en-US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meta.json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종류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시각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수량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종료 사유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).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해상도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1920×1200,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깊이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mm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단위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16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비트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메타데이터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DB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스키마로 표준화되어 현장→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NAS→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PC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까지 동일 규칙 적용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ko-KR" sz="105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15568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데이터 전처리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2-4.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표준 형태로의 데이터 가공을 누가 하는가?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이즈파크가 데이터 선별·재라벨링·전처리·데이터셋 구성을 직접 수행. 현장 조건 맞춤 파이프라인 개선은 향후 진행.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인이지가 데이터 수집,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전처리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Grayscale·CLAHE·마진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마스킹·리사이즈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및 학습용 데이터셋 구성을 직접 수행하고 있다. 현장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적용에 맞춘 표준 가공 절차의 고도화는 차년도 실증 단계에서 진행할 예정이다.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수집 프로그램이 자동 수행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—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작업자는 버튼 조작만 하며 파일명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폴더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메타데이터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업로드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·DB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등록이 전부 자동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수동 작업은 홀 랜드마크 라벨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134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자체 도구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약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시간 수행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ko-KR" sz="105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2-5.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제조 데이터의 품질을 관리하고 있는가? (미싱 데이터, 정합성 체크 등)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SSIM 0.9 임계값으로 중복 프레임 제거, 육안 검수 후 기준 미달 라벨 재라벨링. 실시간 결측·정합성 자동 감시체계는 아직 미구축.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현재는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정상·이상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조건별로 촬영된 데이터를 대상으로 육안 확인을 거쳐 학습에 활용하고 있으며, 결측 데이터나 정합성을 자동으로 점검하는 체계는 별도로 구축되어 있지 않다.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상시 운영 시점에 맞춰 데이터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결측·정합성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자동 점검 체계 구축을 검토할 계획이다.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RGB/Depth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쌍 정합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수량 기록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업로드 마커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재시도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로그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세션 정상 종료 여부 기록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카메라 자동 </a:t>
            </a:r>
            <a:r>
              <a:rPr lang="ko-KR" altLang="en-US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재연결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디스크 잔량 경고로 관리 중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라벨은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판정과 교차 검증</a:t>
            </a:r>
            <a:endParaRPr lang="ko-KR" altLang="ko-KR" sz="105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15568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데이터 전처리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2-6.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품질 기준을 관리하고 있는가?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SSIM 0.9를 정량 기준으로 적용, 검수·재라벨링 통과 데이터만 학습에 사용. F1-Score를 품질 간접지표로 활용. 운영환경 결측률 등 정량지표는 추가 정의 필요.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현재는 별도의 정량적 데이터 품질 기준을 수립하지 않았으며, 육안 확인을 통한 데이터 선별 수준으로 관리하고 있다. 모델 성능 지표(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Accuracy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Precision/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Recall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/F1)를 데이터 품질의 간접적인 참고 지표로 활용하고 있으며,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운영 이후 정량적 품질 기준 수립을 검토할 계획이다.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촬영 프로토콜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도어 전체 프레임 내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프레임당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도어당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프레임 이상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 사용 기준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(CAD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정합 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IoU≥0.8, </a:t>
            </a:r>
            <a:r>
              <a:rPr lang="ko-KR" altLang="en-US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블러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통과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평가 방법론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분할 격리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증강 학습 금지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별도 평가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), </a:t>
            </a:r>
            <a:r>
              <a:rPr lang="ko-KR" altLang="en-US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라벨 정정 이력 기록 규칙</a:t>
            </a:r>
            <a:r>
              <a:rPr lang="en-US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ko-KR" sz="105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3630168"/>
            <a:ext cx="20345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저장</a:t>
            </a:r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및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관리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3-1.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제조 데이터 저장소 및 스펙은 어떠한가?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운영서버 3대·학습서버 1대(2026.4 수령), 현재 사무실에서 셋업 중. 라인별 서버 분리, 정상영상 1개월/이벤트영상 1년 이상 보존, 이중 백업 구조.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경주 명성실업 실증처 온프레미스 서버·NAS 설치 완료. RTX 5070 12GB, i7-14700KF, RAM 96GB.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NAS(DS1522+, 20TB)를 정본으로 현장장비 → NAS → 학습PC 구조로 관리.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20345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데이터 저장 및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3-2.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메타데이터는 AI 모델 개발에 충분히 자세한가?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ID(장비·카메라), 공정(워크오더·부품번호·조인트좌표), 시간(Timestamp, Frame Index, Duration) 정보를 스키마로 정의. 클래스 라벨·바운딩박스·원출처 URL도 명세 기록.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 데이터는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모델번호·생산번호·JointID·촬영일시를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포함한 파일명 규칙으로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표준화하여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관리하고 있어, 제품 및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용접부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단위 추적은 가능한 수준이다. 다만 결함 유형, 판정 근거 등 AI 모델 개발에 필요한 세부 메타데이터 항목은 아직 충분히 정의되지 않았으며,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운영 시점에 맞춰 보완할 계획이다.</a:t>
            </a:r>
            <a:endParaRPr lang="ko-KR" altLang="ko-KR" sz="105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27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메타데이터 DB로 데이터·학습·평가 이력을 자동 기록.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3-3.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제조 데이터 관리는 주기적으로 모니터링하는가?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모니터링 체계를 프로토타입 수준으로 구축. 1차년도는 고정 오프라인 데이터셋 기반이라 실시간 대시보드·알람은 미구축, 현장 운영 개시에 맞춰 보완 예정.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현재는 1차년도 데이터셋 구축 및 모델 프로토타입 개발 단계로, 데이터 관리 상태를 주기적으로 확인하는 모니터링 체계는 아직 구축되어 있지 않다.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상시 운영 시점에 맞춰 데이터 </a:t>
            </a:r>
            <a:r>
              <a:rPr lang="ko-KR" altLang="ko-KR" sz="105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수집·저장</a:t>
            </a:r>
            <a:r>
              <a:rPr lang="ko-KR" altLang="ko-KR" sz="105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상태를 점검하는 모니터링 체계를 마련할 계획이다.</a:t>
            </a:r>
            <a:endParaRPr lang="ko-KR" altLang="ko-KR" sz="105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실시 중 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—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세종에서 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VPN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 현장 화면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프리뷰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당일 통계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로그를 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일 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 원격 확인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DB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는 웹 브라우저로 열람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sz="1000" dirty="0">
              <a:solidFill>
                <a:srgbClr val="3A3D4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20345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저장</a:t>
            </a:r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및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관리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3-4.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관리 정책은 확장성(데이터·라인·사이트·모델 확장 등)이 있는가?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라인별 서버 분리 구조로 동일 사양 서버 증설 대응 가능. 모델도 용도별 분리되어 신규 검사대상 추가 시 모델 단위 확장 가능. 디렉토리·파일명 규칙 표준화로 대상 확대 대응.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 데이터 관리는 경주 명성실업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실증처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단일 라인을 기준으로 구성되어 있으며,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파일명·저장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규칙이 표준화되어 있어 동일 방식으로 타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라인·설비로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확장 적용이 가능한 구조이다. 다만 다중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라인·사이트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확장을 위한 구체적인 정책(서버 증설 기준, 데이터 통합 관리 방식 등)은 아직 수립되지 않았다.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파일명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폴더 규칙 등록으로 데이터 추가는 재스캔만으로 대응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신규 부품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리비전은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CAD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파일 추가로 대응 가능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재학습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불필요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),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 사이트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라인은 설치 스크립트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 실행으로 배포 가능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endParaRPr lang="ko-KR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3630168"/>
            <a:ext cx="10326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AI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모델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4-1.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본 사업을 위해 고려한 국내외 AI 레퍼런스 모델이 무엇인가?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2-Stage Detector·Transformer 계열과 비교검토. 실시간 요건 및 현장 추론 적합성을 고려해 1-Stage 계열 YOLO12를 기본 아키텍처로 선정.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DDPM 기반 데이터 증강 + CNN 기반 OK/NG 이진 분류 모델을 구성.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CNN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(ResNet18,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RGB+Edge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및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홀 랜드마크 검출기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(ResNet18-FPN </a:t>
            </a:r>
            <a:r>
              <a:rPr lang="ko-KR" altLang="en-US"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히트맵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+ CAD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치수 대조 </a:t>
            </a:r>
            <a:r>
              <a:rPr lang="ko-KR" altLang="en-US"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판정기</a:t>
            </a:r>
            <a:endParaRPr sz="1000" dirty="0">
              <a:solidFill>
                <a:srgbClr val="3A3D4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10326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AI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모델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4-2.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모델 적용 시 기대 벤치마크 성능 자료가 있는가? (현재 수준)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81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1차년도 KPI 대상 모델 2종 모두 목표 상회. 표면탐지 F1 0.8713(기준 0.5), PAUT F1 0.8682(기준 0.4). 표면탐지 모델은 배경 오검출(FP 13,919건)이 미검출(FN 5,586건)보다 많아 보강 필요.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미학습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이상조건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4종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테스트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345장에서 Accuracy 100%, Precision/Recall/F1 1.00(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내부시험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).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프레임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간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독립성은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낮아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일반화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재검증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필요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실험실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조건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목표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(99%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이상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달성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(CNN 100%,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CAD파이프라인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99.2~99.7%).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</a:t>
            </a:r>
            <a:r>
              <a:rPr 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조건은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 홀 판별기로 평가 진행 중</a:t>
            </a:r>
            <a:endParaRPr sz="1000" dirty="0">
              <a:solidFill>
                <a:srgbClr val="3A3D4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4-3.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개발한 AI 모델의 기대 검증 시나리오가 있는가?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Train/Val/Test 그룹단위 분할, Test셋 기반 F1·Precision·Recall·Accuracy·mAP50-95 산출 및 클래스별 혼동행렬 분석. 2차년도 실환경 검증셋 확대 계획.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미학습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이상조건 4종으로 구성된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Test셋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(345장)을 입력하여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Accuracy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Precision,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Recall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F1-Score를 산출하는 방식으로 성능을 검증하였다. 다만 동일 영상에서 추출된 프레임 간 독립성이 낮아, 차년도에는 현장에서 신규로 수집한 독립적인 데이터셋을 활용한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재검증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시나리오를 마련할 계획이다.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단계 평가 체계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실험실 </a:t>
            </a:r>
            <a:r>
              <a:rPr lang="ko-KR" altLang="en-US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시험셋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세션 단위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70/15/15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분할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학습에서 격리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→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증강 강건성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증강 데이터는 학습 금지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평가 전용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→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</a:t>
            </a:r>
            <a:r>
              <a:rPr lang="ko-KR" altLang="en-US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외부셋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평가로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진행</a:t>
            </a:r>
            <a:endParaRPr lang="ko-KR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10326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AI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모델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4-4.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개발된 AI 모델이 동일 업종, 다른 공정에 적용/확장이 가능한가?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영상 기반 객체탐지 구조로 촬영조건이 유사한 타 용접대상·공정으로 확장 가능하나, 현재 다른 공정·라인 적용 실적은 없음.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 모델은 레이저 용접 부위 표면 판정에 특화되어 있으나, CNN 기반 이진 분류 구조라 촬영 조건이 유사한 타 </a:t>
            </a:r>
            <a:r>
              <a:rPr lang="ko-KR" altLang="ko-KR" sz="1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용접부</a:t>
            </a:r>
            <a:r>
              <a:rPr lang="ko-KR" altLang="ko-KR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ko-KR" sz="1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Butt</a:t>
            </a:r>
            <a:r>
              <a:rPr lang="ko-KR" altLang="ko-KR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용접 등)나 타 공정으로도 데이터 재학습을 통해 확장 적용이 가능할 것으로 판단된다. 다만 현재까지 타 공정 적용 실적은 없다.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 모델은 8종 도어 인식에 특화되어 있으나, </a:t>
            </a:r>
            <a:r>
              <a:rPr lang="ko-KR" altLang="ko-KR" sz="1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RGB+Depth</a:t>
            </a:r>
            <a:r>
              <a:rPr lang="ko-KR" altLang="ko-KR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기반 객체 인식 구조 및 CAD 속성 연계 판별 방식은 </a:t>
            </a:r>
            <a:r>
              <a:rPr lang="ko-KR" altLang="ko-KR" sz="1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형상·치수</a:t>
            </a:r>
            <a:r>
              <a:rPr lang="ko-KR" altLang="ko-KR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정보가 있는 타 부품 인식에도 동일한 방법론으로 확장 적용이 가능할 것으로 판단된다. 다만 현재까지 타 </a:t>
            </a:r>
            <a:r>
              <a:rPr lang="ko-KR" altLang="ko-KR" sz="1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부품·공정</a:t>
            </a:r>
            <a:r>
              <a:rPr lang="ko-KR" altLang="ko-KR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적용 실적은 없다.</a:t>
            </a:r>
            <a:endParaRPr lang="ko-KR" altLang="ko-KR" sz="1000" dirty="0"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4-5.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모델 개발에 활용된 알고리즘은 무엇이고 성능은 어느 정도인가?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3종 모델(비드탐지·표면불량탐지·PAUT검출) 모두 YOLO12 기반 전이학습. Epoch 100, Batch 64~128 등 공통조건. 표면탐지 학습 7.6시간, PAUT 11분(RTX 4090 24GB×2).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DDPM 증강 + CNN 기반 분류 모델, 내부시험 Accuracy 100% (4-2 참조).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CNN(ResNet18) 및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홀 랜드마크 </a:t>
            </a:r>
            <a:r>
              <a:rPr lang="ko-KR" altLang="en-US"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판별기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(ResNet18-FPN </a:t>
            </a:r>
            <a:r>
              <a:rPr lang="ko-KR" altLang="en-US"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히트맵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홀 단계 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41ms/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프레임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판정 </a:t>
            </a:r>
            <a:r>
              <a:rPr lang="en-US" altLang="ko-KR"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100%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10326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AI 모델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4-6.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모델의 지속적인 개선을 위한 프로세스는 마련되어 있는가?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실환경 데이터 확대 → 재학습/고도화 → 실시간 추론 모듈 개발 → 시스템 연계 순의 개선 방향 수립. 운영단계 프로세스는 현장조건 확정에 맞춰 구체화 중.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현재는 1차년도 프로토타입 개발 단계로, 정형화된 지속 개선 프로세스는 아직 마련되지 않았다.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상시 운영 시점에 맞춰 현장 데이터 확보 →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재학습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→ 성능 재검증의 개선 절차를 구체화할 계획이다.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평가 전 과정을 스크립트화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시드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분할 고정으로 재현 가능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하고 결과를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DB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 자동 기록해 모델 간 비교 가능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무인 수집→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NAS→DB </a:t>
            </a:r>
            <a:r>
              <a:rPr lang="ko-KR" altLang="en-US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인제스트의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신규 데이터 상시 유입 경로 구축 완료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4-7.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모델을 활용하여 기존 기술 대비 개선한 점은 무엇인가?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육안검사·전문검사원 판독 의존 방식에서 실시간 표면결함 탐지·PAUT 자동검출로 전환 가능성을 프로토타입 수준에서 확인. 결함 위치·크기 특정으로 후속조치 활용 가능.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기존에는 용접 완료 후 작업자 육안 검사에 의존하여 검사자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숙련도·피로도에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따른 판정 편차가 발생하고, 결함 발생 시점 파악이 어려웠다. 본 과제에서는 AI 기반 OK/NG 자동 판별을 통해 판정 기준을 표준화하고, 향후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적용 시 결함 발생 시점을 즉각 포착할 수 있는 가능성을 프로토타입 수준에서 확인하였다.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기존에는 작업자가 육안으로 도어 종류를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확인·분류하여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작업 속도 및 정확도가 작업자 숙련도에 좌우되는 한계가 있었다. 본 과제에서는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RGB+Depth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영상 기반 AI 인식과 CAD 속성 연계 판별로 도어 종류를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자동·정량적으로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판별할 수 있는 가능성을 실험실 조건에서 확인하였으며, 판별 근거를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치수·형상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데이터로 추적할 수 있는 구조를 확보하였다.</a:t>
            </a:r>
            <a:endParaRPr lang="ko-KR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56292"/>
            <a:ext cx="10326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AI 모델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4-8.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모델의 제조 현장 적용을 통해 얻은 성과는 무엇인가?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프로토타입 개발 단계로 실제 라인 적용 성과는 아직 없음. 카메라 설치·서버 이설 후 실증 예정.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1차년도 목표인 데이터셋 구축 및 AI 모델 프로토타입 개발 완료. 현장 미세불량·실시간 적용은 차년도 재검증 대상.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경주 공장 용접 라인에 무인 수집 시스템 설치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가동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(2026-08-27~)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및 작업자 설명서 배포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수집 데이터에 대한 정량 검증 완료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— 2026-08-31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기준 판정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646/646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정답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도어가 없는 빈 지그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장은 전량 보류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오판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0)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정상 동작 확인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4-9.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지속적인 AI 모델 성능 개선을 위한 계획이 있는가?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실환경/유사조건 데이터 확보 후 재학습, 결함 유형별 다중클래스 확대, 배경 오검출 저감 학습 보강. PAUT는 스캔방식별(B/C-Scan) 데이터 확보 우선.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상시 운영 이후 확보되는 현장 데이터를 반영하여 모델을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재학습할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계획이다. 특히 현재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미학습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조건에서 발생한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오검출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사례를 분석하여 데이터 보강 및 모델 고도화를 진행할 예정이다.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잔여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종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(E25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앞문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수집으로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8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종 검증 완결 ② 카메라 실측 캘리브레이션 반영으로 거리 측정 정밀화 ③ </a:t>
            </a:r>
            <a:r>
              <a:rPr lang="ko-KR" altLang="en-US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엣지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(Jetson) </a:t>
            </a:r>
            <a:r>
              <a:rPr lang="en-US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TensorRT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배포로 취득 세션마다 자동 판정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·DB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기록</a:t>
            </a:r>
            <a:endParaRPr lang="en-US" altLang="ko-KR" sz="1000" dirty="0">
              <a:solidFill>
                <a:srgbClr val="3B3E45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endParaRPr lang="en-US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 외에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부품 위치 및 자세 추정 모델 개발</a:t>
            </a:r>
            <a:endParaRPr lang="en-US" altLang="ko-KR" sz="1000" dirty="0">
              <a:solidFill>
                <a:srgbClr val="3B3E45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자동화 라인</a:t>
            </a:r>
            <a:r>
              <a:rPr lang="en-US" altLang="ko-KR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로봇</a:t>
            </a:r>
            <a:r>
              <a:rPr lang="en-US" altLang="ko-KR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000" dirty="0">
                <a:solidFill>
                  <a:srgbClr val="3B3E45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연계 가능한 파이프라인 구축</a:t>
            </a:r>
            <a:endParaRPr lang="en-US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도장 라인 등 추가 부품 분류가 필요한 라인 확장 적용</a:t>
            </a:r>
            <a:endParaRPr lang="ko-KR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10326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AI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모델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4-10.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향후 추가 개발될 AI 모델의 기능은 어떤 것이 있는가?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모델 재학습·클래스 확대, PAUT 스캔방식별 데이터 확보, 실시간 추론모듈, 로봇·PLC 연동 인터페이스, MES 연계, 전처리 파이프라인 개선, 검사이력 조회 기능 개발 추진.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 OK/NG 이진 판별 구조에서 결함 유형별(기공,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언더컷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스패터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등) 다중 클래스 판별 기능으로 확대할 계획이다. 또한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실시간 추론 모듈 및 로봇 연계 인터페이스 개발을 추진할 예정이다.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도어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6DoF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위치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자세 추정 기능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로봇 연계 대비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— 1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구현 완료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데이터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280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프레임에서 </a:t>
            </a:r>
            <a:r>
              <a:rPr lang="ko-KR" altLang="en-US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잔차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중앙값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3.2~4.7mm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수준이며 실험실 레벨에서 레이저 </a:t>
            </a:r>
            <a:r>
              <a:rPr lang="ko-KR" altLang="en-US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트래커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실측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(GT)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통한 검증 예정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3630168"/>
            <a:ext cx="12121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5. AI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인프라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5-1.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AI/MLOps 체계 등 SW 인프라는 어느 정도 구축되어 있는가?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YOLO12 기반 학습·검증 개발환경 구축, 3종 모델 학습·성능측정 수행. 버전관리·자동재학습·배포·모니터링 포함 MLOps 운영체계는 현장조건 확정에 맞춰 검토 중.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DDPM 기반 데이터 증강 및 CNN 기반 분류 모델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학습·검증이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가능한 개발 환경을 구축하였다. 다만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데이터·모델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버전관리, 자동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재학습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자동 배포, 성능 모니터링을 포함한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MLOps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운영 체계는 아직 구축되어 있지 않으며,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상시 운영 시점에 맞춰 구성 방안을 검토할 계획이다.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구축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수집 서비스 자동화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en-US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systemd·NAS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 업로드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),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메타데이터 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DB(9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 테이블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웹 열람 도구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재현 가능한 학습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평가 파이프라인과 결과 자동 기록</a:t>
            </a:r>
            <a:r>
              <a:rPr lang="en-US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실시간 추론 서버</a:t>
            </a:r>
            <a:endParaRPr lang="ko-KR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1161288"/>
            <a:ext cx="12121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5. AI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인프라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14173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5-2.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엣지컴퓨팅 구축 계획은 어떻게 되는가?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216712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운영서버 3대(붐/하부/PAUT)를 라인별 구성, 카메라 4대씩 배분 예정. 현재 사무실에서 셋업 중이며, 카메라 설치(2026.12) 후 현장 이설 예정.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2167128"/>
            <a:ext cx="33192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현재는 경주 명성실업 실증처에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온프레미스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서버(RTX 5070 12GB, i7-14700KF, RAM 96GB)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설치하여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학습·추론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환경을 구성한 상태이다. 별도의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엣지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디바이스 구축 계획은 아직 구체화되지 않았으며,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실라인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상시 운영 시점에 맞춰 로봇 연동 및 실시간 추론을 위한 </a:t>
            </a:r>
            <a:r>
              <a:rPr lang="ko-KR" altLang="ko-KR" sz="1000" dirty="0" err="1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엣지컴퓨팅</a:t>
            </a:r>
            <a:r>
              <a:rPr lang="ko-KR" altLang="ko-KR" sz="1000" dirty="0">
                <a:solidFill>
                  <a:srgbClr val="3B3E45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구성 방안을 검토할 계획이다.</a:t>
            </a:r>
            <a:endParaRPr lang="ko-KR" altLang="ko-KR" sz="1000" dirty="0">
              <a:solidFill>
                <a:srgbClr val="3B3E45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92440" y="174650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74650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167128"/>
            <a:ext cx="3319272" cy="27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엣지 Jetson Orin NX 16GB를 도입.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5-3.  </a:t>
            </a:r>
            <a:r>
              <a:rPr sz="1400" b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GPU 인프라 구축 계획/활용 계획은 어떻게 되는가?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636008"/>
            <a:ext cx="3319272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운영서버 RTX 4500 Ada 24GB×3, 학습서버 RTX 5090 32GB. 학습/추론 환경 분리, 배치 추론 방식 운용 설계.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9768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4" y="4636008"/>
            <a:ext cx="3319272" cy="27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 PC RTX 5070 12GB(경주 명성실업 실증처).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21538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92440" y="421538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636008"/>
            <a:ext cx="3319272" cy="27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 PC RTX 5090(32GB).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4">
            <a:extLst>
              <a:ext uri="{FF2B5EF4-FFF2-40B4-BE49-F238E27FC236}">
                <a16:creationId xmlns:a16="http://schemas.microsoft.com/office/drawing/2014/main" id="{80EDD910-1CA9-8FE7-676E-CFA462F0F396}"/>
              </a:ext>
            </a:extLst>
          </p:cNvPr>
          <p:cNvSpPr txBox="1">
            <a:spLocks/>
          </p:cNvSpPr>
          <p:nvPr/>
        </p:nvSpPr>
        <p:spPr>
          <a:xfrm>
            <a:off x="1209675" y="262216"/>
            <a:ext cx="8807835" cy="3693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90539" rtl="0" eaLnBrk="1" latinLnBrk="1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/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제조 데이터 및 </a:t>
            </a:r>
            <a:r>
              <a:rPr lang="en-US" altLang="ko-KR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</a:p>
        </p:txBody>
      </p:sp>
      <p:sp>
        <p:nvSpPr>
          <p:cNvPr id="28" name="TextBox 126">
            <a:extLst>
              <a:ext uri="{FF2B5EF4-FFF2-40B4-BE49-F238E27FC236}">
                <a16:creationId xmlns:a16="http://schemas.microsoft.com/office/drawing/2014/main" id="{71CD1FDE-0E0F-909E-922F-0BD2846A82EF}"/>
              </a:ext>
            </a:extLst>
          </p:cNvPr>
          <p:cNvSpPr txBox="1"/>
          <p:nvPr/>
        </p:nvSpPr>
        <p:spPr>
          <a:xfrm>
            <a:off x="689140" y="238722"/>
            <a:ext cx="461666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25C1742-1F63-395A-F366-5C2282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966978"/>
            <a:ext cx="12121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5. AI </a:t>
            </a:r>
            <a:r>
              <a:rPr sz="1600" b="1" dirty="0" err="1">
                <a:solidFill>
                  <a:srgbClr val="6B768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인프라</a:t>
            </a:r>
            <a:endParaRPr sz="1600" b="1" dirty="0">
              <a:solidFill>
                <a:srgbClr val="6B7688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122301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B75B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➤  5-4.  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인프라의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최종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운영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환경이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어떻게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되는가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? (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온프레미스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sz="1400" b="1" dirty="0" err="1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클라우드</a:t>
            </a:r>
            <a:r>
              <a:rPr sz="1400" b="1" dirty="0">
                <a:solidFill>
                  <a:srgbClr val="1B2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55219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155219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이즈파크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1972818"/>
            <a:ext cx="3319272" cy="6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온프레미스 방식. 라인별 서버에서 취득·전처리·추론·판정결과 저장 수행, 판정결과는 MES 연계 예정. 현재 서버는 사무실 셋업 중, 현장 이설·MES 연계는 향후 진행.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55219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155219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1972818"/>
            <a:ext cx="3319272" cy="27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온프레미스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(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경주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명성실업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실증처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서버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구축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완료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3-1 </a:t>
            </a:r>
            <a:r>
              <a:rPr sz="1000" dirty="0" err="1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참조</a:t>
            </a:r>
            <a:r>
              <a:rPr sz="1000" dirty="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552194"/>
            <a:ext cx="3611880" cy="1874519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2440" y="1552194"/>
            <a:ext cx="3611880" cy="329184"/>
          </a:xfrm>
          <a:prstGeom prst="roundRect">
            <a:avLst>
              <a:gd name="adj" fmla="val 16000"/>
            </a:avLst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한국건설기계연구원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1972818"/>
            <a:ext cx="3319272" cy="27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3A3D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온프레미스 방식 (3-1 참조).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87FBB"/>
        </a:solidFill>
        <a:ln>
          <a:noFill/>
        </a:ln>
      </a:spPr>
      <a:bodyPr rtlCol="0" anchor="ctr"/>
      <a:lstStyle>
        <a:defPPr algn="ctr">
          <a:defRPr sz="1100" b="1" kern="1200" spc="0" baseline="0" dirty="0" err="1" smtClean="0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chemeClr val="bg1"/>
            </a:solidFill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14268</TotalTime>
  <Words>3745</Words>
  <Application>Microsoft Office PowerPoint</Application>
  <PresentationFormat>와이드스크린</PresentationFormat>
  <Paragraphs>295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KoPub돋움체 Bold</vt:lpstr>
      <vt:lpstr>Arial</vt:lpstr>
      <vt:lpstr>KoPubWorld돋움체 Bold</vt:lpstr>
      <vt:lpstr>KoPub돋움체 Medium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승준 최</dc:creator>
  <cp:lastModifiedBy>민수 이</cp:lastModifiedBy>
  <cp:revision>869</cp:revision>
  <cp:lastPrinted>2025-07-17T23:39:20Z</cp:lastPrinted>
  <dcterms:created xsi:type="dcterms:W3CDTF">2023-03-05T13:33:48Z</dcterms:created>
  <dcterms:modified xsi:type="dcterms:W3CDTF">2026-08-31T08:43:42Z</dcterms:modified>
</cp:coreProperties>
</file>