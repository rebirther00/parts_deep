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1587" r:id="rId2"/>
    <p:sldId id="158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A1AAEC2-5733-4454-8921-8300D00CC0F9}">
          <p14:sldIdLst>
            <p14:sldId id="1587"/>
            <p14:sldId id="15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70452E-5240-471C-A7E3-87AF7982FE72}" v="1" dt="2026-08-31T23:34:05.7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52" d="100"/>
          <a:sy n="152" d="100"/>
        </p:scale>
        <p:origin x="604" y="1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민수 이" userId="1d69e561d2030ee0" providerId="LiveId" clId="{BA489454-58F0-463B-B7DB-D8CA57EAFB72}"/>
    <pc:docChg chg="modSld">
      <pc:chgData name="민수 이" userId="1d69e561d2030ee0" providerId="LiveId" clId="{BA489454-58F0-463B-B7DB-D8CA57EAFB72}" dt="2026-08-31T23:34:05.727" v="0" actId="571"/>
      <pc:docMkLst>
        <pc:docMk/>
      </pc:docMkLst>
      <pc:sldChg chg="addSp modSp">
        <pc:chgData name="민수 이" userId="1d69e561d2030ee0" providerId="LiveId" clId="{BA489454-58F0-463B-B7DB-D8CA57EAFB72}" dt="2026-08-31T23:34:05.727" v="0" actId="571"/>
        <pc:sldMkLst>
          <pc:docMk/>
          <pc:sldMk cId="1870238773" sldId="1588"/>
        </pc:sldMkLst>
        <pc:spChg chg="add mod">
          <ac:chgData name="민수 이" userId="1d69e561d2030ee0" providerId="LiveId" clId="{BA489454-58F0-463B-B7DB-D8CA57EAFB72}" dt="2026-08-31T23:34:05.727" v="0" actId="571"/>
          <ac:spMkLst>
            <pc:docMk/>
            <pc:sldMk cId="1870238773" sldId="1588"/>
            <ac:spMk id="5" creationId="{0D5BDE10-ABE3-E217-B3D0-69EC3F65EA9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6F1C20-FB1A-443C-B8D3-66F4A2AC02F8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E6E96B-3DD0-491A-837A-8907CA0C5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296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6E96B-3DD0-491A-837A-8907CA0C51E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47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DEFBD5-5DF5-139D-9F72-6B8744230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4643AC-F8CE-9CA0-A7BF-1B9F1962EB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42CA6D-D781-4AF4-ED5F-E6A86ECD8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6F534-654D-4507-B54C-F7CCB4C6A18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D8133E-186D-58AB-9A04-FEEAA300A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E04918-3B93-793A-B281-7093799A6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80FD-8A16-41DE-B276-4A82C565FE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269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65F734-70E9-1941-986C-C27733DA5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723B14-ACB9-6658-C3DD-D0D9A76EA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6BF7D7-E143-2459-CA50-9D77F5B9D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6F534-654D-4507-B54C-F7CCB4C6A18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242C80-E03B-4231-FD1E-966A4C26E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87698F-D94D-9DF1-A86C-1B2AA24CF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80FD-8A16-41DE-B276-4A82C565FE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053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FAFFF-FB65-815A-7DB3-63E2E9BBA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834E57-BD9F-6681-68D9-B675501EA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57D7FA-6628-6F5F-6619-875C8E56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6F534-654D-4507-B54C-F7CCB4C6A18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53223F-3DC5-067E-99DE-F9CABD579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A4C402-BC84-9D3E-519A-048DC0642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80FD-8A16-41DE-B276-4A82C565FE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8194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406E6-D6FC-2FC7-3542-9EBCDD15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2AA3A4-F999-478F-F611-0B8995BB2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39C53F-05B8-6708-1A73-27385F7BC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526927-CA55-EC2F-AE2D-2009D93A0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6F534-654D-4507-B54C-F7CCB4C6A18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7A0037-E60C-F96F-3FA0-4579BA81E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77720E-C518-4355-E259-8CECF7394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80FD-8A16-41DE-B276-4A82C565FE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642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63A40D-ADD5-6A30-64F1-A154C0988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BFA0CA-0894-C89E-1020-EC9CA0D4A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9C2306-17B4-8CD8-53FE-FE725AAD4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70911C7-89B7-5290-11C8-CB5F6BFFC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945EBA8-4909-5A4B-02DF-215FDE97E3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F75AD7C-E705-7761-4C5B-3DFC5F65A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6F534-654D-4507-B54C-F7CCB4C6A18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0C290CE-493F-C4B4-4569-89F074634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F6528D6-0833-68D6-F0D7-FDCF590F9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80FD-8A16-41DE-B276-4A82C565FE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351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792FA8-DFE2-D79F-E177-A0A44BAE2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7FF755-F218-885B-0899-D15F0F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6F534-654D-4507-B54C-F7CCB4C6A18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A493CE-CD07-8F23-D764-D7E4F9B10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CC13076-50EE-82DA-D8D7-D79FD9238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80FD-8A16-41DE-B276-4A82C565FE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082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8F725C-74DF-4CD5-E42E-CC8294ACE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6F534-654D-4507-B54C-F7CCB4C6A18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8C4D213-456C-6C65-2BFD-40D3F3530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AF4655-14F6-6C58-68AA-05D3FECE2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80FD-8A16-41DE-B276-4A82C565FE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994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71D827-186E-6EF0-7833-7262DA317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0C0AC0-7566-35CA-BAEC-FE758523A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67DD18-8998-AC62-D397-3702AAFB5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072C53-5FCB-57E0-AA38-D27ABBFD4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6F534-654D-4507-B54C-F7CCB4C6A18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E4F7E4-C789-BD3E-4F24-355FBDCB2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F8AECA-1BD6-7A1E-9D41-7D91E252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80FD-8A16-41DE-B276-4A82C565FE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180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CA4170-5372-8F5E-6744-89060D193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193B21-1F70-A18C-FDCB-6B93DCD095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6E5484-B962-3F5D-3C59-6ADA6CC6C0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93DFBB-C781-436C-A059-62583F719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6F534-654D-4507-B54C-F7CCB4C6A18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77DFBF-32E0-B17B-D6D6-B3D96B785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0922FE-E8DB-07BE-819B-F9F796BF8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80FD-8A16-41DE-B276-4A82C565FE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525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70345C-EBBA-8B58-65C5-20CA96E92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37EDD96-7959-75F6-7C28-F57E0CCCA5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6403DF-3C16-987A-8D9B-D11C5675B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6F534-654D-4507-B54C-F7CCB4C6A18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327799-06F7-77E3-AF3A-E7EA0D5D9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2191F3-A879-8864-B1E9-102D26050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80FD-8A16-41DE-B276-4A82C565FE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945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7E4A3E9-F626-B5C4-54AB-98E3C717AD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49C4E43-6AD9-0862-E508-58352577F3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CBDE1A-661D-B3E2-45B9-A8937F43D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6F534-654D-4507-B54C-F7CCB4C6A18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B9625E-D33F-B675-6064-DCDD74C3B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0906A1-80DD-55D7-0511-33CB6FB6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80FD-8A16-41DE-B276-4A82C565FE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969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33917DA-AF0A-1B33-B63D-5E3D816B1A6E}"/>
              </a:ext>
            </a:extLst>
          </p:cNvPr>
          <p:cNvCxnSpPr>
            <a:cxnSpLocks/>
          </p:cNvCxnSpPr>
          <p:nvPr userDrawn="1"/>
        </p:nvCxnSpPr>
        <p:spPr>
          <a:xfrm>
            <a:off x="3967472" y="791778"/>
            <a:ext cx="792925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54A832DF-EEBC-61AE-60DB-864C1C74E61A}"/>
              </a:ext>
            </a:extLst>
          </p:cNvPr>
          <p:cNvCxnSpPr>
            <a:cxnSpLocks/>
          </p:cNvCxnSpPr>
          <p:nvPr userDrawn="1"/>
        </p:nvCxnSpPr>
        <p:spPr>
          <a:xfrm>
            <a:off x="283977" y="791018"/>
            <a:ext cx="3764151" cy="0"/>
          </a:xfrm>
          <a:prstGeom prst="line">
            <a:avLst/>
          </a:prstGeom>
          <a:ln w="34925">
            <a:solidFill>
              <a:srgbClr val="3877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D759E21-0D84-5C21-3572-FF55FC3D24CF}"/>
              </a:ext>
            </a:extLst>
          </p:cNvPr>
          <p:cNvSpPr txBox="1"/>
          <p:nvPr userDrawn="1"/>
        </p:nvSpPr>
        <p:spPr>
          <a:xfrm>
            <a:off x="9819275" y="442592"/>
            <a:ext cx="215238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ko-KR" altLang="en-US" sz="900" spc="-31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Pretendard Medium" panose="02000603000000020004" pitchFamily="50" charset="-127"/>
              </a:rPr>
              <a:t>굴착기 </a:t>
            </a:r>
            <a:r>
              <a:rPr lang="ko-KR" altLang="en-US" sz="900" spc="-31" baseline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Pretendard Medium" panose="02000603000000020004" pitchFamily="50" charset="-127"/>
              </a:rPr>
              <a:t>혼류</a:t>
            </a:r>
            <a:r>
              <a:rPr lang="ko-KR" altLang="en-US" sz="900" spc="-31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Pretendard Medium" panose="02000603000000020004" pitchFamily="50" charset="-127"/>
              </a:rPr>
              <a:t> 생산을 위한 로봇용접 및 </a:t>
            </a:r>
            <a:endParaRPr lang="en-US" altLang="ko-KR" sz="900" spc="-31" baseline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  <a:cs typeface="Pretendard Medium" panose="02000603000000020004" pitchFamily="50" charset="-127"/>
            </a:endParaRPr>
          </a:p>
          <a:p>
            <a:pPr algn="r"/>
            <a:r>
              <a:rPr lang="en-US" altLang="ko-KR" sz="900" spc="-31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Pretendard Medium" panose="02000603000000020004" pitchFamily="50" charset="-127"/>
              </a:rPr>
              <a:t>AI </a:t>
            </a:r>
            <a:r>
              <a:rPr lang="ko-KR" altLang="en-US" sz="900" spc="-31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Pretendard Medium" panose="02000603000000020004" pitchFamily="50" charset="-127"/>
              </a:rPr>
              <a:t>기반 영상 </a:t>
            </a:r>
            <a:r>
              <a:rPr lang="en-US" altLang="ko-KR" sz="900" spc="-31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Pretendard Medium" panose="02000603000000020004" pitchFamily="50" charset="-127"/>
              </a:rPr>
              <a:t>PAUT </a:t>
            </a:r>
            <a:r>
              <a:rPr lang="ko-KR" altLang="en-US" sz="900" spc="-31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Pretendard Medium" panose="02000603000000020004" pitchFamily="50" charset="-127"/>
              </a:rPr>
              <a:t>복합 검사 시스템 개발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FD22EE9-F265-704A-D702-3B3093087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575" y="354812"/>
            <a:ext cx="9650935" cy="369330"/>
          </a:xfrm>
        </p:spPr>
        <p:txBody>
          <a:bodyPr>
            <a:normAutofit/>
          </a:bodyPr>
          <a:lstStyle>
            <a:lvl1pPr marL="0" marR="0" indent="0" algn="l" defTabSz="9143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ko-KR" altLang="en-US" sz="2400" b="0" i="0" u="none" strike="noStrike" cap="none" spc="-51" normalizeH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FillTx/>
                <a:latin typeface="에스코어 드림 7 ExtraBold" panose="020B0803030302020204" pitchFamily="34" charset="-127"/>
                <a:ea typeface="에스코어 드림 7 ExtraBold" panose="020B0803030302020204" pitchFamily="34" charset="-127"/>
                <a:cs typeface="Pretendard Medium" panose="02000603000000020004" pitchFamily="50" charset="-127"/>
                <a:sym typeface="S-Core Dream 5 Medium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1E60FD-CFB7-0B62-10DA-538BEF178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72252"/>
            <a:ext cx="2844800" cy="285748"/>
          </a:xfrm>
        </p:spPr>
        <p:txBody>
          <a:bodyPr/>
          <a:lstStyle/>
          <a:p>
            <a:fld id="{A36F9733-F713-40CA-974F-C14664DE858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146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721B283-CA5E-636B-75B7-37D0C4719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A614B2-34F2-9DAE-7E92-91D513A49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402B30-3582-C4A8-663A-F537543B15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36F534-654D-4507-B54C-F7CCB4C6A18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809DA4-CAB6-57A6-5ECB-998C91F3F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C02A63-C032-0E5C-E32E-E521A523AD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580FD-8A16-41DE-B276-4A82C565FE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494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FB548C-5B60-77CC-97B3-88C2706D8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도어 용접 공정 부품 종류 자동 인식 </a:t>
            </a:r>
            <a:r>
              <a:rPr lang="en-US" altLang="ko-KR" dirty="0"/>
              <a:t>(</a:t>
            </a:r>
            <a:r>
              <a:rPr lang="ko-KR" altLang="en-US" dirty="0"/>
              <a:t>한국건설기계연구원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0B7DA1A-F22D-9B2E-29A9-09FC88B6E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586494"/>
              </p:ext>
            </p:extLst>
          </p:nvPr>
        </p:nvGraphicFramePr>
        <p:xfrm>
          <a:off x="366575" y="1257046"/>
          <a:ext cx="6193251" cy="2800920"/>
        </p:xfrm>
        <a:graphic>
          <a:graphicData uri="http://schemas.openxmlformats.org/drawingml/2006/table">
            <a:tbl>
              <a:tblPr/>
              <a:tblGrid>
                <a:gridCol w="1144173">
                  <a:extLst>
                    <a:ext uri="{9D8B030D-6E8A-4147-A177-3AD203B41FA5}">
                      <a16:colId xmlns:a16="http://schemas.microsoft.com/office/drawing/2014/main" val="532394482"/>
                    </a:ext>
                  </a:extLst>
                </a:gridCol>
                <a:gridCol w="5049078">
                  <a:extLst>
                    <a:ext uri="{9D8B030D-6E8A-4147-A177-3AD203B41FA5}">
                      <a16:colId xmlns:a16="http://schemas.microsoft.com/office/drawing/2014/main" val="2169039656"/>
                    </a:ext>
                  </a:extLst>
                </a:gridCol>
              </a:tblGrid>
              <a:tr h="377031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구분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현재 상태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598796"/>
                  </a:ext>
                </a:extLst>
              </a:tr>
              <a:tr h="377031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데이터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(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실험실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) RGB + Depth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쌍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, 8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종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.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실험실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1,256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장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+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증강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2,512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장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(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평가용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)</a:t>
                      </a:r>
                    </a:p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현장 데이터 수집 및 평가진행 중</a:t>
                      </a:r>
                      <a:endParaRPr lang="en-US" altLang="ko-KR" sz="1100" b="0" kern="1200" dirty="0">
                        <a:solidFill>
                          <a:schemeClr val="tx1"/>
                        </a:solidFill>
                        <a:latin typeface="Noto Sans KR" pitchFamily="34" charset="0"/>
                        <a:ea typeface="Noto Sans KR" pitchFamily="34" charset="-122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545382"/>
                  </a:ext>
                </a:extLst>
              </a:tr>
              <a:tr h="377031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수집 체계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경주 공장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명성공업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)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 용접 라인 무인 수집 장치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26.8.27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가동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버튼 조작으로 수집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  <a:sym typeface="Wingdings" panose="05000000000000000000" pitchFamily="2" charset="2"/>
                        </a:rPr>
                        <a:t> NAS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  <a:sym typeface="Wingdings" panose="05000000000000000000" pitchFamily="2" charset="2"/>
                        </a:rPr>
                        <a:t>자동 업로드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  <a:sym typeface="Wingdings" panose="05000000000000000000" pitchFamily="2" charset="2"/>
                        </a:rPr>
                        <a:t>학습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  <a:sym typeface="Wingdings" panose="05000000000000000000" pitchFamily="2" charset="2"/>
                        </a:rPr>
                        <a:t> PC 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  <a:sym typeface="Wingdings" panose="05000000000000000000" pitchFamily="2" charset="2"/>
                        </a:rPr>
                        <a:t>학습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  <a:sym typeface="Wingdings" panose="05000000000000000000" pitchFamily="2" charset="2"/>
                        </a:rPr>
                        <a:t>데이터베이스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  <a:sym typeface="Wingdings" panose="05000000000000000000" pitchFamily="2" charset="2"/>
                        </a:rPr>
                        <a:t>평가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Noto Sans KR" pitchFamily="34" charset="0"/>
                        <a:ea typeface="Noto Sans KR" pitchFamily="34" charset="-122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467713"/>
                  </a:ext>
                </a:extLst>
              </a:tr>
              <a:tr h="377031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데이터 관리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현장 </a:t>
                      </a:r>
                      <a:r>
                        <a:rPr lang="ko-KR" altLang="en-US" sz="1100" b="0" kern="1200" dirty="0" err="1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엣지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  <a:sym typeface="Wingdings" panose="05000000000000000000" pitchFamily="2" charset="2"/>
                        </a:rPr>
                        <a:t> NAS 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  <a:sym typeface="Wingdings" panose="05000000000000000000" pitchFamily="2" charset="2"/>
                        </a:rPr>
                        <a:t>학습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  <a:sym typeface="Wingdings" panose="05000000000000000000" pitchFamily="2" charset="2"/>
                        </a:rPr>
                        <a:t>PC,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  <a:sym typeface="Wingdings" panose="05000000000000000000" pitchFamily="2" charset="2"/>
                        </a:rPr>
                        <a:t>메타데이터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  <a:sym typeface="Wingdings" panose="05000000000000000000" pitchFamily="2" charset="2"/>
                        </a:rPr>
                        <a:t>DB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  <a:sym typeface="Wingdings" panose="05000000000000000000" pitchFamily="2" charset="2"/>
                        </a:rPr>
                        <a:t>로 데이터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  <a:sym typeface="Wingdings" panose="05000000000000000000" pitchFamily="2" charset="2"/>
                        </a:rPr>
                        <a:t>·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  <a:sym typeface="Wingdings" panose="05000000000000000000" pitchFamily="2" charset="2"/>
                        </a:rPr>
                        <a:t>학습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  <a:sym typeface="Wingdings" panose="05000000000000000000" pitchFamily="2" charset="2"/>
                        </a:rPr>
                        <a:t>·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  <a:sym typeface="Wingdings" panose="05000000000000000000" pitchFamily="2" charset="2"/>
                        </a:rPr>
                        <a:t>평가 이력 자동 기록</a:t>
                      </a:r>
                      <a:endParaRPr lang="en-US" sz="1100" b="0" kern="1200" dirty="0">
                        <a:solidFill>
                          <a:schemeClr val="tx1"/>
                        </a:solidFill>
                        <a:latin typeface="Noto Sans KR" pitchFamily="34" charset="0"/>
                        <a:ea typeface="Noto Sans KR" pitchFamily="34" charset="-122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183683"/>
                  </a:ext>
                </a:extLst>
              </a:tr>
              <a:tr h="377031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AI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모델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분류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)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Noto Sans KR" pitchFamily="34" charset="0"/>
                        <a:ea typeface="Noto Sans KR" pitchFamily="34" charset="-122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indent="-228600" algn="l" fontAlgn="base" latinLnBrk="1">
                        <a:lnSpc>
                          <a:spcPct val="100000"/>
                        </a:lnSpc>
                        <a:buAutoNum type="alphaLcPeriod"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CNN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분류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(ResNet18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백본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분류기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입력은 </a:t>
                      </a:r>
                      <a:r>
                        <a:rPr lang="en-US" altLang="ko-KR" sz="1100" b="0" kern="1200" dirty="0" err="1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RGB+Edge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)</a:t>
                      </a:r>
                    </a:p>
                    <a:p>
                      <a:pPr marL="228600" marR="0" indent="-228600" algn="l" fontAlgn="base" latinLnBrk="1">
                        <a:lnSpc>
                          <a:spcPct val="100000"/>
                        </a:lnSpc>
                        <a:buAutoNum type="alphaLcPeriod"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ResNet18(-FPN) </a:t>
                      </a:r>
                      <a:r>
                        <a:rPr lang="ko-KR" altLang="en-US" sz="1100" b="0" kern="1200" dirty="0" err="1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히트맵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CNN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을 통한 홀 검출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  <a:sym typeface="Wingdings" panose="05000000000000000000" pitchFamily="2" charset="2"/>
                        </a:rPr>
                        <a:t>홀 거리를 통한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  <a:sym typeface="Wingdings" panose="05000000000000000000" pitchFamily="2" charset="2"/>
                        </a:rPr>
                        <a:t>CAD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  <a:sym typeface="Wingdings" panose="05000000000000000000" pitchFamily="2" charset="2"/>
                        </a:rPr>
                        <a:t>치수 대조</a:t>
                      </a:r>
                      <a:endParaRPr lang="en-US" altLang="ko-KR" sz="1100" b="0" kern="1200" dirty="0">
                        <a:solidFill>
                          <a:schemeClr val="tx1"/>
                        </a:solidFill>
                        <a:latin typeface="Noto Sans KR" pitchFamily="34" charset="0"/>
                        <a:ea typeface="Noto Sans KR" pitchFamily="34" charset="-122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  <a:sym typeface="Wingdings" panose="05000000000000000000" pitchFamily="2" charset="2"/>
                        </a:rPr>
                        <a:t>효과적인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  <a:sym typeface="Wingdings" panose="05000000000000000000" pitchFamily="2" charset="2"/>
                        </a:rPr>
                        <a:t>AI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  <a:sym typeface="Wingdings" panose="05000000000000000000" pitchFamily="2" charset="2"/>
                        </a:rPr>
                        <a:t>모델 추가 검토 진행 중</a:t>
                      </a:r>
                      <a:endParaRPr lang="en-US" sz="1100" b="0" kern="1200" dirty="0">
                        <a:solidFill>
                          <a:schemeClr val="tx1"/>
                        </a:solidFill>
                        <a:latin typeface="Noto Sans KR" pitchFamily="34" charset="0"/>
                        <a:ea typeface="Noto Sans KR" pitchFamily="34" charset="-122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884331"/>
                  </a:ext>
                </a:extLst>
              </a:tr>
              <a:tr h="377031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목표 대비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Noto Sans KR" pitchFamily="34" charset="0"/>
                        <a:ea typeface="Noto Sans KR" pitchFamily="34" charset="-122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(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실험실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)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인식률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99% (1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차년도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), (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실험실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)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위치 추정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~10mm (2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차년도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)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진행 예정</a:t>
                      </a:r>
                      <a:endParaRPr lang="en-US" altLang="ko-KR" sz="1100" b="0" kern="1200" dirty="0">
                        <a:solidFill>
                          <a:schemeClr val="tx1"/>
                        </a:solidFill>
                        <a:latin typeface="Noto Sans KR" pitchFamily="34" charset="0"/>
                        <a:ea typeface="Noto Sans KR" pitchFamily="34" charset="-122"/>
                        <a:cs typeface="+mn-cs"/>
                      </a:endParaRPr>
                    </a:p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현장 분류 평가 진행 예정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(2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차년도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)</a:t>
                      </a:r>
                      <a:endParaRPr lang="en-US" sz="1100" b="0" kern="1200" dirty="0">
                        <a:solidFill>
                          <a:schemeClr val="tx1"/>
                        </a:solidFill>
                        <a:latin typeface="Noto Sans KR" pitchFamily="34" charset="0"/>
                        <a:ea typeface="Noto Sans KR" pitchFamily="34" charset="-122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7278809"/>
                  </a:ext>
                </a:extLst>
              </a:tr>
              <a:tr h="377031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인프라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온프레미스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, RTX 5090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학습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PC, Jetson Orin NX 16GB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엣지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Noto Sans KR" pitchFamily="34" charset="0"/>
                        <a:ea typeface="Noto Sans KR" pitchFamily="34" charset="-122"/>
                        <a:cs typeface="+mn-cs"/>
                      </a:endParaRPr>
                    </a:p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VPN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원격 모니터링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(</a:t>
                      </a:r>
                      <a:r>
                        <a:rPr lang="en-US" altLang="ko-KR" sz="1100" kern="1200" dirty="0" err="1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tailscale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, </a:t>
                      </a:r>
                      <a:r>
                        <a:rPr lang="en-US" altLang="ko-KR" sz="1100" kern="1200" dirty="0" err="1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ZeroTier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), </a:t>
                      </a: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Zed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X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mini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+mn-cs"/>
                        </a:rPr>
                        <a:t> 카메라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Noto Sans KR" pitchFamily="34" charset="0"/>
                        <a:ea typeface="Noto Sans KR" pitchFamily="34" charset="-122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076979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79A784C6-B299-A0B0-5259-56D7BC1DE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75" y="4319576"/>
            <a:ext cx="5691809" cy="21836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224B4B-3FDE-0B69-A299-AA1F627AF797}"/>
              </a:ext>
            </a:extLst>
          </p:cNvPr>
          <p:cNvSpPr txBox="1"/>
          <p:nvPr/>
        </p:nvSpPr>
        <p:spPr>
          <a:xfrm>
            <a:off x="366575" y="6503188"/>
            <a:ext cx="56918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 b="0" kern="1200" dirty="0">
                <a:solidFill>
                  <a:schemeClr val="tx1"/>
                </a:solidFill>
                <a:latin typeface="Noto Sans KR" pitchFamily="34" charset="0"/>
                <a:ea typeface="Noto Sans KR" pitchFamily="34" charset="-122"/>
                <a:cs typeface="+mn-cs"/>
              </a:rPr>
              <a:t>실험실 환경 부품 이미지</a:t>
            </a:r>
            <a:r>
              <a:rPr lang="en-US" altLang="ko-KR" sz="1100" b="0" kern="1200" dirty="0">
                <a:solidFill>
                  <a:schemeClr val="tx1"/>
                </a:solidFill>
                <a:latin typeface="Noto Sans KR" pitchFamily="34" charset="0"/>
                <a:ea typeface="Noto Sans KR" pitchFamily="34" charset="-122"/>
                <a:cs typeface="+mn-cs"/>
              </a:rPr>
              <a:t>, </a:t>
            </a:r>
            <a:r>
              <a:rPr lang="ko-KR" altLang="en-US" sz="1100" b="0" kern="1200" dirty="0">
                <a:solidFill>
                  <a:schemeClr val="tx1"/>
                </a:solidFill>
                <a:latin typeface="Noto Sans KR" pitchFamily="34" charset="0"/>
                <a:ea typeface="Noto Sans KR" pitchFamily="34" charset="-122"/>
                <a:cs typeface="+mn-cs"/>
              </a:rPr>
              <a:t>추론 속도 </a:t>
            </a:r>
            <a:r>
              <a:rPr lang="en-US" altLang="ko-KR" sz="1100" b="0" kern="1200" dirty="0">
                <a:solidFill>
                  <a:schemeClr val="tx1"/>
                </a:solidFill>
                <a:latin typeface="Noto Sans KR" pitchFamily="34" charset="0"/>
                <a:ea typeface="Noto Sans KR" pitchFamily="34" charset="-122"/>
                <a:cs typeface="+mn-cs"/>
              </a:rPr>
              <a:t>(40~50ms)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BAE236-EE9D-6401-CEBA-379804CAF5D3}"/>
              </a:ext>
            </a:extLst>
          </p:cNvPr>
          <p:cNvSpPr txBox="1"/>
          <p:nvPr/>
        </p:nvSpPr>
        <p:spPr>
          <a:xfrm>
            <a:off x="6294783" y="6503188"/>
            <a:ext cx="44063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 b="0" kern="1200" dirty="0">
                <a:solidFill>
                  <a:schemeClr val="tx1"/>
                </a:solidFill>
                <a:latin typeface="Noto Sans KR" pitchFamily="34" charset="0"/>
                <a:ea typeface="Noto Sans KR" pitchFamily="34" charset="-122"/>
                <a:cs typeface="+mn-cs"/>
              </a:rPr>
              <a:t>현장 부품 이미지 </a:t>
            </a:r>
            <a:r>
              <a:rPr lang="en-US" altLang="ko-KR" sz="1100" b="0" kern="1200" dirty="0">
                <a:solidFill>
                  <a:schemeClr val="tx1"/>
                </a:solidFill>
                <a:latin typeface="Noto Sans KR" pitchFamily="34" charset="0"/>
                <a:ea typeface="Noto Sans KR" pitchFamily="34" charset="-122"/>
                <a:cs typeface="+mn-cs"/>
              </a:rPr>
              <a:t>(</a:t>
            </a:r>
            <a:r>
              <a:rPr lang="ko-KR" altLang="en-US" sz="1100" b="0" kern="1200" dirty="0">
                <a:solidFill>
                  <a:schemeClr val="tx1"/>
                </a:solidFill>
                <a:latin typeface="Noto Sans KR" pitchFamily="34" charset="0"/>
                <a:ea typeface="Noto Sans KR" pitchFamily="34" charset="-122"/>
                <a:cs typeface="+mn-cs"/>
              </a:rPr>
              <a:t>수집 </a:t>
            </a:r>
            <a:r>
              <a:rPr lang="en-US" altLang="ko-KR" sz="1100" b="0" kern="1200" dirty="0">
                <a:solidFill>
                  <a:schemeClr val="tx1"/>
                </a:solidFill>
                <a:latin typeface="Noto Sans KR" pitchFamily="34" charset="0"/>
                <a:ea typeface="Noto Sans KR" pitchFamily="34" charset="-122"/>
                <a:cs typeface="+mn-cs"/>
              </a:rPr>
              <a:t>2</a:t>
            </a:r>
            <a:r>
              <a:rPr lang="ko-KR" altLang="en-US" sz="1100" b="0" kern="1200" dirty="0">
                <a:solidFill>
                  <a:schemeClr val="tx1"/>
                </a:solidFill>
                <a:latin typeface="Noto Sans KR" pitchFamily="34" charset="0"/>
                <a:ea typeface="Noto Sans KR" pitchFamily="34" charset="-122"/>
                <a:cs typeface="+mn-cs"/>
              </a:rPr>
              <a:t>초</a:t>
            </a:r>
            <a:r>
              <a:rPr lang="en-US" altLang="ko-KR" sz="1100" b="0" kern="1200" dirty="0">
                <a:solidFill>
                  <a:schemeClr val="tx1"/>
                </a:solidFill>
                <a:latin typeface="Noto Sans KR" pitchFamily="34" charset="0"/>
                <a:ea typeface="Noto Sans KR" pitchFamily="34" charset="-122"/>
                <a:cs typeface="+mn-cs"/>
              </a:rPr>
              <a:t>/1</a:t>
            </a:r>
            <a:r>
              <a:rPr lang="ko-KR" altLang="en-US" sz="1100" b="0" kern="1200" dirty="0">
                <a:solidFill>
                  <a:schemeClr val="tx1"/>
                </a:solidFill>
                <a:latin typeface="Noto Sans KR" pitchFamily="34" charset="0"/>
                <a:ea typeface="Noto Sans KR" pitchFamily="34" charset="-122"/>
                <a:cs typeface="+mn-cs"/>
              </a:rPr>
              <a:t>장</a:t>
            </a:r>
            <a:r>
              <a:rPr lang="en-US" altLang="ko-KR" sz="1100" b="0" kern="1200" dirty="0">
                <a:solidFill>
                  <a:schemeClr val="tx1"/>
                </a:solidFill>
                <a:latin typeface="Noto Sans KR" pitchFamily="34" charset="0"/>
                <a:ea typeface="Noto Sans KR" pitchFamily="34" charset="-122"/>
                <a:cs typeface="+mn-cs"/>
              </a:rPr>
              <a:t>)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A1DAAF0-A0BE-3F4B-543C-219E46C0B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783" y="4319576"/>
            <a:ext cx="4406346" cy="217667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C6B89AE-77C3-918C-70BC-4D5A907CE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903" y="1257046"/>
            <a:ext cx="3461393" cy="235909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F8DA53EE-2D70-969F-EFD8-19CE676435DD}"/>
              </a:ext>
            </a:extLst>
          </p:cNvPr>
          <p:cNvSpPr/>
          <p:nvPr/>
        </p:nvSpPr>
        <p:spPr>
          <a:xfrm>
            <a:off x="6811618" y="1732406"/>
            <a:ext cx="596347" cy="9180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7E3939-AB94-17D0-AA43-B095BD704012}"/>
              </a:ext>
            </a:extLst>
          </p:cNvPr>
          <p:cNvSpPr txBox="1"/>
          <p:nvPr/>
        </p:nvSpPr>
        <p:spPr>
          <a:xfrm>
            <a:off x="6722903" y="3642211"/>
            <a:ext cx="346139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Noto Sans KR" pitchFamily="34" charset="0"/>
                <a:ea typeface="Noto Sans KR" pitchFamily="34" charset="-122"/>
              </a:rPr>
              <a:t>NAS Synology DS1522+ 20TB</a:t>
            </a:r>
            <a:r>
              <a:rPr lang="ko-KR" altLang="en-US" sz="1100" dirty="0">
                <a:latin typeface="Noto Sans KR" pitchFamily="34" charset="0"/>
                <a:ea typeface="Noto Sans KR" pitchFamily="34" charset="-122"/>
              </a:rPr>
              <a:t> 데이터 수집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FD6ADA-5DBD-AC68-5F11-D146DC6D8E5C}"/>
              </a:ext>
            </a:extLst>
          </p:cNvPr>
          <p:cNvSpPr txBox="1"/>
          <p:nvPr/>
        </p:nvSpPr>
        <p:spPr>
          <a:xfrm>
            <a:off x="366575" y="899613"/>
            <a:ext cx="34613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Noto Sans KR" pitchFamily="34" charset="0"/>
                <a:ea typeface="Noto Sans KR" pitchFamily="34" charset="-122"/>
              </a:rPr>
              <a:t>■ 연구내용 </a:t>
            </a:r>
            <a:r>
              <a:rPr lang="en-US" altLang="ko-KR" sz="1400" dirty="0">
                <a:latin typeface="Noto Sans KR" pitchFamily="34" charset="0"/>
                <a:ea typeface="Noto Sans KR" pitchFamily="34" charset="-122"/>
              </a:rPr>
              <a:t>(</a:t>
            </a:r>
            <a:r>
              <a:rPr lang="ko-KR" altLang="en-US" sz="1400" dirty="0">
                <a:latin typeface="Noto Sans KR" pitchFamily="34" charset="0"/>
                <a:ea typeface="Noto Sans KR" pitchFamily="34" charset="-122"/>
              </a:rPr>
              <a:t>요약</a:t>
            </a:r>
            <a:r>
              <a:rPr lang="en-US" altLang="ko-KR" sz="1400" dirty="0">
                <a:latin typeface="Noto Sans KR" pitchFamily="34" charset="0"/>
                <a:ea typeface="Noto Sans KR" pitchFamily="34" charset="-122"/>
              </a:rPr>
              <a:t>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66711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2A70B-0A48-AF2C-CD01-4BA05A168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71D31-7650-EEBF-6C0F-A1220DA75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도어 용접 공정 부품 종류 자동 인식 </a:t>
            </a:r>
            <a:r>
              <a:rPr lang="en-US" altLang="ko-KR" dirty="0"/>
              <a:t>(</a:t>
            </a:r>
            <a:r>
              <a:rPr lang="ko-KR" altLang="en-US" dirty="0"/>
              <a:t>한국건설기계연구원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E52626B-E57E-2425-4B6B-D308FBBD00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152"/>
          <a:stretch>
            <a:fillRect/>
          </a:stretch>
        </p:blipFill>
        <p:spPr>
          <a:xfrm>
            <a:off x="5192042" y="1455786"/>
            <a:ext cx="3666607" cy="13452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B0E198C-3F0E-82A7-8143-2A80D8A9B7A0}"/>
              </a:ext>
            </a:extLst>
          </p:cNvPr>
          <p:cNvSpPr txBox="1"/>
          <p:nvPr/>
        </p:nvSpPr>
        <p:spPr>
          <a:xfrm>
            <a:off x="5192042" y="2800996"/>
            <a:ext cx="36666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Noto Sans KR" pitchFamily="34" charset="0"/>
                <a:ea typeface="Noto Sans KR" pitchFamily="34" charset="-122"/>
              </a:rPr>
              <a:t>DB </a:t>
            </a:r>
            <a:r>
              <a:rPr lang="ko-KR" altLang="en-US" sz="1100" dirty="0">
                <a:latin typeface="Noto Sans KR" pitchFamily="34" charset="0"/>
                <a:ea typeface="Noto Sans KR" pitchFamily="34" charset="-122"/>
              </a:rPr>
              <a:t>웹 페이지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99A0F6A-906B-0EF5-EDA9-39CBCBCED8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3" r="28695"/>
          <a:stretch>
            <a:fillRect/>
          </a:stretch>
        </p:blipFill>
        <p:spPr>
          <a:xfrm rot="5400000">
            <a:off x="6835363" y="3392004"/>
            <a:ext cx="2231200" cy="230519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03DA66C-76E1-2CF8-2B21-7E8F1FDB16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37" r="28406"/>
          <a:stretch>
            <a:fillRect/>
          </a:stretch>
        </p:blipFill>
        <p:spPr>
          <a:xfrm rot="5400000">
            <a:off x="9615439" y="3207017"/>
            <a:ext cx="2231200" cy="267516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FF8BE8B-A1A3-B731-3DE2-B8835013D378}"/>
              </a:ext>
            </a:extLst>
          </p:cNvPr>
          <p:cNvSpPr txBox="1"/>
          <p:nvPr/>
        </p:nvSpPr>
        <p:spPr>
          <a:xfrm>
            <a:off x="7166186" y="5714407"/>
            <a:ext cx="44692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 dirty="0">
                <a:latin typeface="Noto Sans KR" pitchFamily="34" charset="0"/>
                <a:ea typeface="Noto Sans KR" pitchFamily="34" charset="-122"/>
              </a:rPr>
              <a:t>현장 수집 환경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865A8A-8A9B-AE88-DB40-D45149589861}"/>
              </a:ext>
            </a:extLst>
          </p:cNvPr>
          <p:cNvSpPr txBox="1"/>
          <p:nvPr/>
        </p:nvSpPr>
        <p:spPr>
          <a:xfrm>
            <a:off x="580459" y="1511487"/>
            <a:ext cx="6058880" cy="400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marR="63500" lvl="0" indent="-108000" algn="l" defTabSz="457148" rtl="0" eaLnBrk="1" fontAlgn="base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분류 부품 정의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형상과 치수가 비슷한 도어 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종을 </a:t>
            </a:r>
            <a:r>
              <a:rPr lang="en-US" altLang="ko-KR" sz="1200" spc="-70" dirty="0" err="1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RGB+Depth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구분</a:t>
            </a:r>
            <a:endParaRPr lang="en-US" altLang="ko-KR" sz="1200" spc="-70" dirty="0">
              <a:ln w="1270">
                <a:solidFill>
                  <a:prstClr val="black">
                    <a:alpha val="20000"/>
                  </a:prstClr>
                </a:solidFill>
              </a:ln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547688" marR="63500" lvl="1" indent="-108000" defTabSz="457148" fontAlgn="base" latinLnBrk="0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/>
            </a:pP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표준 데이터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RGB 1920x1200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Depth(mm,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16bit)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쌍</a:t>
            </a:r>
            <a:endParaRPr lang="en-US" altLang="ko-KR" sz="1200" spc="-70" dirty="0">
              <a:ln w="1270">
                <a:solidFill>
                  <a:prstClr val="black">
                    <a:alpha val="20000"/>
                  </a:prstClr>
                </a:solidFill>
              </a:ln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90488" marR="63500" indent="-108000" defTabSz="457148" fontAlgn="base" latinLnBrk="0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/>
            </a:pP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</a:t>
            </a:r>
            <a:r>
              <a:rPr lang="ko-KR" altLang="en-US" sz="1200" spc="-70" dirty="0" err="1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라벨링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en-US" altLang="ko-KR" sz="1200" spc="-70" dirty="0">
              <a:ln w="1270">
                <a:solidFill>
                  <a:prstClr val="black">
                    <a:alpha val="20000"/>
                  </a:prstClr>
                </a:solidFill>
              </a:ln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547688" marR="63500" lvl="1" indent="-108000" defTabSz="457148" fontAlgn="base" latinLnBrk="0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/>
            </a:pP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도어 종류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촬영 시 부여</a:t>
            </a:r>
            <a:endParaRPr lang="en-US" altLang="ko-KR" sz="1200" spc="-70" dirty="0">
              <a:ln w="1270">
                <a:solidFill>
                  <a:prstClr val="black">
                    <a:alpha val="20000"/>
                  </a:prstClr>
                </a:solidFill>
              </a:ln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547688" marR="63500" lvl="1" indent="-108000" defTabSz="457148" fontAlgn="base" latinLnBrk="0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/>
            </a:pP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홀 랜드마크 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수작업 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소규모 셋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134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장 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x 6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홀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90488" marR="63500" indent="-108000" defTabSz="457148" fontAlgn="base" latinLnBrk="0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/>
            </a:pP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</a:t>
            </a:r>
            <a:r>
              <a:rPr lang="ko-KR" altLang="en-US" sz="1200" spc="-70" dirty="0" err="1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전처리</a:t>
            </a:r>
            <a:endParaRPr lang="en-US" altLang="ko-KR" sz="1200" spc="-70" dirty="0">
              <a:ln w="1270">
                <a:solidFill>
                  <a:prstClr val="black">
                    <a:alpha val="20000"/>
                  </a:prstClr>
                </a:solidFill>
              </a:ln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547688" marR="63500" lvl="1" indent="-108000" defTabSz="457148" fontAlgn="base" latinLnBrk="0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/>
            </a:pP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자동 제외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안정화 구간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설정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라벨 </a:t>
            </a:r>
            <a:r>
              <a:rPr lang="ko-KR" altLang="en-US" sz="1200" spc="-70" dirty="0" err="1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미지정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세션 등</a:t>
            </a:r>
            <a:endParaRPr lang="en-US" altLang="ko-KR" sz="1200" spc="-70" dirty="0">
              <a:ln w="1270">
                <a:solidFill>
                  <a:prstClr val="black">
                    <a:alpha val="20000"/>
                  </a:prstClr>
                </a:solidFill>
              </a:ln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547688" marR="63500" lvl="1" indent="-108000" defTabSz="457148" fontAlgn="base" latinLnBrk="0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/>
            </a:pP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품질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Depth/RGB 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쌍 정합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DB 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중복 등록 방지</a:t>
            </a:r>
            <a:endParaRPr lang="en-US" altLang="ko-KR" sz="1200" spc="-70" dirty="0">
              <a:ln w="1270">
                <a:solidFill>
                  <a:prstClr val="black">
                    <a:alpha val="20000"/>
                  </a:prstClr>
                </a:solidFill>
              </a:ln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90488" marR="63500" indent="-108000" defTabSz="457148" fontAlgn="base" latinLnBrk="0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모델</a:t>
            </a:r>
            <a:endParaRPr lang="en-US" altLang="ko-KR" sz="1200" spc="-70" dirty="0">
              <a:ln w="1270">
                <a:solidFill>
                  <a:prstClr val="black">
                    <a:alpha val="20000"/>
                  </a:prstClr>
                </a:solidFill>
              </a:ln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547688" marR="63500" lvl="1" indent="-108000" defTabSz="457148" fontAlgn="base" latinLnBrk="0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CNN 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분류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ResNet18, RGB + Edge 4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채널 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보조 </a:t>
            </a:r>
            <a:r>
              <a:rPr lang="ko-KR" altLang="en-US" sz="1200" spc="-70" dirty="0" err="1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판별기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547688" marR="63500" lvl="1" indent="-108000" defTabSz="457148" fontAlgn="base" latinLnBrk="0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/>
            </a:pP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홀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랜드마크 </a:t>
            </a:r>
            <a:r>
              <a:rPr lang="ko-KR" altLang="en-US" sz="1200" spc="-70" dirty="0" err="1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판별기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 </a:t>
            </a:r>
            <a:r>
              <a:rPr lang="ko-KR" altLang="en-US" sz="1200" spc="-70" dirty="0" err="1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판별기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 : ResNet18 CNN 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홀 검출 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 CAD 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치수 대조</a:t>
            </a:r>
            <a:endParaRPr lang="en-US" altLang="ko-KR" sz="1200" spc="-70" dirty="0">
              <a:ln w="1270">
                <a:solidFill>
                  <a:prstClr val="black">
                    <a:alpha val="20000"/>
                  </a:prstClr>
                </a:solidFill>
              </a:ln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004888" marR="63500" lvl="2" indent="-108000" defTabSz="457148" fontAlgn="base" latinLnBrk="0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/>
            </a:pP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소량 수동 </a:t>
            </a:r>
            <a:r>
              <a:rPr lang="ko-KR" altLang="en-US" sz="1200" spc="-70" dirty="0" err="1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라벨링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데이터 증강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회전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밝기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플립 등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)  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학습 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실시간 추론</a:t>
            </a:r>
            <a:endParaRPr lang="en-US" altLang="ko-KR" sz="1200" spc="-70" dirty="0">
              <a:ln w="1270">
                <a:solidFill>
                  <a:prstClr val="black">
                    <a:alpha val="20000"/>
                  </a:prstClr>
                </a:solidFill>
              </a:ln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  <a:sym typeface="Wingdings" panose="05000000000000000000" pitchFamily="2" charset="2"/>
            </a:endParaRPr>
          </a:p>
          <a:p>
            <a:pPr marL="547688" marR="63500" lvl="1" indent="-108000" defTabSz="457148" fontAlgn="base" latinLnBrk="0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CAD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만 있으면 부품 판정 대상 추가 가능 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200" spc="-70" dirty="0" err="1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재학습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 불필요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)</a:t>
            </a:r>
          </a:p>
          <a:p>
            <a:pPr marL="547688" marR="63500" lvl="1" indent="-108000" defTabSz="457148" fontAlgn="base" latinLnBrk="0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/>
            </a:pP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규칙 기반 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Vision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과 일반 </a:t>
            </a:r>
            <a:r>
              <a:rPr lang="en-US" altLang="ko-KR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CNN</a:t>
            </a:r>
            <a:r>
              <a:rPr lang="ko-KR" altLang="en-US" sz="1200" spc="-70" dirty="0">
                <a:ln w="1270"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을 결합하고 설계 속성 기반으로 전환</a:t>
            </a:r>
            <a:endParaRPr kumimoji="0" lang="ko-KR" altLang="en-US" sz="1200" b="1" i="0" strike="noStrike" kern="1200" cap="none" spc="-70" normalizeH="0" baseline="0" noProof="0" dirty="0">
              <a:ln w="1270">
                <a:solidFill>
                  <a:prstClr val="black">
                    <a:alpha val="20000"/>
                  </a:prstClr>
                </a:solidFill>
              </a:ln>
              <a:solidFill>
                <a:srgbClr val="208240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704723-C546-3281-E7F8-273CD7E9F3E4}"/>
              </a:ext>
            </a:extLst>
          </p:cNvPr>
          <p:cNvSpPr txBox="1"/>
          <p:nvPr/>
        </p:nvSpPr>
        <p:spPr>
          <a:xfrm>
            <a:off x="366575" y="1026929"/>
            <a:ext cx="34613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Noto Sans KR" pitchFamily="34" charset="0"/>
                <a:ea typeface="Noto Sans KR" pitchFamily="34" charset="-122"/>
              </a:rPr>
              <a:t>■ 연구내용 </a:t>
            </a:r>
            <a:r>
              <a:rPr lang="en-US" altLang="ko-KR" sz="1400" dirty="0">
                <a:latin typeface="Noto Sans KR" pitchFamily="34" charset="0"/>
                <a:ea typeface="Noto Sans KR" pitchFamily="34" charset="-122"/>
              </a:rPr>
              <a:t>(</a:t>
            </a:r>
            <a:r>
              <a:rPr lang="ko-KR" altLang="en-US" sz="1400" dirty="0">
                <a:latin typeface="Noto Sans KR" pitchFamily="34" charset="0"/>
                <a:ea typeface="Noto Sans KR" pitchFamily="34" charset="-122"/>
              </a:rPr>
              <a:t>상세</a:t>
            </a:r>
            <a:r>
              <a:rPr lang="en-US" altLang="ko-KR" sz="1400" dirty="0">
                <a:latin typeface="Noto Sans KR" pitchFamily="34" charset="0"/>
                <a:ea typeface="Noto Sans KR" pitchFamily="34" charset="-122"/>
              </a:rPr>
              <a:t>)</a:t>
            </a:r>
            <a:endParaRPr lang="ko-KR" altLang="en-US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ADA0A00-147A-B77C-F026-E3A6EF82E8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7375" y="881983"/>
            <a:ext cx="2895526" cy="19684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5BDE10-ABE3-E217-B3D0-69EC3F65EA91}"/>
              </a:ext>
            </a:extLst>
          </p:cNvPr>
          <p:cNvSpPr txBox="1"/>
          <p:nvPr/>
        </p:nvSpPr>
        <p:spPr>
          <a:xfrm>
            <a:off x="9007375" y="2958904"/>
            <a:ext cx="28955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 dirty="0">
                <a:latin typeface="Noto Sans KR" pitchFamily="34" charset="0"/>
                <a:ea typeface="Noto Sans KR" pitchFamily="34" charset="-122"/>
              </a:rPr>
              <a:t>사용자용 웹 도구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0238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403</Words>
  <Application>Microsoft Office PowerPoint</Application>
  <PresentationFormat>와이드스크린</PresentationFormat>
  <Paragraphs>44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Noto Sans KR</vt:lpstr>
      <vt:lpstr>맑은 고딕</vt:lpstr>
      <vt:lpstr>에스코어 드림 3 Light</vt:lpstr>
      <vt:lpstr>에스코어 드림 7 ExtraBold</vt:lpstr>
      <vt:lpstr>Arial</vt:lpstr>
      <vt:lpstr>Wingdings</vt:lpstr>
      <vt:lpstr>Office 테마</vt:lpstr>
      <vt:lpstr>도어 용접 공정 부품 종류 자동 인식 (한국건설기계연구원)</vt:lpstr>
      <vt:lpstr>도어 용접 공정 부품 종류 자동 인식 (한국건설기계연구원)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민수 이</dc:creator>
  <cp:lastModifiedBy>민수 이</cp:lastModifiedBy>
  <cp:revision>2</cp:revision>
  <dcterms:created xsi:type="dcterms:W3CDTF">2025-12-22T05:45:40Z</dcterms:created>
  <dcterms:modified xsi:type="dcterms:W3CDTF">2026-08-31T23:37:07Z</dcterms:modified>
</cp:coreProperties>
</file>