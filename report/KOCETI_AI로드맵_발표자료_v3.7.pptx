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325" r:id="rId11"/>
    <p:sldId id="268" r:id="rId12"/>
    <p:sldId id="269" r:id="rId13"/>
    <p:sldId id="270" r:id="rId14"/>
    <p:sldId id="264" r:id="rId15"/>
    <p:sldId id="331" r:id="rId16"/>
    <p:sldId id="332" r:id="rId17"/>
    <p:sldId id="323" r:id="rId18"/>
    <p:sldId id="327" r:id="rId19"/>
    <p:sldId id="328" r:id="rId20"/>
    <p:sldId id="329" r:id="rId21"/>
    <p:sldId id="276" r:id="rId22"/>
    <p:sldId id="277" r:id="rId23"/>
    <p:sldId id="271" r:id="rId24"/>
    <p:sldId id="273" r:id="rId25"/>
    <p:sldId id="274" r:id="rId26"/>
    <p:sldId id="278" r:id="rId27"/>
    <p:sldId id="279" r:id="rId28"/>
    <p:sldId id="282" r:id="rId29"/>
    <p:sldId id="280" r:id="rId30"/>
    <p:sldId id="281" r:id="rId31"/>
    <p:sldId id="322" r:id="rId32"/>
    <p:sldId id="283" r:id="rId33"/>
    <p:sldId id="284" r:id="rId34"/>
    <p:sldId id="285" r:id="rId35"/>
    <p:sldId id="321" r:id="rId36"/>
    <p:sldId id="286" r:id="rId37"/>
    <p:sldId id="287" r:id="rId38"/>
    <p:sldId id="288" r:id="rId39"/>
    <p:sldId id="289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292" r:id="rId69"/>
    <p:sldId id="291" r:id="rId70"/>
    <p:sldId id="272" r:id="rId71"/>
    <p:sldId id="275" r:id="rId72"/>
    <p:sldId id="326" r:id="rId73"/>
    <p:sldId id="290" r:id="rId74"/>
    <p:sldId id="330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6B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25" autoAdjust="0"/>
    <p:restoredTop sz="94673"/>
  </p:normalViewPr>
  <p:slideViewPr>
    <p:cSldViewPr snapToGrid="0" snapToObjects="1">
      <p:cViewPr varScale="1">
        <p:scale>
          <a:sx n="94" d="100"/>
          <a:sy n="94" d="100"/>
        </p:scale>
        <p:origin x="12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14191-E129-4130-B712-154C2F8F85A1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AF1DB-529F-44C0-A981-61FDAC2C4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4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D9BF-2A65-4F73-AABB-F042033DD29B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9BB9-D8B3-4A08-B4A5-D8F6F344117E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FBAB-DA98-499E-920A-2E5A5229ECFA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3F72A-AEDC-477E-83CA-3E71588364F0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5895-1CA8-4820-8AFF-31CCF05628BF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solidFill>
                  <a:srgbClr val="5F6B7A"/>
                </a:solidFill>
              </a:defRPr>
            </a:lvl1pPr>
          </a:lstStyle>
          <a:p>
            <a:r>
              <a:rPr lang="en-US" altLang="ko-KR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601B-233B-4904-92E3-F47B406D30E0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7E0B-E35A-4398-B83D-61E0DB2A3F1A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BF12-450E-4F75-9D00-C6075D5F76AF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7940-E644-4F01-9D7D-C6CF4358F185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2C20-15F5-4F7B-8B1B-8DA9BFBEDA0E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8750-D8BB-4208-882F-4A4DFC50610A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41284-1B4F-4149-8FC8-862619FD8918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1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511" cy="6858000"/>
          </a:xfrm>
          <a:prstGeom prst="rect">
            <a:avLst/>
          </a:prstGeom>
          <a:solidFill>
            <a:srgbClr val="14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91440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8686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 spc="-6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KOCETI 건설기계·농기계·특장차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 spc="-6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산업 AX 전환 지원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13632"/>
            <a:ext cx="1188720" cy="4114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4169663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숙련기술의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계승과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자율제조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생태계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2000" b="0" dirty="0">
              <a:solidFill>
                <a:srgbClr val="D5DE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80983" y="5029200"/>
            <a:ext cx="2834640" cy="82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200"/>
              </a:spcAft>
            </a:pPr>
            <a:r>
              <a:rPr sz="13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2027 – 2031</a:t>
            </a:r>
          </a:p>
          <a:p>
            <a:pPr algn="r">
              <a:lnSpc>
                <a:spcPct val="150000"/>
              </a:lnSpc>
              <a:spcAft>
                <a:spcPts val="200"/>
              </a:spcAft>
            </a:pP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AI working group</a:t>
            </a:r>
          </a:p>
          <a:p>
            <a:pPr algn="r">
              <a:lnSpc>
                <a:spcPct val="150000"/>
              </a:lnSpc>
              <a:spcAft>
                <a:spcPts val="200"/>
              </a:spcAft>
            </a:pP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2026. </a:t>
            </a:r>
            <a:r>
              <a:rPr lang="en-US" altLang="ko-KR"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9</a:t>
            </a: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en-US" altLang="ko-KR"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.  |  v</a:t>
            </a:r>
            <a:r>
              <a:rPr lang="en-US"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en-US" altLang="ko-KR"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1100" b="0" dirty="0">
              <a:solidFill>
                <a:srgbClr val="B8C4D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Roadmap : 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5년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내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AX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지원역량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추진전략</a:t>
            </a: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제시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KOCETI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역량을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출발점으로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정책·기술동향을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반영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Roadmap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27~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463040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보고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74519"/>
            <a:ext cx="5447995" cy="174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</a:pP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·  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건설기계</a:t>
            </a: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농기계</a:t>
            </a: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특장차를 중심으로 </a:t>
            </a: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KOCETI 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기술지원기업의 </a:t>
            </a:r>
            <a:br>
              <a:rPr lang="ko-KR" altLang="en-US" sz="1450" dirty="0">
                <a:solidFill>
                  <a:srgbClr val="1A2230"/>
                </a:solidFill>
                <a:cs typeface="맑은 고딕"/>
              </a:rPr>
            </a:b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   </a:t>
            </a: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AX 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전환 지원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5년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내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실질적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지원역량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4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정부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2030·M.AX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lang="ko-KR" altLang="en-US"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과의 연결성 확보</a:t>
            </a:r>
            <a:endParaRPr sz="14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2027~2031년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단계별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lang="ko-KR" altLang="en-US"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계획 및 핵심전략 수립</a:t>
            </a:r>
            <a:endParaRPr sz="14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67627" y="1463040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보고 범위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69291"/>
              </p:ext>
            </p:extLst>
          </p:nvPr>
        </p:nvGraphicFramePr>
        <p:xfrm>
          <a:off x="6167627" y="1874519"/>
          <a:ext cx="5447994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2027~2031년 (현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수준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2026년 말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농기계·특장차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1·2차 중소·중견 협력사 중심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자료 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최종본으로 핵심내용 위주의 축약 필요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4434840"/>
            <a:ext cx="11039551" cy="713232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4434840"/>
            <a:ext cx="50292" cy="71323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4671295"/>
            <a:ext cx="10618927" cy="24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본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로드맵은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보유자산의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공통자산화」와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협력사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이식」의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축을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실행하는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계획임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928E26AE-C0F2-FA14-4CC0-931D8117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6072" y="155448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1554480"/>
            <a:ext cx="3584143" cy="100584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901952"/>
            <a:ext cx="3072079" cy="1648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lang="en-US" altLang="ko-KR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산업 배경</a:t>
            </a:r>
            <a:r>
              <a:rPr lang="en-US" altLang="ko-KR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KOCETI</a:t>
            </a: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현황</a:t>
            </a:r>
            <a:endParaRPr sz="19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정책·산업·보유자산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진단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S05 – S08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55448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3775" y="1554480"/>
            <a:ext cx="3584143" cy="100584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9808" y="1901952"/>
            <a:ext cx="3072079" cy="1282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목표 및 추진전략</a:t>
            </a:r>
            <a:endParaRPr sz="19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비전·목표·추진체계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S10 – S12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480" y="155448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31480" y="1554480"/>
            <a:ext cx="3584143" cy="100584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7511" y="1901952"/>
            <a:ext cx="307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연구원 AI 역량 확보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S14 – S19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379476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794760"/>
            <a:ext cx="3584143" cy="1005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4142232"/>
            <a:ext cx="307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기업지원 AX 전환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S21 – S29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3775" y="379476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03775" y="3794760"/>
            <a:ext cx="3584143" cy="100584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9808" y="4142232"/>
            <a:ext cx="3072079" cy="1282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PART 5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9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 </a:t>
            </a:r>
            <a:r>
              <a:rPr lang="en-US"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도메인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분리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S31 – S33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1480" y="379476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31480" y="3794760"/>
            <a:ext cx="3584143" cy="100584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7511" y="4142232"/>
            <a:ext cx="307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PART 6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어떻게 실행하는가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로드맵·정부사업·핵심메시지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S35 – S38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989320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부록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A-01 ~ A-24  </a:t>
            </a: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근거자료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질의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호출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38B6ED79-E546-18E3-957B-DEEFE8E7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 dirty="0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1149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lang="en-US" altLang="ko-KR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산업 배경</a:t>
            </a:r>
            <a:r>
              <a:rPr lang="en-US" altLang="ko-KR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KOCETI 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현황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S05 핵심 요약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S06 정책환경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S07 현황 분석 (시장·연구원)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S08 업종 특성 AI 전략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지원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공백을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메우고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산업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개별 기업 단위 AI 도입이 아니라 생태계 전체의 자율제조 전환을 지향함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6072" y="1463040"/>
            <a:ext cx="265221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" y="1463040"/>
            <a:ext cx="2652217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249881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① 문제 — 지원 공백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OEM은 완성장비 제품AX에 집중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협력사는 자체 AI 역량 부재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제조공정 AX 지원주체 공백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1850" y="1463040"/>
            <a:ext cx="265221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71850" y="1463040"/>
            <a:ext cx="2652217" cy="91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3018" y="1737360"/>
            <a:ext cx="2249881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② 비전 — 숙련기술 계승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숙련기술이 데이터로 계승되는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건설기계·농기계·특장차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자율제조 생태계 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463040"/>
            <a:ext cx="265221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7628" y="1463040"/>
            <a:ext cx="2652217" cy="914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8796" y="1737360"/>
            <a:ext cx="2249881" cy="1121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4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4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— 2대 </a:t>
            </a:r>
            <a:r>
              <a:rPr sz="14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endParaRPr sz="14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연구원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2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기업지원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AX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 </a:t>
            </a:r>
            <a:r>
              <a:rPr lang="en-US"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3406" y="1463040"/>
            <a:ext cx="265221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3406" y="1463040"/>
            <a:ext cx="2652217" cy="914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4574" y="1737360"/>
            <a:ext cx="2249881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④ 경로 — 3단계 확산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공정AX (2027~28)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 선도모델 (2029~30)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Dark Factory·산단AX (2031)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813048"/>
            <a:ext cx="2652217" cy="12070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" y="3813048"/>
            <a:ext cx="50292" cy="1207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3995928"/>
            <a:ext cx="226816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공정AI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</a:t>
            </a:r>
            <a:endParaRPr sz="11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16종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라이브러리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목표</a:t>
            </a:r>
            <a:endParaRPr sz="11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71850" y="3813048"/>
            <a:ext cx="2652217" cy="12070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71850" y="3813048"/>
            <a:ext cx="50292" cy="1207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09594" y="3995928"/>
            <a:ext cx="2268169" cy="924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</a:t>
            </a:r>
            <a:endParaRPr sz="11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3000" b="1" spc="-50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3000" b="1" spc="-50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공통자산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전환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대상</a:t>
            </a:r>
            <a:endParaRPr sz="11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67628" y="3813048"/>
            <a:ext cx="2652217" cy="12070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7628" y="3813048"/>
            <a:ext cx="50292" cy="12070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5372" y="3995928"/>
            <a:ext cx="226816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로드맵 기간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5개년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2027 – 2031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5257800"/>
            <a:ext cx="11039551" cy="566928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257800"/>
            <a:ext cx="50292" cy="5669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5330952"/>
            <a:ext cx="10618927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KOCETI의 역할은 모델을 새로 만드는 것이 아니라, 검증된 모델을 협력사에 반복 이식하고 그 신뢰성을 보증하는 체계를 확보하는 것임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5171CA3F-7610-6B9A-F4B0-FAAA7A5A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정부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정책은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확산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생태계로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추진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2030년까지 민·관 합동 20조 원 투자, 제조업 부가가치 100조 원 이상 창출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6263640"/>
            <a:ext cx="8390058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산업통상부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인공지능이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이끄는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제조업의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대전환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2030년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청사진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나왔다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」(2026.6.29)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A-01·A-02·A-03</a:t>
            </a:r>
          </a:p>
        </p:txBody>
      </p:sp>
      <p:sp>
        <p:nvSpPr>
          <p:cNvPr id="9" name="Chevron 8"/>
          <p:cNvSpPr/>
          <p:nvPr/>
        </p:nvSpPr>
        <p:spPr>
          <a:xfrm>
            <a:off x="576072" y="1508760"/>
            <a:ext cx="2910763" cy="658368"/>
          </a:xfrm>
          <a:prstGeom prst="chevron">
            <a:avLst/>
          </a:prstGeom>
          <a:solidFill>
            <a:srgbClr val="95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86000"/>
            <a:ext cx="25267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제조데이터 수집
제조 암묵지 데이터 전환
경량~범용 모델</a:t>
            </a:r>
          </a:p>
        </p:txBody>
      </p:sp>
      <p:sp>
        <p:nvSpPr>
          <p:cNvPr id="11" name="Chevron 10"/>
          <p:cNvSpPr/>
          <p:nvPr/>
        </p:nvSpPr>
        <p:spPr>
          <a:xfrm>
            <a:off x="3285667" y="1508760"/>
            <a:ext cx="2910763" cy="658368"/>
          </a:xfrm>
          <a:prstGeom prst="chevron">
            <a:avLst/>
          </a:prstGeom>
          <a:solidFill>
            <a:srgbClr val="838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699" y="2286000"/>
            <a:ext cx="25267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대형 AI에이전트·휴머노이드
제조 피지컬AI
풀스택 AI팩토리</a:t>
            </a:r>
          </a:p>
        </p:txBody>
      </p:sp>
      <p:sp>
        <p:nvSpPr>
          <p:cNvPr id="13" name="Chevron 12"/>
          <p:cNvSpPr/>
          <p:nvPr/>
        </p:nvSpPr>
        <p:spPr>
          <a:xfrm>
            <a:off x="5995263" y="1508760"/>
            <a:ext cx="2910763" cy="658368"/>
          </a:xfrm>
          <a:prstGeom prst="chevron">
            <a:avLst/>
          </a:prstGeom>
          <a:solidFill>
            <a:srgbClr val="71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295" y="2286000"/>
            <a:ext cx="25267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M.AX 클러스터
실증 테스트베드·엣지센터
상생형 AI 스마트공장</a:t>
            </a:r>
          </a:p>
        </p:txBody>
      </p:sp>
      <p:sp>
        <p:nvSpPr>
          <p:cNvPr id="15" name="Chevron 14"/>
          <p:cNvSpPr/>
          <p:nvPr/>
        </p:nvSpPr>
        <p:spPr>
          <a:xfrm>
            <a:off x="8704859" y="1508760"/>
            <a:ext cx="2910763" cy="658368"/>
          </a:xfrm>
          <a:prstGeom prst="chevron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생태계 조성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0891" y="2286000"/>
            <a:ext cx="25267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민간투자 확대
제조AX 인증
석·박사 인력양성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429000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3대 핵심과제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3813048"/>
            <a:ext cx="3584143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072" y="3813048"/>
            <a:ext cx="3584143" cy="9144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3181807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① 국가 제조데이터 라이브러리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부처별 제조데이터 연계·보안 관리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3775" y="3813048"/>
            <a:ext cx="3584143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03775" y="3813048"/>
            <a:ext cx="3584143" cy="914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4943" y="4087368"/>
            <a:ext cx="3181807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파운데이션모델·풀스택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AI팩토리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두뇌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개발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AI·로봇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자율운영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공장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31480" y="3813048"/>
            <a:ext cx="3584143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31480" y="3813048"/>
            <a:ext cx="3584143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32648" y="4087368"/>
            <a:ext cx="3181807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③ M.AX 클러스터·지역 확산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산단 중심 확산, 위험공정 AI 대체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5221224"/>
            <a:ext cx="11039551" cy="56692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5221224"/>
            <a:ext cx="50292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" y="5388982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정책과 동일한 목표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정책 방향과의 정합성을 로드맵 </a:t>
            </a:r>
            <a:r>
              <a:rPr lang="ko-KR" altLang="en-US"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수립시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고려함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세부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수치는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부록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A-01·A-02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참조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D87DFFE1-9796-E4EA-CC37-7D451E79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도출을 위한 현황 분석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시장 현황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연구원 내부 분석을 통한 핵심 전략 수립 근거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 시장측면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①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②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연구원 측면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③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④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A-05·A-06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508760"/>
            <a:ext cx="544799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508760"/>
            <a:ext cx="5447995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45659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지원주체</a:t>
            </a: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공백</a:t>
            </a:r>
            <a:endParaRPr sz="1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OEM은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완성장비·제품AX에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집중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1·2차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협력사는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인력·데이터·인프라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부재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공급망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계층을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연결할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도메인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지원기관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67628" y="1508760"/>
            <a:ext cx="544799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67628" y="1508760"/>
            <a:ext cx="5447995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8796" y="1783080"/>
            <a:ext cx="5045659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제조환경</a:t>
            </a:r>
            <a:endParaRPr sz="1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대형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부품·기종별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상이한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형상·생산조건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변화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정형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상용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AI의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제한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변경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재설정·재학습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발생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6072" y="3776472"/>
            <a:ext cx="544799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" y="3776472"/>
            <a:ext cx="5447995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50792"/>
            <a:ext cx="5045659" cy="1222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lang="ko-KR" altLang="en-US"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lang="en-US" altLang="ko-KR" sz="160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농기계</a:t>
            </a:r>
            <a:r>
              <a:rPr lang="en-US" altLang="ko-KR" sz="160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특장차 업계의 빠른 확산전략</a:t>
            </a:r>
            <a:endParaRPr sz="1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lang="ko-KR" altLang="en-US"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대형 부품 등 유사공정 존재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특장차는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업종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특화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미흡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lang="en-US" altLang="ko-KR" sz="12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250" dirty="0">
                <a:solidFill>
                  <a:srgbClr val="1A2230"/>
                </a:solidFill>
                <a:cs typeface="맑은 고딕"/>
              </a:rPr>
              <a:t>농기계</a:t>
            </a:r>
            <a:r>
              <a:rPr lang="en-US" altLang="ko-KR" sz="12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250" dirty="0">
                <a:solidFill>
                  <a:srgbClr val="1A2230"/>
                </a:solidFill>
                <a:cs typeface="맑은 고딕"/>
              </a:rPr>
              <a:t>특장차 산업분야의 유사공정</a:t>
            </a:r>
            <a:r>
              <a:rPr lang="ko-KR" altLang="en-US"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발굴을 통한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확장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67628" y="3776472"/>
            <a:ext cx="544799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7628" y="3776472"/>
            <a:ext cx="5447995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8796" y="4050792"/>
            <a:ext cx="5045659" cy="120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자산</a:t>
            </a: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공백</a:t>
            </a:r>
            <a:endParaRPr sz="1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모델·데이터가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부서·과제별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분산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규격·MLOps·검증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프로토콜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미확보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성과가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일회성으로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종료</a:t>
            </a:r>
            <a:r>
              <a:rPr lang="ko-KR" altLang="en-US" sz="125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되어 연계를 통한 지속적 발전 한계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6072" y="5852159"/>
            <a:ext cx="11039551" cy="45720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" y="5852159"/>
            <a:ext cx="50292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" y="5950725"/>
            <a:ext cx="10618927" cy="260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방향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건설기계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농기계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특장차 제조 생태계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AX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전환을 </a:t>
            </a:r>
            <a:r>
              <a:rPr lang="ko-KR" altLang="en-US" sz="1300" b="1" dirty="0">
                <a:solidFill>
                  <a:srgbClr val="0F2B46"/>
                </a:solidFill>
                <a:cs typeface="맑은 고딕"/>
              </a:rPr>
              <a:t>위한 도메인 특화 </a:t>
            </a:r>
            <a:r>
              <a:rPr lang="en-US" altLang="ko-KR" sz="1300" b="1" dirty="0">
                <a:solidFill>
                  <a:srgbClr val="0F2B46"/>
                </a:solidFill>
                <a:cs typeface="맑은 고딕"/>
              </a:rPr>
              <a:t>AI </a:t>
            </a:r>
            <a:r>
              <a:rPr lang="ko-KR" altLang="en-US" sz="1300" b="1" dirty="0">
                <a:solidFill>
                  <a:srgbClr val="0F2B46"/>
                </a:solidFill>
                <a:cs typeface="맑은 고딕"/>
              </a:rPr>
              <a:t>지원체계 구축 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70AD409F-6231-7642-6AD1-EEB9F16A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업종(Domain) 특성에 맞는 자율제조를 위한 AI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84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타 산업에 최적화된 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의 적용 한계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lang="ko-KR" altLang="en-US" sz="1600" dirty="0">
                <a:solidFill>
                  <a:srgbClr val="1A2230"/>
                </a:solidFill>
                <a:cs typeface="맑은 고딕"/>
              </a:rPr>
              <a:t> </a:t>
            </a:r>
            <a:r>
              <a:rPr lang="en-US" altLang="ko-KR" sz="1600" dirty="0">
                <a:solidFill>
                  <a:srgbClr val="1A2230"/>
                </a:solidFill>
                <a:cs typeface="맑은 고딕"/>
              </a:rPr>
              <a:t>·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농기계</a:t>
            </a:r>
            <a:r>
              <a:rPr lang="ko-KR" altLang="en-US" sz="1600" dirty="0">
                <a:solidFill>
                  <a:srgbClr val="1A2230"/>
                </a:solidFill>
                <a:cs typeface="맑은 고딕"/>
              </a:rPr>
              <a:t> </a:t>
            </a:r>
            <a:r>
              <a:rPr lang="en-US" altLang="ko-KR" sz="1600" dirty="0">
                <a:solidFill>
                  <a:srgbClr val="1A2230"/>
                </a:solidFill>
                <a:cs typeface="맑은 고딕"/>
              </a:rPr>
              <a:t>·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특장차 분야에 특화된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(S23)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확보 필요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5955910"/>
            <a:ext cx="8390058" cy="376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자료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: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중소벤처기업부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·</a:t>
            </a:r>
            <a:r>
              <a:rPr lang="ko-KR" altLang="en-US" sz="1000" dirty="0" err="1">
                <a:solidFill>
                  <a:srgbClr val="5F6B7A"/>
                </a:solidFill>
                <a:cs typeface="맑은 고딕"/>
              </a:rPr>
              <a:t>스마트제조혁신추진단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,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「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2024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년 스마트제조혁신 실태조사」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(2025.4.)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자료 인용 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※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공장 보유 중소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·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중견 제조기업 대상 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(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모집단 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163,273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개사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,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표본 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5,000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개사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)</a:t>
            </a:r>
            <a:endParaRPr lang="ko-KR" altLang="en-US" sz="1000" dirty="0">
              <a:solidFill>
                <a:srgbClr val="5F6B7A"/>
              </a:solidFill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A-04·A-12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463040"/>
            <a:ext cx="5447995" cy="36576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정형</a:t>
            </a:r>
            <a:r>
              <a:rPr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3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자동화</a:t>
            </a:r>
            <a:r>
              <a:rPr lang="ko-KR" altLang="en-US"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전략</a:t>
            </a:r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•AI </a:t>
            </a:r>
            <a:r>
              <a:rPr lang="ko-KR" altLang="en-US" sz="12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적용</a:t>
            </a:r>
            <a:endParaRPr sz="1300" b="1" dirty="0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67627" y="1463040"/>
            <a:ext cx="5447995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비정형 공정 — 우리 산업의 실제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65960"/>
            <a:ext cx="5082235" cy="1360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위치·형상·작업조건이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비교적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일정함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lang="ko-KR" altLang="en-US" sz="135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연속 생산 프로세스 및 </a:t>
            </a:r>
            <a:r>
              <a:rPr lang="ko-KR" altLang="en-US" sz="135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소품종</a:t>
            </a:r>
            <a:r>
              <a:rPr lang="ko-KR" altLang="en-US" sz="135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대량생산 공정 대상 집중개발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자동차</a:t>
            </a:r>
            <a:r>
              <a:rPr lang="ko-KR" altLang="en-US" sz="1350" dirty="0">
                <a:solidFill>
                  <a:srgbClr val="1A2230"/>
                </a:solidFill>
                <a:cs typeface="맑은 고딕"/>
              </a:rPr>
              <a:t> </a:t>
            </a:r>
            <a:r>
              <a:rPr lang="en-US" altLang="ko-KR" sz="1350" dirty="0">
                <a:solidFill>
                  <a:srgbClr val="1A2230"/>
                </a:solidFill>
                <a:cs typeface="맑은 고딕"/>
              </a:rPr>
              <a:t>·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전자</a:t>
            </a:r>
            <a:r>
              <a:rPr lang="ko-KR" altLang="en-US" sz="1350" dirty="0">
                <a:solidFill>
                  <a:srgbClr val="1A2230"/>
                </a:solidFill>
                <a:cs typeface="맑은 고딕"/>
              </a:rPr>
              <a:t> </a:t>
            </a:r>
            <a:r>
              <a:rPr lang="en-US" altLang="ko-KR" sz="13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350" dirty="0">
                <a:solidFill>
                  <a:srgbClr val="1A2230"/>
                </a:solidFill>
                <a:cs typeface="맑은 고딕"/>
              </a:rPr>
              <a:t>철강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등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양산산업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중심</a:t>
            </a:r>
            <a:r>
              <a:rPr lang="ko-KR" altLang="en-US"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개발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모델의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장기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재사용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5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용이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0507" y="1965960"/>
            <a:ext cx="508223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대형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부품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기종별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상이한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형상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작업위치·생산조건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변화가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큼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변경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재설정·재학습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기업·부품마다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구축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6072" y="3904488"/>
            <a:ext cx="3584143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3904488"/>
            <a:ext cx="50292" cy="118872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4087368"/>
            <a:ext cx="3200095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스마트공장 도입률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19.5%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국내 제조업 기준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3775" y="3904488"/>
            <a:ext cx="3584143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3775" y="3904488"/>
            <a:ext cx="50292" cy="118872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1519" y="4087368"/>
            <a:ext cx="3200095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도입기업 중 기초단계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75.5%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고도화 단계 진입 미미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1480" y="3904488"/>
            <a:ext cx="3584143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31480" y="3904488"/>
            <a:ext cx="50292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9224" y="4087368"/>
            <a:ext cx="3200095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제조AI 도입률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0.1%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지능형 자동화 사실상 부재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5276088"/>
            <a:ext cx="11039551" cy="530352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5276088"/>
            <a:ext cx="50292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" y="5425558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기업별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개발방식에서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산업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기반을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재사용하는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구조로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전환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CCE7A9A3-7843-9178-AE49-C6FA3F75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및 추진전략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S10 비전·최종 지향점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S11 3단계 전환경로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S12 추진체계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17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168306"/>
            <a:ext cx="9814255" cy="15953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데이터와 </a:t>
            </a:r>
            <a:r>
              <a:rPr lang="en-US" altLang="ko-KR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숙련기술을 계승하고</a:t>
            </a:r>
            <a:endParaRPr lang="en-US" altLang="ko-KR" sz="34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기계장비 제조의 미래를 여는</a:t>
            </a:r>
            <a:r>
              <a:rPr lang="en-US" altLang="ko-KR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altLang="ko-KR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전문연구기관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047" y="2889504"/>
            <a:ext cx="1371600" cy="3657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090672"/>
            <a:ext cx="9814255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lang="ko-KR" altLang="en-US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lang="en-US" altLang="ko-KR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농기계</a:t>
            </a:r>
            <a:r>
              <a:rPr lang="en-US" altLang="ko-KR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특장차 제조생태계의 </a:t>
            </a:r>
            <a:r>
              <a:rPr lang="en-US" altLang="ko-KR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AX</a:t>
            </a:r>
            <a:r>
              <a:rPr lang="ko-KR" altLang="en-US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와 자율제조 전환 지원</a:t>
            </a:r>
            <a:endParaRPr sz="1400" b="0" dirty="0">
              <a:solidFill>
                <a:srgbClr val="00A5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88720" y="3703320"/>
            <a:ext cx="3119018" cy="129844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" y="3703320"/>
            <a:ext cx="311901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08176" y="3913632"/>
            <a:ext cx="268010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125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지향점</a:t>
            </a:r>
            <a:endParaRPr sz="1250" b="1" dirty="0">
              <a:solidFill>
                <a:srgbClr val="00A5B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제조생태계의</a:t>
            </a:r>
            <a:r>
              <a:rPr sz="12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Dark Factory </a:t>
            </a:r>
            <a:r>
              <a:rPr sz="12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12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지원</a:t>
            </a:r>
            <a:endParaRPr sz="1250" b="0" dirty="0">
              <a:solidFill>
                <a:srgbClr val="D5DE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36338" y="3703320"/>
            <a:ext cx="3119018" cy="129844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36338" y="3703320"/>
            <a:ext cx="311901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5794" y="3913632"/>
            <a:ext cx="268010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Dark Factory 정의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사람이 빠진 공장이 아니라
숙련기술이 데이터로 계승된 공장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3956" y="3703320"/>
            <a:ext cx="3119018" cy="129844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83956" y="3703320"/>
            <a:ext cx="311901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3412" y="3913632"/>
            <a:ext cx="268010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사람의 역할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AI를 가르치고 검증·감독하며
예외상황을 판단하는 핵심 주체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21808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주조·단조·용접·도장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등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위험·고강도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공정은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AI·로봇으로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전환하여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안전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350" b="1" dirty="0">
              <a:solidFill>
                <a:srgbClr val="E8A33D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공정AX에서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선도모델을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거쳐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Dark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Factory로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확산</a:t>
            </a: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추진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업종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특성상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완전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무인화는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장기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지향점으로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두고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단계적으로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접근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Chevron 6"/>
          <p:cNvSpPr/>
          <p:nvPr/>
        </p:nvSpPr>
        <p:spPr>
          <a:xfrm>
            <a:off x="576072" y="1508760"/>
            <a:ext cx="3813962" cy="694944"/>
          </a:xfrm>
          <a:prstGeom prst="chevron">
            <a:avLst/>
          </a:prstGeom>
          <a:solidFill>
            <a:srgbClr val="5F8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 단기  2027–2028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342991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공정AX</a:t>
            </a:r>
          </a:p>
        </p:txBody>
      </p:sp>
      <p:sp>
        <p:nvSpPr>
          <p:cNvPr id="9" name="Chevron 8"/>
          <p:cNvSpPr/>
          <p:nvPr/>
        </p:nvSpPr>
        <p:spPr>
          <a:xfrm>
            <a:off x="4188866" y="1508760"/>
            <a:ext cx="3813962" cy="694944"/>
          </a:xfrm>
          <a:prstGeom prst="chevron">
            <a:avLst/>
          </a:prstGeom>
          <a:solidFill>
            <a:srgbClr val="3D6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 중기  2029–2030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2322576"/>
            <a:ext cx="342991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선도모델</a:t>
            </a:r>
          </a:p>
        </p:txBody>
      </p:sp>
      <p:sp>
        <p:nvSpPr>
          <p:cNvPr id="11" name="Chevron 10"/>
          <p:cNvSpPr/>
          <p:nvPr/>
        </p:nvSpPr>
        <p:spPr>
          <a:xfrm>
            <a:off x="7801660" y="1508760"/>
            <a:ext cx="3813962" cy="694944"/>
          </a:xfrm>
          <a:prstGeom prst="chevron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 장기  2031–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2322576"/>
            <a:ext cx="342991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Dark Factory · 산단AX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6072" y="3108960"/>
          <a:ext cx="11039548" cy="17922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6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지향점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사람의 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1단계 단기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공정별 데이터 수집, 품질검사·예측·최적화 AI 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제공, 기준 설정, AI 결과 검토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2단계 중기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선도모델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간 데이터 연계, 지속학습, 등대공장 수준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예외판단, 모델 검증, 작업지식 전수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3단계 장기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Dark Factory·산단AX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AI·로봇 기반 자율운영, 공급망·산단 단위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감독, 안전·품질 책임, 지속개선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76072" y="5212080"/>
            <a:ext cx="11039551" cy="640080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" y="5212080"/>
            <a:ext cx="50292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5411958"/>
            <a:ext cx="10618927" cy="24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단계가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올라갈수록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사람의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역할은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축소되는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것이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작업자」에서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AI를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가르치고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감독하는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주체」로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54CC186-8C6F-0EB3-E0F4-EF4E84D3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2대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전략과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1개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트랙으로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구성된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비전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실행전략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28289" y="1463040"/>
            <a:ext cx="5447995" cy="53035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비전</a:t>
            </a:r>
            <a:r>
              <a:rPr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기계장비 제조의 미래를 여는 </a:t>
            </a:r>
            <a:r>
              <a:rPr lang="en-US" altLang="ko-KR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전문연구기관</a:t>
            </a:r>
            <a:endParaRPr sz="14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2304288"/>
            <a:ext cx="3397757" cy="676656"/>
          </a:xfrm>
          <a:prstGeom prst="roundRect">
            <a:avLst>
              <a:gd name="adj" fmla="val 8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14016"/>
            <a:ext cx="321487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연구원 AI 역량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363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규격·MLOps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935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공정AI 모델 라이브러리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0507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4507992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 신뢰성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65192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인력·조직·인프라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0220" y="1993392"/>
            <a:ext cx="18288" cy="31089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50485" y="2304288"/>
            <a:ext cx="3397757" cy="676656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41925" y="2414016"/>
            <a:ext cx="321487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기업지원 AX 전환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0485" y="31363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공정진단·모델 실증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50485" y="35935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 암묵지 디지털화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50485" y="40507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도메인 데이터 라이브러리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0485" y="4507992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OEM·산단 확산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22026" y="1993392"/>
            <a:ext cx="18288" cy="31089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32292" y="2304288"/>
            <a:ext cx="3397757" cy="676656"/>
          </a:xfrm>
          <a:prstGeom prst="roundRect">
            <a:avLst>
              <a:gd name="adj" fmla="val 8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23731" y="2414016"/>
            <a:ext cx="3214877" cy="432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신뢰성 서비스 </a:t>
            </a:r>
            <a:r>
              <a:rPr lang="en-US" altLang="ko-KR"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  <a:endParaRPr sz="14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432292" y="31363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 자율작업 (Physical AI)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2292" y="35935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lang="ko-KR" altLang="en-US" sz="1150" dirty="0">
                <a:solidFill>
                  <a:srgbClr val="1A2230"/>
                </a:solidFill>
                <a:cs typeface="맑은 고딕"/>
              </a:rPr>
              <a:t>도메인 월드모델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2292" y="40507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lang="ko-KR" altLang="en-US" sz="1150" dirty="0">
                <a:solidFill>
                  <a:srgbClr val="1A2230"/>
                </a:solidFill>
                <a:cs typeface="맑은 고딕"/>
              </a:rPr>
              <a:t>기능안전</a:t>
            </a:r>
            <a:r>
              <a:rPr lang="en-US" altLang="ko-KR" sz="1150" dirty="0">
                <a:solidFill>
                  <a:srgbClr val="1A2230"/>
                </a:solidFill>
                <a:cs typeface="맑은 고딕"/>
              </a:rPr>
              <a:t>/</a:t>
            </a:r>
            <a:r>
              <a:rPr lang="ko-KR" altLang="en-US" sz="1150" dirty="0">
                <a:solidFill>
                  <a:srgbClr val="1A2230"/>
                </a:solidFill>
                <a:cs typeface="맑은 고딕"/>
              </a:rPr>
              <a:t>사이버 관련 서비스 </a:t>
            </a:r>
            <a:r>
              <a:rPr lang="en-US" altLang="ko-KR" sz="1150" dirty="0">
                <a:solidFill>
                  <a:srgbClr val="1A2230"/>
                </a:solidFill>
                <a:cs typeface="맑은 고딕"/>
              </a:rPr>
              <a:t>AI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2292" y="4507992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150" dirty="0">
                <a:solidFill>
                  <a:srgbClr val="1A2230"/>
                </a:solidFill>
                <a:cs typeface="맑은 고딕"/>
              </a:rPr>
              <a:t>신뢰성 서비스를 위한 </a:t>
            </a:r>
            <a:r>
              <a:rPr lang="en-US" altLang="ko-KR" sz="1150" dirty="0">
                <a:solidFill>
                  <a:srgbClr val="1A2230"/>
                </a:solidFill>
                <a:cs typeface="맑은 고딕"/>
              </a:rPr>
              <a:t>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5458968"/>
            <a:ext cx="11039551" cy="640080"/>
          </a:xfrm>
          <a:prstGeom prst="rect">
            <a:avLst/>
          </a:prstGeom>
          <a:solidFill>
            <a:srgbClr val="DB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" y="5458968"/>
            <a:ext cx="50292" cy="64008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" y="5523809"/>
            <a:ext cx="10618927" cy="5103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en-US" altLang="ko-KR" sz="1350" b="1" dirty="0">
                <a:solidFill>
                  <a:srgbClr val="0F2B46"/>
                </a:solidFill>
                <a:cs typeface="맑은 고딕"/>
              </a:rPr>
              <a:t>—</a:t>
            </a:r>
            <a:r>
              <a:rPr 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1이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만들고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2가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이식하며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1로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연결되는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폐루프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lang="en-US"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건설기계자율작업 ・ 신뢰성 서비스 응용 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 트랙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3" name="꺾인 연결선[E] 32">
            <a:extLst>
              <a:ext uri="{FF2B5EF4-FFF2-40B4-BE49-F238E27FC236}">
                <a16:creationId xmlns:a16="http://schemas.microsoft.com/office/drawing/2014/main" id="{8F7E47A7-1061-69D6-9182-22FDC8E75813}"/>
              </a:ext>
            </a:extLst>
          </p:cNvPr>
          <p:cNvCxnSpPr>
            <a:stCxn id="6" idx="3"/>
            <a:endCxn id="23" idx="0"/>
          </p:cNvCxnSpPr>
          <p:nvPr/>
        </p:nvCxnSpPr>
        <p:spPr>
          <a:xfrm>
            <a:off x="8676284" y="1728216"/>
            <a:ext cx="1454887" cy="576072"/>
          </a:xfrm>
          <a:prstGeom prst="bentConnector2">
            <a:avLst/>
          </a:prstGeom>
          <a:solidFill>
            <a:srgbClr val="D8DEE6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A00AE1A0-8E2A-88CB-32C3-9B0D64E81D65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rot="10800000" flipV="1">
            <a:off x="2567559" y="1728216"/>
            <a:ext cx="660730" cy="576072"/>
          </a:xfrm>
          <a:prstGeom prst="bentConnector2">
            <a:avLst/>
          </a:prstGeom>
          <a:solidFill>
            <a:srgbClr val="D8DEE6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37" name="Rounded Rectangle 25">
            <a:extLst>
              <a:ext uri="{FF2B5EF4-FFF2-40B4-BE49-F238E27FC236}">
                <a16:creationId xmlns:a16="http://schemas.microsoft.com/office/drawing/2014/main" id="{570D944A-4A40-6F6D-8A7D-0EF2FF97DD1B}"/>
              </a:ext>
            </a:extLst>
          </p:cNvPr>
          <p:cNvSpPr/>
          <p:nvPr/>
        </p:nvSpPr>
        <p:spPr>
          <a:xfrm>
            <a:off x="4641341" y="4969047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산업특화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공간지능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DB9FB582-4928-DF52-E371-A6848AC9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38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1 —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연구원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역량확보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2292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S14 보유 AI 모델 5종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S15 </a:t>
            </a:r>
            <a:r>
              <a:rPr lang="en-US"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시험평가 지원 </a:t>
            </a:r>
            <a:r>
              <a:rPr lang="en-US" altLang="ko-KR"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실·센터별</a:t>
            </a: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 후보데이터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S16 보유 모델 상세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S17 Physical AI 현황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S18 Physical AI 데이터·학습 준비도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S19 조직 운영 전략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・수행과제의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종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을 기반으로 고도화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확장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연구원 자체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역량확보 전략의 세부내용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6379921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91094"/>
              </p:ext>
            </p:extLst>
          </p:nvPr>
        </p:nvGraphicFramePr>
        <p:xfrm>
          <a:off x="576072" y="1819656"/>
          <a:ext cx="6379920" cy="2176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4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5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수요기업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비전모델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현장데이터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  <a:endParaRPr sz="12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 굴착기 부품 인식·용접·검사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과제 수행 중 (~2028.12)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</a:t>
                      </a:r>
                      <a:r>
                        <a:rPr sz="12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  <a:r>
                        <a:rPr sz="12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가속수명·피로시험</a:t>
                      </a:r>
                      <a:r>
                        <a:rPr sz="12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부품군</a:t>
                      </a:r>
                      <a:r>
                        <a:rPr sz="12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PoC </a:t>
                      </a: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  <a:endParaRPr sz="12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Physical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버킷 궤적, 롤러 다짐·경로 추종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예측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수소 엔진 연비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1200" b="0" dirty="0" err="1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배출물질량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 예측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99553" y="1435608"/>
            <a:ext cx="4516069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Risk</a:t>
            </a:r>
            <a:endParaRPr sz="1800" b="1" dirty="0">
              <a:solidFill>
                <a:srgbClr val="1B4F8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99553" y="1805092"/>
            <a:ext cx="4516069" cy="96012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99553" y="1805092"/>
            <a:ext cx="50292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37297" y="1818261"/>
            <a:ext cx="4095445" cy="933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관련 수행과제에 역량 집중 필요</a:t>
            </a:r>
            <a:endParaRPr lang="en-US" altLang="ko-KR"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핵심 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role : 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전문기업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신속한 내재화 수준 달성 가능여부 불투명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6072" y="5257800"/>
            <a:ext cx="11039551" cy="54864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5257800"/>
            <a:ext cx="50292" cy="5486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" y="5416414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현재 진행중인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관련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건의 과제는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제조환경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실증이자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구축을 위한 핵심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Seed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64220CFF-BC8F-2653-2285-92518B01A09E}"/>
              </a:ext>
            </a:extLst>
          </p:cNvPr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190445"/>
            <a:ext cx="9805111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다품종 소량 부품 품질검사 </a:t>
            </a:r>
            <a:r>
              <a:rPr lang="en-US" altLang="ko-KR" sz="2500" b="1" dirty="0" smtClean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2500" b="1" dirty="0" smtClean="0">
                <a:solidFill>
                  <a:srgbClr val="0F2B46"/>
                </a:solidFill>
                <a:ea typeface="맑은 고딕"/>
                <a:cs typeface="맑은 고딕"/>
              </a:rPr>
              <a:t>현황 </a:t>
            </a:r>
            <a:r>
              <a:rPr lang="en-US" altLang="ko-KR" sz="2500" b="1" dirty="0">
                <a:solidFill>
                  <a:srgbClr val="0F2B46"/>
                </a:solidFill>
                <a:ea typeface="맑은 고딕"/>
                <a:cs typeface="맑은 고딕"/>
              </a:rPr>
              <a:t>: AI </a:t>
            </a:r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솔루션 실증사업 기반 건설기계 제조 특화 데이터셋 확보</a:t>
            </a:r>
            <a:endParaRPr lang="en-US" altLang="ko-KR" sz="2500" b="1" dirty="0">
              <a:solidFill>
                <a:srgbClr val="0F2B46"/>
              </a:solidFill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1" y="971353"/>
            <a:ext cx="1103955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500" dirty="0">
                <a:solidFill>
                  <a:srgbClr val="5F6B7A"/>
                </a:solidFill>
                <a:ea typeface="맑은 고딕"/>
                <a:cs typeface="맑은 고딕"/>
              </a:rPr>
              <a:t>건설기계 제조 현장 품질 데이터 </a:t>
            </a:r>
            <a:r>
              <a:rPr lang="ko-KR" altLang="en-US" sz="1500" dirty="0" smtClean="0">
                <a:solidFill>
                  <a:srgbClr val="5F6B7A"/>
                </a:solidFill>
                <a:ea typeface="맑은 고딕"/>
                <a:cs typeface="맑은 고딕"/>
              </a:rPr>
              <a:t>및 자체 </a:t>
            </a:r>
            <a:r>
              <a:rPr lang="en-US" altLang="ko-KR" sz="1500" dirty="0">
                <a:solidFill>
                  <a:srgbClr val="5F6B7A"/>
                </a:solidFill>
                <a:ea typeface="맑은 고딕"/>
                <a:cs typeface="맑은 고딕"/>
              </a:rPr>
              <a:t>AI </a:t>
            </a:r>
            <a:r>
              <a:rPr lang="ko-KR" altLang="en-US" sz="1500" dirty="0">
                <a:solidFill>
                  <a:srgbClr val="5F6B7A"/>
                </a:solidFill>
                <a:ea typeface="맑은 고딕"/>
                <a:cs typeface="맑은 고딕"/>
              </a:rPr>
              <a:t>모델 </a:t>
            </a:r>
            <a:r>
              <a:rPr lang="ko-KR" altLang="en-US" sz="1500" dirty="0" smtClean="0">
                <a:solidFill>
                  <a:srgbClr val="5F6B7A"/>
                </a:solidFill>
                <a:ea typeface="맑은 고딕"/>
                <a:cs typeface="맑은 고딕"/>
              </a:rPr>
              <a:t>확보</a:t>
            </a:r>
            <a:endParaRPr lang="ko-KR" altLang="en-US" sz="1500" dirty="0">
              <a:solidFill>
                <a:srgbClr val="5F6B7A"/>
              </a:solidFill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9468"/>
            <a:ext cx="2743200" cy="365125"/>
          </a:xfrm>
        </p:spPr>
        <p:txBody>
          <a:bodyPr/>
          <a:lstStyle/>
          <a:p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1" y="1435608"/>
            <a:ext cx="1053985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b="1" dirty="0">
                <a:solidFill>
                  <a:srgbClr val="1B4F8A"/>
                </a:solidFill>
                <a:ea typeface="맑은 고딕"/>
                <a:cs typeface="맑은 고딕"/>
              </a:rPr>
              <a:t>2D·3D </a:t>
            </a:r>
            <a:r>
              <a:rPr lang="ko-KR" altLang="en-US" b="1" dirty="0" smtClean="0">
                <a:solidFill>
                  <a:srgbClr val="1B4F8A"/>
                </a:solidFill>
                <a:ea typeface="맑은 고딕"/>
                <a:cs typeface="맑은 고딕"/>
              </a:rPr>
              <a:t>데이터를 </a:t>
            </a:r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기반으로 신규 부품까지 확장 가능한 건설기계 제조 특화 </a:t>
            </a:r>
            <a:r>
              <a:rPr lang="en-US" altLang="ko-KR" b="1" dirty="0">
                <a:solidFill>
                  <a:srgbClr val="1B4F8A"/>
                </a:solidFill>
                <a:ea typeface="맑은 고딕"/>
                <a:cs typeface="맑은 고딕"/>
              </a:rPr>
              <a:t>Vision AI </a:t>
            </a:r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모델 구축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" y="4694729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4694729"/>
            <a:ext cx="3606698" cy="64008"/>
          </a:xfrm>
          <a:prstGeom prst="rect">
            <a:avLst/>
          </a:prstGeom>
          <a:solidFill>
            <a:srgbClr val="1B4F8A"/>
          </a:solidFill>
          <a:ln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4794729"/>
            <a:ext cx="3533546" cy="10063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적용 대상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산업부 건설기계 제조공정 비전 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실증사업 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5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개 수요기업 대표 부품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제관물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롤러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유압부품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액슬 등 다품종 소량생산 품목 적용</a:t>
            </a:r>
            <a:endParaRPr lang="ko-KR" altLang="en-US" sz="1100" b="1" dirty="0">
              <a:solidFill>
                <a:srgbClr val="0F2B46"/>
              </a:solidFill>
              <a:ea typeface="맑은 고딕"/>
              <a:cs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92498" y="4694729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2498" y="4694729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3938" y="4794729"/>
            <a:ext cx="3423818" cy="8086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데이터 확보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2D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정상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/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불량 영상 기반 외관 결함 데이터 구축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3D Scanner-CAD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비교 기반 대형 복잡형상 제작 이상 데이터 확보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08924" y="4694729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8924" y="4694729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00364" y="4794729"/>
            <a:ext cx="3423818" cy="823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모델 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부품 식별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결함 검출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이상탐지 모델 적용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신규 부품 및 결함 데이터 추가학습 기반 지속 확장 구조 확보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6072" y="5783118"/>
            <a:ext cx="11039551" cy="520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783118"/>
            <a:ext cx="50292" cy="52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5904618"/>
            <a:ext cx="1061892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현 수준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: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특정 부품 전용 검사시스템이 아닌 건설기계 다품종 소량생산 특성에 대응하는 지속학습형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(Continual Learning)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품질검사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모델 개발 추진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01218" y="1848982"/>
          <a:ext cx="11039550" cy="2745242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520415">
                  <a:extLst>
                    <a:ext uri="{9D8B030D-6E8A-4147-A177-3AD203B41FA5}">
                      <a16:colId xmlns:a16="http://schemas.microsoft.com/office/drawing/2014/main" val="2088520923"/>
                    </a:ext>
                  </a:extLst>
                </a:gridCol>
                <a:gridCol w="2249835">
                  <a:extLst>
                    <a:ext uri="{9D8B030D-6E8A-4147-A177-3AD203B41FA5}">
                      <a16:colId xmlns:a16="http://schemas.microsoft.com/office/drawing/2014/main" val="108134715"/>
                    </a:ext>
                  </a:extLst>
                </a:gridCol>
                <a:gridCol w="2668227">
                  <a:extLst>
                    <a:ext uri="{9D8B030D-6E8A-4147-A177-3AD203B41FA5}">
                      <a16:colId xmlns:a16="http://schemas.microsoft.com/office/drawing/2014/main" val="3257414741"/>
                    </a:ext>
                  </a:extLst>
                </a:gridCol>
                <a:gridCol w="4601073">
                  <a:extLst>
                    <a:ext uri="{9D8B030D-6E8A-4147-A177-3AD203B41FA5}">
                      <a16:colId xmlns:a16="http://schemas.microsoft.com/office/drawing/2014/main" val="1073207990"/>
                    </a:ext>
                  </a:extLst>
                </a:gridCol>
              </a:tblGrid>
              <a:tr h="301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수요기업</a:t>
                      </a:r>
                      <a:endParaRPr lang="ko-KR" altLang="en-US" sz="11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적용 품목</a:t>
                      </a:r>
                      <a:endParaRPr lang="ko-KR" altLang="en-US" sz="11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주요 </a:t>
                      </a:r>
                      <a:r>
                        <a:rPr lang="ko-KR" altLang="en-US" sz="1100" kern="0" spc="0" dirty="0" smtClean="0">
                          <a:effectLst/>
                        </a:rPr>
                        <a:t>판단 항목</a:t>
                      </a:r>
                      <a:endParaRPr lang="ko-KR" altLang="en-US" sz="11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 smtClean="0">
                          <a:effectLst/>
                        </a:rPr>
                        <a:t>목표</a:t>
                      </a:r>
                      <a:endParaRPr lang="ko-KR" altLang="en-US" sz="11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865580"/>
                  </a:ext>
                </a:extLst>
              </a:tr>
              <a:tr h="30124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수산세보틱스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건설기계 대형 제관 가공 부품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부품 식별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형상 및 제작 이상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effectLst/>
                        </a:rPr>
                        <a:t>3D Scan-CAD </a:t>
                      </a:r>
                      <a:r>
                        <a:rPr lang="ko-KR" altLang="en-US" sz="1100" kern="0" spc="0" dirty="0">
                          <a:effectLst/>
                        </a:rPr>
                        <a:t>비교를 통한 설계 대비 제작 이상 위치 검출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29859963"/>
                  </a:ext>
                </a:extLst>
              </a:tr>
              <a:tr h="4659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smtClean="0">
                          <a:effectLst/>
                        </a:rPr>
                        <a:t>DY </a:t>
                      </a:r>
                      <a:r>
                        <a:rPr lang="ko-KR" altLang="en-US" sz="1100" kern="0" spc="0" dirty="0" smtClean="0">
                          <a:effectLst/>
                        </a:rPr>
                        <a:t>이노베이트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건설기계 제관 가공 부품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부품 식별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형상오차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제작 조립 이상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스마트폰 카메라 기반 부품 식별과 </a:t>
                      </a:r>
                      <a:r>
                        <a:rPr lang="en-US" altLang="ko-KR" sz="1100" kern="0" spc="0" dirty="0">
                          <a:effectLst/>
                        </a:rPr>
                        <a:t>3D Scanner </a:t>
                      </a:r>
                      <a:r>
                        <a:rPr lang="ko-KR" altLang="en-US" sz="1100" kern="0" spc="0" dirty="0">
                          <a:effectLst/>
                        </a:rPr>
                        <a:t>기반 설계형상 대비 제작 이상 검출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514429530"/>
                  </a:ext>
                </a:extLst>
              </a:tr>
              <a:tr h="4659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effectLst/>
                        </a:rPr>
                        <a:t>진성</a:t>
                      </a:r>
                      <a:r>
                        <a:rPr lang="en-US" sz="1100" kern="0" spc="0">
                          <a:effectLst/>
                        </a:rPr>
                        <a:t>TEC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굴착기 하부롤러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도장 이상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볼트 미체결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이종품 혼입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도장공정 후 행거 컨베이어를 따라 이동하는 롤러를 촬영하여 외관 및 조립 이상 자동 검출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364069709"/>
                  </a:ext>
                </a:extLst>
              </a:tr>
              <a:tr h="4659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하이드로텍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유압모터 및 유압부품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외관 이상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부품 체결부 및 조립상태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유압부품 외관영상으로 정상 불량을 판별하고 주요 조립 이상을 검출하는 모델 개발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392268956"/>
                  </a:ext>
                </a:extLst>
              </a:tr>
              <a:tr h="4659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smtClean="0">
                          <a:effectLst/>
                        </a:rPr>
                        <a:t>SNT </a:t>
                      </a:r>
                      <a:r>
                        <a:rPr lang="ko-KR" altLang="en-US" sz="1100" kern="0" spc="0" dirty="0" smtClean="0">
                          <a:effectLst/>
                        </a:rPr>
                        <a:t>다이내믹스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약 </a:t>
                      </a:r>
                      <a:r>
                        <a:rPr lang="en-US" altLang="ko-KR" sz="1100" kern="0" spc="0" dirty="0">
                          <a:effectLst/>
                        </a:rPr>
                        <a:t>10</a:t>
                      </a:r>
                      <a:r>
                        <a:rPr lang="ko-KR" altLang="en-US" sz="1100" kern="0" spc="0" dirty="0">
                          <a:effectLst/>
                        </a:rPr>
                        <a:t>종의 차량용 액슬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스크래치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찍힘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나사산 이상 등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크기와 형상이 서로 다른 다품종 액슬의 금속 가공면 외관 이상을 하나의 검사체계로 검출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238144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9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190445"/>
            <a:ext cx="9805111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다품종 소량 부품 품질검사 </a:t>
            </a:r>
            <a:r>
              <a:rPr lang="en-US" altLang="ko-KR" sz="2500" b="1" dirty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확장 방향 </a:t>
            </a:r>
            <a:r>
              <a:rPr lang="en-US" altLang="ko-KR" sz="2500" b="1" dirty="0">
                <a:solidFill>
                  <a:srgbClr val="0F2B46"/>
                </a:solidFill>
                <a:ea typeface="맑은 고딕"/>
                <a:cs typeface="맑은 고딕"/>
              </a:rPr>
              <a:t>: </a:t>
            </a:r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실증 데이터 기반 공통모델 및 지속학습 체계 구축</a:t>
            </a:r>
            <a:endParaRPr sz="2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1" y="963509"/>
            <a:ext cx="1103955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500" dirty="0">
                <a:solidFill>
                  <a:srgbClr val="5F6B7A"/>
                </a:solidFill>
                <a:ea typeface="맑은 고딕"/>
                <a:cs typeface="맑은 고딕"/>
              </a:rPr>
              <a:t>5</a:t>
            </a:r>
            <a:r>
              <a:rPr lang="ko-KR" altLang="en-US" sz="1500" dirty="0">
                <a:solidFill>
                  <a:srgbClr val="5F6B7A"/>
                </a:solidFill>
                <a:ea typeface="맑은 고딕"/>
                <a:cs typeface="맑은 고딕"/>
              </a:rPr>
              <a:t>개 수요기업 실증 데이터를 기반으로 공통모델 구축 후 신규 기업</a:t>
            </a:r>
            <a:r>
              <a:rPr lang="en-US" altLang="ko-KR" sz="1500" dirty="0">
                <a:solidFill>
                  <a:srgbClr val="5F6B7A"/>
                </a:solidFill>
                <a:ea typeface="맑은 고딕"/>
                <a:cs typeface="맑은 고딕"/>
              </a:rPr>
              <a:t>·</a:t>
            </a:r>
            <a:r>
              <a:rPr lang="ko-KR" altLang="en-US" sz="1500" dirty="0">
                <a:solidFill>
                  <a:srgbClr val="5F6B7A"/>
                </a:solidFill>
                <a:ea typeface="맑은 고딕"/>
                <a:cs typeface="맑은 고딕"/>
              </a:rPr>
              <a:t>부품으로 확산</a:t>
            </a:r>
            <a:endParaRPr lang="ko-KR" altLang="en-US" sz="1500" dirty="0">
              <a:solidFill>
                <a:srgbClr val="5F6B7A"/>
              </a:solidFill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1527192"/>
            <a:ext cx="637992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실증 데이터 기반 공통모델</a:t>
            </a:r>
            <a:r>
              <a:rPr lang="en-US" altLang="ko-KR" b="1" dirty="0">
                <a:solidFill>
                  <a:srgbClr val="1B4F8A"/>
                </a:solidFill>
                <a:ea typeface="맑은 고딕"/>
                <a:cs typeface="맑은 고딕"/>
              </a:rPr>
              <a:t>·</a:t>
            </a:r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지속학습 </a:t>
            </a:r>
            <a:r>
              <a:rPr lang="en-US" altLang="ko-KR" b="1" dirty="0">
                <a:solidFill>
                  <a:srgbClr val="1B4F8A"/>
                </a:solidFill>
                <a:ea typeface="맑은 고딕"/>
                <a:cs typeface="맑은 고딕"/>
              </a:rPr>
              <a:t>3</a:t>
            </a:r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대 전략</a:t>
            </a:r>
            <a:endParaRPr sz="1800" b="1" dirty="0">
              <a:solidFill>
                <a:srgbClr val="1B4F8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07509" y="1524276"/>
            <a:ext cx="4684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지속 확장형 AI 품질검사 플랫폼 구축 방향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9554" y="196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39554" y="204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554" y="1964347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1단계 : 대표 부품 적용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9554" y="1964347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5개 수요기업 대상 부품 식별 및 외관/제작 이상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검출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모델 개발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9554" y="249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7139554" y="257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554" y="2494347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2단계 : 신규 부품 확장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9554" y="2494347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기존 학습지식을 유지하면서 신규 부품·결함 데이터 추가 학습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9554" y="302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39554" y="310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553" y="3182403"/>
            <a:ext cx="202996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3단계 : </a:t>
            </a:r>
            <a:r>
              <a:rPr lang="ko-KR" altLang="en-US" sz="1000" b="1" dirty="0">
                <a:solidFill>
                  <a:srgbClr val="0F2B46"/>
                </a:solidFill>
                <a:ea typeface="맑은 고딕"/>
                <a:cs typeface="맑은 고딕"/>
              </a:rPr>
              <a:t>기업</a:t>
            </a:r>
            <a:r>
              <a:rPr lang="en-US" altLang="ko-KR" sz="1000" b="1" dirty="0">
                <a:solidFill>
                  <a:srgbClr val="0F2B46"/>
                </a:solidFill>
                <a:ea typeface="맑은 고딕"/>
                <a:cs typeface="맑은 고딕"/>
              </a:rPr>
              <a:t>·</a:t>
            </a:r>
            <a:r>
              <a:rPr lang="ko-KR" altLang="en-US" sz="1000" b="1" dirty="0">
                <a:solidFill>
                  <a:srgbClr val="0F2B46"/>
                </a:solidFill>
                <a:ea typeface="맑은 고딕"/>
                <a:cs typeface="맑은 고딕"/>
              </a:rPr>
              <a:t>부품별 학습자산 통합</a:t>
            </a:r>
            <a:endParaRPr sz="10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769553" y="3124386"/>
            <a:ext cx="1846069" cy="2796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1A2230"/>
                </a:solidFill>
                <a:ea typeface="맑은 고딕"/>
                <a:cs typeface="맑은 고딕"/>
              </a:rPr>
              <a:t>공통 기반모델 구축 및 소량 데이터 </a:t>
            </a:r>
            <a:r>
              <a:rPr lang="en-US" altLang="ko-KR" sz="900" dirty="0">
                <a:solidFill>
                  <a:srgbClr val="1A2230"/>
                </a:solidFill>
                <a:ea typeface="맑은 고딕"/>
                <a:cs typeface="맑은 고딕"/>
              </a:rPr>
              <a:t>Fine-tuning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059554" y="355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7139554" y="363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554" y="3712403"/>
            <a:ext cx="163800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기반 기업 지원 체계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9554" y="3554347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확보 → 모델 적응학습 → 검증 → 현장 적용의 표준 프로세스 확보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59554" y="408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39554" y="416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554" y="4084347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최종 목표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5217" y="4179532"/>
            <a:ext cx="2610407" cy="2796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1A2230"/>
                </a:solidFill>
                <a:ea typeface="맑은 고딕"/>
                <a:cs typeface="맑은 고딕"/>
              </a:rPr>
              <a:t>건설기계 제조 특화 지속학습형 </a:t>
            </a:r>
            <a:r>
              <a:rPr lang="en-US" altLang="ko-KR" sz="900" dirty="0">
                <a:solidFill>
                  <a:srgbClr val="1A2230"/>
                </a:solidFill>
                <a:ea typeface="맑은 고딕"/>
                <a:cs typeface="맑은 고딕"/>
              </a:rPr>
              <a:t>Vision Foundation Model </a:t>
            </a:r>
            <a:r>
              <a:rPr lang="ko-KR" altLang="en-US" sz="900" dirty="0">
                <a:solidFill>
                  <a:srgbClr val="1A2230"/>
                </a:solidFill>
                <a:ea typeface="맑은 고딕"/>
                <a:cs typeface="맑은 고딕"/>
              </a:rPr>
              <a:t>확보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76071" y="5658387"/>
            <a:ext cx="11039551" cy="560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76071" y="5658387"/>
            <a:ext cx="50292" cy="56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직사각형 6"/>
          <p:cNvSpPr/>
          <p:nvPr/>
        </p:nvSpPr>
        <p:spPr>
          <a:xfrm>
            <a:off x="9019554" y="198952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9019554" y="25260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9401693" y="307465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157560" y="360468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362851" y="411452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5166" y="5821868"/>
            <a:ext cx="1061892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확장 전략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: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기업별 실증 데이터를 공통 학습자산으로 축적하고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공통모델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지속학습 체계를 기반으로 건설기계 제조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AX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및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AI Factory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로 확장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8" name="StrategyCard"/>
          <p:cNvSpPr/>
          <p:nvPr/>
        </p:nvSpPr>
        <p:spPr>
          <a:xfrm>
            <a:off x="625166" y="1929894"/>
            <a:ext cx="6200000" cy="78000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CF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3"/>
          <p:cNvSpPr/>
          <p:nvPr/>
        </p:nvSpPr>
        <p:spPr>
          <a:xfrm>
            <a:off x="775166" y="2114894"/>
            <a:ext cx="410000" cy="410000"/>
          </a:xfrm>
          <a:prstGeom prst="ellipse">
            <a:avLst/>
          </a:prstGeom>
          <a:solidFill>
            <a:srgbClr val="0A2641"/>
          </a:solidFill>
          <a:ln>
            <a:solidFill>
              <a:srgbClr val="0A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45166" y="2034894"/>
            <a:ext cx="53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44C89"/>
                </a:solidFill>
                <a:latin typeface="맑은 고딕"/>
              </a:rPr>
              <a:t>실증 데이터 공통 학습자산화</a:t>
            </a:r>
          </a:p>
          <a:p>
            <a:pPr>
              <a:spcBef>
                <a:spcPts val="400"/>
              </a:spcBef>
            </a:pPr>
            <a:r>
              <a:rPr sz="1050" b="0" dirty="0">
                <a:solidFill>
                  <a:srgbClr val="0A2641"/>
                </a:solidFill>
                <a:latin typeface="맑은 고딕"/>
              </a:rPr>
              <a:t>• 5</a:t>
            </a:r>
            <a:r>
              <a:rPr sz="1050" b="0" dirty="0">
                <a:latin typeface="맑은 고딕"/>
              </a:rPr>
              <a:t>개사 2D 영상·3D Scan·CAD·결함 라벨·메타데이터를 공통 구조로 축적</a:t>
            </a:r>
          </a:p>
          <a:p>
            <a:pPr>
              <a:spcBef>
                <a:spcPts val="100"/>
              </a:spcBef>
            </a:pPr>
            <a:r>
              <a:rPr sz="1050" b="0" dirty="0">
                <a:latin typeface="맑은 고딕"/>
              </a:rPr>
              <a:t>• 개별 실증 결과 → 건설기계 제조 특화 학습 데이터셋</a:t>
            </a:r>
          </a:p>
        </p:txBody>
      </p:sp>
      <p:sp>
        <p:nvSpPr>
          <p:cNvPr id="61" name="StrategyCard"/>
          <p:cNvSpPr/>
          <p:nvPr/>
        </p:nvSpPr>
        <p:spPr>
          <a:xfrm>
            <a:off x="625166" y="2894894"/>
            <a:ext cx="6200000" cy="78000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CF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56"/>
          <p:cNvSpPr/>
          <p:nvPr/>
        </p:nvSpPr>
        <p:spPr>
          <a:xfrm>
            <a:off x="775166" y="3079894"/>
            <a:ext cx="410000" cy="410000"/>
          </a:xfrm>
          <a:prstGeom prst="ellipse">
            <a:avLst/>
          </a:prstGeom>
          <a:solidFill>
            <a:srgbClr val="0A2641"/>
          </a:solidFill>
          <a:ln>
            <a:solidFill>
              <a:srgbClr val="0A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45166" y="2999894"/>
            <a:ext cx="53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44C89"/>
                </a:solidFill>
                <a:latin typeface="맑은 고딕"/>
              </a:rPr>
              <a:t>공통 기반모델 구축 및 신속 적응</a:t>
            </a:r>
          </a:p>
          <a:p>
            <a:pPr>
              <a:spcBef>
                <a:spcPts val="400"/>
              </a:spcBef>
            </a:pPr>
            <a:r>
              <a:rPr sz="1050" b="0" dirty="0">
                <a:solidFill>
                  <a:srgbClr val="0A2641"/>
                </a:solidFill>
                <a:latin typeface="맑은 고딕"/>
              </a:rPr>
              <a:t>• </a:t>
            </a:r>
            <a:r>
              <a:rPr sz="1050" b="0" dirty="0" smtClean="0">
                <a:latin typeface="맑은 고딕"/>
              </a:rPr>
              <a:t>기업·부품별 학습결과를 통합하여 부품식별·결함검출 공통모델 구축</a:t>
            </a:r>
          </a:p>
          <a:p>
            <a:pPr>
              <a:spcBef>
                <a:spcPts val="100"/>
              </a:spcBef>
            </a:pPr>
            <a:r>
              <a:rPr sz="1050" b="0" dirty="0" smtClean="0">
                <a:latin typeface="맑은 고딕"/>
              </a:rPr>
              <a:t>• 신규 부품·결함은 소량 데이터 Fine-tuning으로 신속 적용</a:t>
            </a:r>
            <a:endParaRPr sz="1050" b="0" dirty="0">
              <a:latin typeface="맑은 고딕"/>
            </a:endParaRPr>
          </a:p>
        </p:txBody>
      </p:sp>
      <p:sp>
        <p:nvSpPr>
          <p:cNvPr id="64" name="StrategyCard"/>
          <p:cNvSpPr/>
          <p:nvPr/>
        </p:nvSpPr>
        <p:spPr>
          <a:xfrm>
            <a:off x="625166" y="3859894"/>
            <a:ext cx="6200000" cy="78000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CF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59"/>
          <p:cNvSpPr/>
          <p:nvPr/>
        </p:nvSpPr>
        <p:spPr>
          <a:xfrm>
            <a:off x="775166" y="4044894"/>
            <a:ext cx="410000" cy="410000"/>
          </a:xfrm>
          <a:prstGeom prst="ellipse">
            <a:avLst/>
          </a:prstGeom>
          <a:solidFill>
            <a:srgbClr val="0A2641"/>
          </a:solidFill>
          <a:ln>
            <a:solidFill>
              <a:srgbClr val="0A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45166" y="3964894"/>
            <a:ext cx="53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44C89"/>
                </a:solidFill>
                <a:latin typeface="맑은 고딕"/>
              </a:rPr>
              <a:t>현장 피드백 기반 지속학습·확산</a:t>
            </a:r>
          </a:p>
          <a:p>
            <a:pPr>
              <a:spcBef>
                <a:spcPts val="400"/>
              </a:spcBef>
            </a:pPr>
            <a:r>
              <a:rPr sz="1050" b="0" dirty="0">
                <a:solidFill>
                  <a:srgbClr val="0A2641"/>
                </a:solidFill>
                <a:latin typeface="맑은 고딕"/>
              </a:rPr>
              <a:t>• </a:t>
            </a:r>
            <a:r>
              <a:rPr sz="1050" b="0" dirty="0">
                <a:latin typeface="맑은 고딕"/>
              </a:rPr>
              <a:t>오탐·미탐·신규 결함 데이터를 재수집·재학습하여 성능 고도화</a:t>
            </a:r>
          </a:p>
          <a:p>
            <a:pPr>
              <a:spcBef>
                <a:spcPts val="100"/>
              </a:spcBef>
            </a:pPr>
            <a:r>
              <a:rPr sz="1050" b="0" dirty="0">
                <a:latin typeface="맑은 고딕"/>
              </a:rPr>
              <a:t>• 동일기업 다품종 → 신규기업 → Vision Foundation Model 확장</a:t>
            </a:r>
          </a:p>
        </p:txBody>
      </p:sp>
    </p:spTree>
    <p:extLst>
      <p:ext uri="{BB962C8B-B14F-4D97-AF65-F5344CB8AC3E}">
        <p14:creationId xmlns:p14="http://schemas.microsoft.com/office/powerpoint/2010/main" val="342398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시험평가 지원을 위한 실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센터별 후보데이터 보유현황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현재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 센터 및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 실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422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건을 기준으로 타 실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센터 데이터를 동일 양식으로 추가 조사함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4516069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실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센터별 보유현황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(2021~2026)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5702" y="1435608"/>
            <a:ext cx="6379921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현재 취합 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422</a:t>
            </a: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5111496"/>
            <a:ext cx="11039551" cy="786384"/>
          </a:xfrm>
          <a:prstGeom prst="roundRect">
            <a:avLst>
              <a:gd name="adj" fmla="val 8000"/>
            </a:avLst>
          </a:prstGeom>
          <a:solidFill>
            <a:srgbClr val="EAF3F0"/>
          </a:solidFill>
          <a:ln w="15875">
            <a:solidFill>
              <a:srgbClr val="2F8F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2375" y="5230367"/>
            <a:ext cx="1494731" cy="576071"/>
          </a:xfrm>
          <a:prstGeom prst="roundRect">
            <a:avLst>
              <a:gd name="adj" fmla="val 14605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절차</a:t>
            </a:r>
            <a:endParaRPr sz="1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17107" y="5416967"/>
            <a:ext cx="9233924" cy="2046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보유데이터 전수조사 → 공통양식 취합 → 학습가능성 검증 → 동일 </a:t>
            </a:r>
            <a:r>
              <a:rPr lang="ko-KR" altLang="en-US"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부품군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PoC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선정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3CAC6A4-5556-38F9-7AD8-C5BAF32039B4}"/>
              </a:ext>
            </a:extLst>
          </p:cNvPr>
          <p:cNvGraphicFramePr/>
          <p:nvPr/>
        </p:nvGraphicFramePr>
        <p:xfrm>
          <a:off x="576072" y="1819656"/>
          <a:ext cx="11039570" cy="31809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4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실·센터</a:t>
                      </a: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조사기간</a:t>
                      </a: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시험분야별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88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  <a:endParaRPr sz="1088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건수</a:t>
                      </a: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88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학습항목</a:t>
                      </a:r>
                      <a:endParaRPr sz="1088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기반기술연구센터</a:t>
                      </a:r>
                    </a:p>
                  </a:txBody>
                  <a:tcPr marL="76200" marR="76200" marT="42863" marB="42863" anchor="ctr"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2021~2026</a:t>
                      </a:r>
                    </a:p>
                  </a:txBody>
                  <a:tcPr marL="76200" marR="76200" marT="42863" marB="428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 1 · 기계·구조 10 · 유압 3</a:t>
                      </a:r>
                    </a:p>
                    <a:p>
                      <a:pPr algn="l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전기·전자 12 · 계측 7</a:t>
                      </a:r>
                    </a:p>
                  </a:txBody>
                  <a:tcPr marL="76200" marR="76200" marT="42863" marB="428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33건</a:t>
                      </a:r>
                    </a:p>
                  </a:txBody>
                  <a:tcPr marL="76200" marR="76200" marT="42863" marB="428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하중·변위·파손</a:t>
                      </a:r>
                    </a:p>
                    <a:p>
                      <a:pPr algn="l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전압·전류·센서신호</a:t>
                      </a:r>
                    </a:p>
                  </a:txBody>
                  <a:tcPr marL="76200" marR="76200" marT="42863" marB="4286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시험평가인증센터</a:t>
                      </a:r>
                    </a:p>
                  </a:txBody>
                  <a:tcPr marL="76200" marR="76200" marT="42863" marB="42863" anchor="ctr"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2021~2026</a:t>
                      </a:r>
                    </a:p>
                  </a:txBody>
                  <a:tcPr marL="76200" marR="76200" marT="42863" marB="42863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37 ·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기계·구조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6 ·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유압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64</a:t>
                      </a:r>
                    </a:p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내환경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247 ·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계측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5</a:t>
                      </a:r>
                    </a:p>
                  </a:txBody>
                  <a:tcPr marL="76200" marR="76200" marT="42863" marB="42863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359건</a:t>
                      </a:r>
                    </a:p>
                  </a:txBody>
                  <a:tcPr marL="76200" marR="76200" marT="42863" marB="42863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온습도·진동·충격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압력·유량·실차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하중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친환경동력연구실</a:t>
                      </a:r>
                    </a:p>
                  </a:txBody>
                  <a:tcPr marL="76200" marR="76200" marT="42863" marB="42863" anchor="ctr">
                    <a:solidFill>
                      <a:srgbClr val="DC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2021~2026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동력원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도로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비도로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</a:t>
                      </a:r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</a:t>
                      </a:r>
                      <a:r>
                        <a:rPr lang="en-US" altLang="ko-KR"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조종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하중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고장항목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 실</a:t>
                      </a:r>
                      <a:r>
                        <a:rPr lang="en-US" altLang="ko-KR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센터</a:t>
                      </a:r>
                    </a:p>
                  </a:txBody>
                  <a:tcPr marL="76200" marR="76200" marT="42863" marB="42863" anchor="ctr">
                    <a:solidFill>
                      <a:srgbClr val="DC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추가조사</a:t>
                      </a: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자동화·지능화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등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미취합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시험분야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양식으로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전수조사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집계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예정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시험대상·조건·계측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고장모드·결과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4257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BFD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2021~2026</a:t>
                      </a:r>
                    </a:p>
                  </a:txBody>
                  <a:tcPr marL="76200" marR="76200" marT="42863" marB="42863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취합된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2개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센터</a:t>
                      </a:r>
                      <a:r>
                        <a:rPr 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및 </a:t>
                      </a:r>
                      <a:r>
                        <a:rPr lang="en-US" altLang="ko-KR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실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/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 실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시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갱신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2건</a:t>
                      </a:r>
                    </a:p>
                  </a:txBody>
                  <a:tcPr marL="76200" marR="76200" marT="42863" marB="42863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학습가능성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후</a:t>
                      </a:r>
                    </a:p>
                    <a:p>
                      <a:pPr algn="l"/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PoC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6CB7BF1-F206-651A-85E1-6EB54CD3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EC44C4DB-75DC-4E51-6CFC-F84DAC5716B8}"/>
              </a:ext>
            </a:extLst>
          </p:cNvPr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21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A-08·A-10</a:t>
            </a:r>
          </a:p>
        </p:txBody>
      </p:sp>
    </p:spTree>
    <p:extLst>
      <p:ext uri="{BB962C8B-B14F-4D97-AF65-F5344CB8AC3E}">
        <p14:creationId xmlns:p14="http://schemas.microsoft.com/office/powerpoint/2010/main" val="3339375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2559-F9E1-CB5F-70AB-1D9D8BE7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E61025-3E89-A473-0FE2-7E521446D81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B0459-AA75-CF50-8617-545E499C2965}"/>
              </a:ext>
            </a:extLst>
          </p:cNvPr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 모델 상세 내용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08F2E-72FD-517F-BF33-1F5A8FA82478}"/>
              </a:ext>
            </a:extLst>
          </p:cNvPr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수소 지게차 에너지 등 예측모델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E53D3-E29E-C05B-97D4-4640937BBDA5}"/>
              </a:ext>
            </a:extLst>
          </p:cNvPr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449F38F-B0A4-71A6-99D6-CC695820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DE6F110-C4EC-3E6D-2F81-364F590FBC3E}"/>
              </a:ext>
            </a:extLst>
          </p:cNvPr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A-07</a:t>
            </a:r>
          </a:p>
        </p:txBody>
      </p:sp>
    </p:spTree>
    <p:extLst>
      <p:ext uri="{BB962C8B-B14F-4D97-AF65-F5344CB8AC3E}">
        <p14:creationId xmlns:p14="http://schemas.microsoft.com/office/powerpoint/2010/main" val="237882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562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Physical AI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현황</a:t>
            </a: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7건으로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실차·제어·데이터</a:t>
            </a: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자산</a:t>
            </a: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2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건설기계 자율작업을 위한 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Physical AI 현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지능제어연구실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수행·완료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(2026.9)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76072" y="1435608"/>
            <a:ext cx="7000000" cy="2996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수행·완료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과제와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확보된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기술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자산</a:t>
            </a:r>
            <a:endParaRPr sz="1800" b="1" dirty="0">
              <a:solidFill>
                <a:srgbClr val="1B4F8A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76072" y="1819656"/>
          <a:ext cx="11039551" cy="2643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9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4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기종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확보된 기술·자산 (현 수준)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토공작업 자동화 협업운영시스템·무인 굴착기 기술개발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r>
                        <a:rPr sz="900" b="1" dirty="0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('24.11)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유압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제어기·다축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실린더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전자제어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  <a:endParaRPr sz="9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 작업데이터 기반 지능형 굴착기 AI 학습플랫폼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</a:t>
                      </a:r>
                      <a:r>
                        <a:rPr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중</a:t>
                      </a:r>
                      <a:r>
                        <a:rPr lang="en-US"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(~’26)</a:t>
                      </a:r>
                      <a:endParaRPr sz="900" b="1" dirty="0">
                        <a:solidFill>
                          <a:srgbClr val="1B4F8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굴착경로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작업데이터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RLDS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SDM 플랫폼 적용 20톤급 굴착기·응용서비스 개발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</a:t>
                      </a:r>
                      <a:r>
                        <a:rPr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중</a:t>
                      </a:r>
                      <a:r>
                        <a:rPr lang="en-US"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(1</a:t>
                      </a:r>
                      <a:r>
                        <a:rPr lang="ko-KR" altLang="en-US"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</a:t>
                      </a:r>
                      <a:r>
                        <a:rPr lang="en-US" altLang="ko-KR" sz="900" b="1" dirty="0">
                          <a:solidFill>
                            <a:srgbClr val="1B4F8A"/>
                          </a:solidFill>
                          <a:latin typeface="+mn-lt"/>
                          <a:ea typeface="+mn-ea"/>
                          <a:cs typeface="맑은 고딕"/>
                        </a:rPr>
                        <a:t>~’26)</a:t>
                      </a:r>
                      <a:endParaRPr sz="900" b="1" dirty="0">
                        <a:solidFill>
                          <a:srgbClr val="1B4F8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SDM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탑재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20톤급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SDM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응용서비스·작업자율화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데모</a:t>
                      </a:r>
                      <a:r>
                        <a:rPr 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(1</a:t>
                      </a:r>
                      <a:r>
                        <a:rPr lang="ko-KR" alt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</a:t>
                      </a:r>
                      <a:r>
                        <a:rPr lang="ko-KR" altLang="en-US"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완료시</a:t>
                      </a:r>
                      <a:r>
                        <a:rPr lang="en-US" altLang="ko-KR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무인 자율굴착기용 초실감 디지털트윈 플랫폼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</a:t>
                      </a:r>
                      <a:r>
                        <a:rPr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중 (</a:t>
                      </a:r>
                      <a:r>
                        <a:rPr sz="900" b="1" dirty="0" err="1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  <a:r>
                        <a:rPr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'27~)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토사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물리특성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작업환경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AI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시뮬레이션·실차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Sim-to-Real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디지털 기반 도로 건설장비 자동화 ('20.4~'25.12)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r>
                        <a:rPr sz="900" b="1" dirty="0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('25.12)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3종(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진동·타이어·텐덤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HW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자율작업·경로추종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3D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지형생성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휠로더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휠로더용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자율작업·운영시스템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('22.5~'25.12)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r>
                        <a:rPr sz="900" b="1" dirty="0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('25.12)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Retrofit </a:t>
                      </a:r>
                      <a:r>
                        <a:rPr 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Kit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·</a:t>
                      </a:r>
                      <a:r>
                        <a:rPr 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실차</a:t>
                      </a:r>
                      <a:r>
                        <a:rPr lang="ko-KR" alt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하위제어 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76072" y="4551611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4551611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4651611"/>
            <a:ext cx="3423818" cy="562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실차·평가설비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굴착기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2종·롤러 4종</a:t>
            </a: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평가설비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레이저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트래커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토탈스테이션</a:t>
            </a:r>
            <a:r>
              <a:rPr lang="ko-KR" altLang="en-US"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등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92498" y="4551611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2498" y="4551611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3938" y="4651611"/>
            <a:ext cx="3423818" cy="7116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굴착기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숙련자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작업데이터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관로작업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3회·시나리오 9종,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법면·평탄화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롤러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자율주행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주행경로·제어명령·제어오차·조향각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08924" y="4551611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8924" y="4551611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00364" y="4651611"/>
            <a:ext cx="3423818" cy="8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컴퓨팅·인력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GPU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워크스테이션으로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착수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디지털트윈·HILS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/VILS '27~ (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대규모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학습은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재원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지능제어연구실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3명 —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강화학습·Sim-to-Real·실차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실증은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수행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6072" y="5640000"/>
            <a:ext cx="11039551" cy="520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640000"/>
            <a:ext cx="50292" cy="52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5640000"/>
            <a:ext cx="10618927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 수준 : 고전제어기 기반 궤적·경로 추종과 실차·데이터·전자제어 자산은 확보 — 학습형 제어(강화학습·Sim-to-Real)는 미착수로, 트랙 A 계획은 이 자산을 학습 프로세스로 전환하는 단계</a:t>
            </a:r>
          </a:p>
        </p:txBody>
      </p:sp>
      <p:sp>
        <p:nvSpPr>
          <p:cNvPr id="34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A-09</a:t>
            </a:r>
          </a:p>
        </p:txBody>
      </p:sp>
    </p:spTree>
    <p:extLst>
      <p:ext uri="{BB962C8B-B14F-4D97-AF65-F5344CB8AC3E}">
        <p14:creationId xmlns:p14="http://schemas.microsoft.com/office/powerpoint/2010/main" val="1621618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562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Physical AI 데이터·학습 프로세스 준비도 : 5단계 중 2단계 확보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2종은 RLDS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구조로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정의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완료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프로세스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(SP-3)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는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수집·실차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기반만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76072" y="1435608"/>
            <a:ext cx="6379921" cy="2996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보유 학습 데이터 2종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76072" y="1819656"/>
          <a:ext cx="6379921" cy="265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숙련자 작업데이터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 자율주행 데이터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현황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관로작업 3회 수집(8/11·9/11·10/23), 시나리오 9종(폭 1.5~2.5 m × 길이 8~12 m × 작업폭 1.0~1.1 m) / 법면·평탄화 단독모션 소량, 추가 수집 계획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 자율작업 완료과제에서 다양한 경로의 자율주행 에피소드 수집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관측 (observation)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붐·암·버킷 관절각, 스윙각, 차체 위치(GNSS 7ch), LiDAR 6ch, 카메라 6채널 영상(256×320), 작업·에피소드 지시문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목표점(x·y·yaw), 드럼·차체 위치·자세, 횡방향 오차, 현재 속도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행동 (action)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붐·암·버킷 실린더 및 스윙모터 입·출력 포트 압력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조향각·속도 명령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구조·형식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RLDS(Google Research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강화학습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— Complex task → Task → Episode → Step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터파기·되메우기·이동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분절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CSV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에피소드 단위 CSV(episode_id·step_index·is_terminal), 주행경로·제어명령·제어오차 시계열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필요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무부하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워크스페이스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커버리지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(Phase 1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주행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속도·조향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커버리지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(Phase 1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099553" y="1435608"/>
            <a:ext cx="4516069" cy="2996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표준 학습 프로세스(SP-3) 단계별 준비도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99553" y="181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79553" y="190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9553" y="181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실차 데이터 수집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9553" y="1939656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9553" y="181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고전제어기·숙련자 실차 로깅 체계, 굴착기·롤러 에피소드 데이터 확보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99553" y="234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7179553" y="243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9553" y="234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고속 근사모델(Gray box)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9553" y="2469656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9553" y="234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동역학 모델·유압 실린더 제어특성 분석 보유, 실차 데이터 보정은 미착수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99553" y="287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79553" y="296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9553" y="287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강화학습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9553" y="287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RLDS 데이터셋 준비 중, 학습 인프라는 워크스테이션급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99553" y="340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7179553" y="349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9553" y="340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Sim-to-Real 전이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9553" y="3529656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09553" y="340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디지털트윈 과제로 시뮬레이션 환경 구축 중, HILS/VILS '27~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99553" y="393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79553" y="402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9553" y="393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실차 미세조정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29553" y="4059656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09553" y="393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 실차·고전제어기·평가설비(레이저 트래커 등)로 실차 검증 가능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" y="5000000"/>
            <a:ext cx="11039551" cy="560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76072" y="5000000"/>
            <a:ext cx="50292" cy="56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5049167"/>
            <a:ext cx="1061892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갭 :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학습형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제어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강화학습·Sim-to-Real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)와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대규모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인프라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</a:b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Phase 1('27~'28)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굴착기·롤러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병행으로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근사모델·강화학습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단계를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우선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확보하고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대규모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학습은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국가과제로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대응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30">
            <a:extLst>
              <a:ext uri="{FF2B5EF4-FFF2-40B4-BE49-F238E27FC236}">
                <a16:creationId xmlns:a16="http://schemas.microsoft.com/office/drawing/2014/main" id="{44CDBD4E-C1C4-CF09-0FB5-510580B48554}"/>
              </a:ext>
            </a:extLst>
          </p:cNvPr>
          <p:cNvSpPr/>
          <p:nvPr/>
        </p:nvSpPr>
        <p:spPr>
          <a:xfrm>
            <a:off x="9029553" y="2999484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부분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A-08</a:t>
            </a:r>
          </a:p>
        </p:txBody>
      </p:sp>
    </p:spTree>
    <p:extLst>
      <p:ext uri="{BB962C8B-B14F-4D97-AF65-F5344CB8AC3E}">
        <p14:creationId xmlns:p14="http://schemas.microsoft.com/office/powerpoint/2010/main" val="1233681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효과적인 전략 수행을 위한 조직 운영 전략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전담조직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vs.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기존 기능조직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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TF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 형태의 하이브리드 조직 운영도 검토할 필요성이 있음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35841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현황 및 인력 우선순위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819656"/>
          <a:ext cx="358414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36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AI 인력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8명 (4개 부서)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운영방식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초기 2~3년 매트릭스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1순위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엔지니어링·MLOps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2·3순위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도메인 / AI 신뢰성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4~6순위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3D·생성AI /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LLM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03775" y="1435608"/>
            <a:ext cx="73118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조직 신설 시 예상 문제점과 대응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03775" y="1819656"/>
          <a:ext cx="7311846" cy="3218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4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문제점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운영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전담조직–도메인 부서 간 예산·성과귀속 분쟁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역할·지분 사전규정, 공통기능 지원단가 방식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운영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소수 전담인력 대비 원내 AI 수요 과다 → 병목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과제 상한, 우선순위 심의, 외부조달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운영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지식–AI 개발 분리로 현장성 저하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매트릭스 유지, 도메인 부서 공동책임 명시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수주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필수화 상황에서 「AI는 전담조직 몫」 인식 → 도메인 부서 수주 위축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전담조직 기능을 공통기반 제공으로 한정, 수주 주체는 도메인 부서 유지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수주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대표창구 단일화로 도메인 부서 기업 네트워크 활용도 저하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창구는 단일화하되 과제 발굴·제안은 도메인 부서 주도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수주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전담조직 실적 중심 평가로 도메인 부서 참여 유인 감소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공통기반 활용 과제는 참여부서 공동실적 인정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5349240"/>
            <a:ext cx="11039551" cy="5669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조직은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「AI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과제를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독점하는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조직」이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과제가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공통으로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사용하는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기반을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제공·검증하는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조직」으로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정의함</a:t>
            </a:r>
            <a:endParaRPr sz="13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806E4729-E98C-6895-D6C8-5E1474E5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84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2 — </a:t>
            </a:r>
            <a:r>
              <a:rPr 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전략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3118104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2980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S21 전략 개요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S22 공정별 모델 확보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S23 Domain 제조AI化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S24 표준절차 4단계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S25 앵커 포트폴리오·확산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S26 수요·공급기업 풀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S27 제조 암묵지 명장 풀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S28 데이터 관리 전략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S29 공간지능 로드맵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개요 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보유자산을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공통자산으로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전환하여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도메인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2027~2028년은 신규기술 전면 착수가 아닌 보유자산의 정비·이식·검증 구간임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6072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920240"/>
            <a:ext cx="177631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  데이터 규격·MLOps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32304"/>
            <a:ext cx="184946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제조·시험 공통 스키마와
다기업 모델 운영체계 확보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44993" y="1965960"/>
            <a:ext cx="146303" cy="146304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27873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27873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5889" y="1882244"/>
            <a:ext cx="1776313" cy="40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공정AI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라이브러리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19313" y="2432304"/>
            <a:ext cx="1849465" cy="39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lang="ko-KR" altLang="en-US"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대표 공정</a:t>
            </a:r>
            <a:r>
              <a:rPr lang="en-US" altLang="ko-KR" sz="1050" dirty="0">
                <a:solidFill>
                  <a:srgbClr val="5F6B7A"/>
                </a:solidFill>
                <a:cs typeface="맑은 고딕"/>
              </a:rPr>
              <a:t>(16</a:t>
            </a:r>
            <a:r>
              <a:rPr lang="ko-KR" altLang="en-US" sz="1050" dirty="0">
                <a:solidFill>
                  <a:srgbClr val="5F6B7A"/>
                </a:solidFill>
                <a:cs typeface="맑은 고딕"/>
              </a:rPr>
              <a:t>종</a:t>
            </a:r>
            <a:r>
              <a:rPr lang="en-US" altLang="ko-KR" sz="1050" dirty="0">
                <a:solidFill>
                  <a:srgbClr val="5F6B7A"/>
                </a:solidFill>
                <a:cs typeface="맑은 고딕"/>
              </a:rPr>
              <a:t>)</a:t>
            </a:r>
            <a:r>
              <a:rPr lang="ko-KR" altLang="en-US" sz="1050" dirty="0">
                <a:solidFill>
                  <a:srgbClr val="5F6B7A"/>
                </a:solidFill>
                <a:cs typeface="맑은 고딕"/>
              </a:rPr>
              <a:t>을 </a:t>
            </a:r>
            <a:r>
              <a:rPr lang="ko-KR" altLang="en-US"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바탕으로</a:t>
            </a:r>
            <a:r>
              <a:rPr lang="en-US" altLang="ko-KR"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모델과·적용조건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896794" y="1965960"/>
            <a:ext cx="146303" cy="146304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79674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79674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07690" y="1882244"/>
            <a:ext cx="1776313" cy="40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71114" y="2432304"/>
            <a:ext cx="184946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기계장비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백본과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소량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현장적응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7148596" y="1965960"/>
            <a:ext cx="146303" cy="146304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31476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31476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9492" y="1920240"/>
            <a:ext cx="177631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  신뢰성 검증·표준화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2916" y="2432304"/>
            <a:ext cx="184946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강건성·불확실성·재현성
검증체계와 단체표준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00397" y="1965960"/>
            <a:ext cx="146303" cy="146304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83277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83277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1293" y="1920240"/>
            <a:ext cx="177631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  조직·인력·인프라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717" y="2432304"/>
            <a:ext cx="184946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공통기능 전담화, MLOps 인력
엣지·컴퓨팅 환경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3749039"/>
            <a:ext cx="11039551" cy="603504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072" y="3749039"/>
            <a:ext cx="50292" cy="603504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3930630"/>
            <a:ext cx="10618927" cy="24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①</a:t>
            </a:r>
            <a:r>
              <a:rPr lang="en-US" altLang="ko-KR" sz="1350" b="1" dirty="0">
                <a:solidFill>
                  <a:srgbClr val="0F2B46"/>
                </a:solidFill>
                <a:cs typeface="맑은 고딕"/>
              </a:rPr>
              <a:t>②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기반을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만들고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350" b="1" dirty="0">
                <a:solidFill>
                  <a:srgbClr val="0F2B46"/>
                </a:solidFill>
                <a:cs typeface="맑은 고딕"/>
              </a:rPr>
              <a:t>③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④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이를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자산화하며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지속 성장을 위해 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⑤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필요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76072" y="4544568"/>
          <a:ext cx="11039549" cy="1517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1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7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중점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종·SP 3종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v1,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PoC,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2029–2030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지속학습, 제조 백본 사전학습, 뿌리공정 모델 실증, 신뢰성·표준화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서비스화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AI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공인서비스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확산·환류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AB77211A-F29C-8DBC-A643-D4223784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1B16375-995B-BF46-FE51-B6E3C728EC98}"/>
              </a:ext>
            </a:extLst>
          </p:cNvPr>
          <p:cNvSpPr/>
          <p:nvPr/>
        </p:nvSpPr>
        <p:spPr>
          <a:xfrm rot="1935078">
            <a:off x="12059786" y="3718904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r>
              <a:rPr kumimoji="1" lang="en-US" altLang="ko-KR" sz="4000" b="1" dirty="0">
                <a:solidFill>
                  <a:srgbClr val="FF0000"/>
                </a:solidFill>
              </a:rPr>
              <a:t/>
            </a:r>
            <a:br>
              <a:rPr kumimoji="1" lang="en-US" altLang="ko-KR" sz="4000" b="1" dirty="0">
                <a:solidFill>
                  <a:srgbClr val="FF0000"/>
                </a:solidFill>
              </a:rPr>
            </a:b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이부분에 맞음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?)</a:t>
            </a:r>
            <a:endParaRPr kumimoji="1" lang="ko-KR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5E531DFF-A6AD-3DD8-AD91-9A91F7E3F8C2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8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A-10·A-13</a:t>
            </a:r>
          </a:p>
        </p:txBody>
      </p:sp>
    </p:spTree>
    <p:extLst>
      <p:ext uri="{BB962C8B-B14F-4D97-AF65-F5344CB8AC3E}">
        <p14:creationId xmlns:p14="http://schemas.microsoft.com/office/powerpoint/2010/main" val="1992042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072" y="393192"/>
            <a:ext cx="980511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 세부 공정에 대한 모델 확보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종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고도화</a:t>
            </a:r>
            <a:r>
              <a:rPr lang="ko-KR" altLang="en-US"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기반으로 건설기계 도메인을 중심으로 공정별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종 모델을 단계적으로 확보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463040"/>
          <a:ext cx="8243771" cy="3584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3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— 외관·형상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다품종 소량 부품 품질검사    ② 2D/3D 형상검사·CAD 편차 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· 단기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내부결함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초음파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(UT/PAUT)·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방사선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(RT)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비파괴검사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PoC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— 공통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CAD 기반 합성 학습데이터 생성    ⑤ 도메인 벤치마크·어댑테이션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· 공통자산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가공·열처리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공구마모·잔여수명    ⑦ 에너지·공정조건 최적화    ⑧ 경화층·경도 대리모델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· 중기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⑨ 후판 다층용접 품질 실시간 판정    ⑩ 대형 구조물 용접변형·순서 최적화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단조·주조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⑪ 단조금형 마모·수명 예측    ⑫ 용탕상태 추정·응고 대리모델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자동화·지식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⑬ 제조로봇 궤적·조건 학습    ⑭ 숙련공 암묵지 작업지식 에이전트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· 병렬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⑮ 시험평가 데이터 자동수집·라벨링    ⑯ 제조AI 신뢰성 검증 프로토콜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공통자산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963406" y="1435608"/>
            <a:ext cx="265221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개발 우선순위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3406" y="1856232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63406" y="1856232"/>
            <a:ext cx="50292" cy="5486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2862" y="1929384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1. 즉시 고도화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보유자산 3종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234650" y="2423160"/>
            <a:ext cx="109728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3406" y="2514600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3406" y="2514600"/>
            <a:ext cx="50292" cy="5486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2862" y="2587752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2. 단기 PoC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형상·비파괴·공구·열처리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234650" y="3081528"/>
            <a:ext cx="109728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3406" y="3172968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3406" y="3172968"/>
            <a:ext cx="50292" cy="5486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2862" y="3246120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3. 중기 확장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용접·단조·주조·암묵지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234650" y="3739896"/>
            <a:ext cx="109728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3406" y="3831336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3406" y="3831336"/>
            <a:ext cx="50292" cy="54864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2862" y="3904488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4. 공통자산화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벤치마크·백본·어댑터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234650" y="4398264"/>
            <a:ext cx="109728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63406" y="4489704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3406" y="4489704"/>
            <a:ext cx="50292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2862" y="4562856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5. 서비스화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모델카드·검증결과 결합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3406" y="5184648"/>
            <a:ext cx="2652217" cy="841248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63406" y="5184648"/>
            <a:ext cx="50292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01150" y="5287300"/>
            <a:ext cx="2231593" cy="635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대형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주조품·후육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용접부는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외관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검사만으로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내부결함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판별이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불가하여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초음파·방사선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검사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필</a:t>
            </a:r>
            <a:r>
              <a:rPr lang="ko-KR" altLang="en-US"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요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25E8657F-E68D-2880-E650-5EBDC2D3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F5BEA0-5A84-06F0-0F81-0D7D40125242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13466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AI에서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재사용이 용이한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”Domain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“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化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부품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데이터 절감이 가능한 확장성 확보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: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AI Stack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구성요소 확보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63640"/>
            <a:ext cx="8390058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 「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기술개발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」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기술수요조사서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(2026.8)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A-04·A-12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개발 구성 6요소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" y="1819656"/>
          <a:ext cx="5447994" cy="2340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3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멀티모달 통합표현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영상·3D·CAD·설비·공정·품질 통합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Manufacturing Backbone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산업 제조공정 공통 특성 사전학습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Task 적용기술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식별·결함검사·이상탐지·품질예측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신속재학습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 · Domain Adaptation · PEFT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지속학습, Edge·On-Premise 배포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 및 산업 간 전이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67627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3단계 확보경로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67627" y="1819656"/>
          <a:ext cx="5447993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5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2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규격, 백본 구조 설계, 기초 Task 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2029–2030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백본 사전학습, Few-shot·PEFT, 전이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배포형 경량모델, 지속학습·환류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67627" y="3520439"/>
            <a:ext cx="54479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개념 — 개별 모델 N개 → 공통 백본 1개 + 어댑터 N개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7627" y="3849624"/>
            <a:ext cx="475488" cy="38404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34555" y="3849624"/>
            <a:ext cx="475488" cy="38404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01483" y="3849624"/>
            <a:ext cx="475488" cy="38404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8411" y="3849624"/>
            <a:ext cx="475488" cy="38404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563355" y="3959352"/>
            <a:ext cx="274320" cy="164592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56547" y="3849624"/>
            <a:ext cx="1234440" cy="38404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 백본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00715" y="3849624"/>
            <a:ext cx="329184" cy="384048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703051" y="3849624"/>
            <a:ext cx="329184" cy="384048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105388" y="3849624"/>
            <a:ext cx="329184" cy="384048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67627" y="4288536"/>
            <a:ext cx="5447995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N회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                         1</a:t>
            </a:r>
            <a:r>
              <a:rPr lang="en-US" altLang="ko-KR"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~2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회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사전학습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소량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어댑터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76072" y="4764024"/>
            <a:ext cx="11039551" cy="658368"/>
          </a:xfrm>
          <a:prstGeom prst="rect">
            <a:avLst/>
          </a:prstGeom>
          <a:solidFill>
            <a:srgbClr val="DB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" y="4764024"/>
            <a:ext cx="50292" cy="65836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" y="4833008"/>
            <a:ext cx="10618927" cy="520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KOCETI Full stack AI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확보를 위해 업종별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Domain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특성에 맞춘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백본 </a:t>
            </a:r>
            <a:r>
              <a:rPr lang="ko-KR" altLang="en-US" sz="1400" b="1" spc="-30" dirty="0" err="1">
                <a:solidFill>
                  <a:srgbClr val="0F2B46"/>
                </a:solidFill>
                <a:cs typeface="맑은 고딕"/>
              </a:rPr>
              <a:t>化</a:t>
            </a:r>
            <a:r>
              <a:rPr lang="ko-KR" altLang="en-US" sz="1400" b="1" spc="-30" dirty="0">
                <a:solidFill>
                  <a:srgbClr val="0F2B46"/>
                </a:solidFill>
                <a:cs typeface="맑은 고딕"/>
              </a:rPr>
              <a:t>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</a:b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슬라이드 번호 개체 틀 28">
            <a:extLst>
              <a:ext uri="{FF2B5EF4-FFF2-40B4-BE49-F238E27FC236}">
                <a16:creationId xmlns:a16="http://schemas.microsoft.com/office/drawing/2014/main" id="{3BB9AB43-3168-A5DB-C206-4DC32551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C7AE3EA-C032-DD1F-5DFE-DB5F0A3B3C26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45801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공정진단부터 실증·자산화·확산까지 전주기를 지원함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기업별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일회성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구축이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공정·품목군으로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이식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지원모델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화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Chevron 7"/>
          <p:cNvSpPr/>
          <p:nvPr/>
        </p:nvSpPr>
        <p:spPr>
          <a:xfrm>
            <a:off x="576072" y="1508760"/>
            <a:ext cx="2910763" cy="676656"/>
          </a:xfrm>
          <a:prstGeom prst="chevron">
            <a:avLst/>
          </a:prstGeom>
          <a:solidFill>
            <a:srgbClr val="EF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3285667" y="1508760"/>
            <a:ext cx="2910763" cy="676656"/>
          </a:xfrm>
          <a:prstGeom prst="chevron">
            <a:avLst/>
          </a:prstGeom>
          <a:solidFill>
            <a:srgbClr val="EDB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  AI 모델 실증</a:t>
            </a:r>
          </a:p>
        </p:txBody>
      </p:sp>
      <p:sp>
        <p:nvSpPr>
          <p:cNvPr id="10" name="Chevron 9"/>
          <p:cNvSpPr/>
          <p:nvPr/>
        </p:nvSpPr>
        <p:spPr>
          <a:xfrm>
            <a:off x="5995263" y="1508760"/>
            <a:ext cx="2910763" cy="676656"/>
          </a:xfrm>
          <a:prstGeom prst="chevron">
            <a:avLst/>
          </a:prstGeom>
          <a:solidFill>
            <a:srgbClr val="EAA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 데이터셋 구축·공유</a:t>
            </a:r>
          </a:p>
        </p:txBody>
      </p:sp>
      <p:sp>
        <p:nvSpPr>
          <p:cNvPr id="11" name="Chevron 10"/>
          <p:cNvSpPr/>
          <p:nvPr/>
        </p:nvSpPr>
        <p:spPr>
          <a:xfrm>
            <a:off x="8704859" y="1508760"/>
            <a:ext cx="2910763" cy="676656"/>
          </a:xfrm>
          <a:prstGeom prst="chevron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 확산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258568"/>
            <a:ext cx="1103955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↺  4단계 현장 피드백을 1단계 진단으로 환류 (점선)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574216"/>
              </p:ext>
            </p:extLst>
          </p:nvPr>
        </p:nvGraphicFramePr>
        <p:xfrm>
          <a:off x="576072" y="2624328"/>
          <a:ext cx="11039549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5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핵심활동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P1~P16 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 생태계 및 주요 업체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플레이어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조사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주요 부품 생산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준비도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AI 모델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레퍼런스 모델 선정, SP-1·2·3 적응학습, Shadow Mode 병행, 오탐·미탐·수용성·폴백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적용조건 · 검증보고서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데이터셋 구축·공유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카드·메타데이터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비공개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결함분류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NDA·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관리 절차 수립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카드 · 구축규격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품목군·공정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이식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1차→2차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OEM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품질이력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클러스터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이식사례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확산모델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76072" y="5330952"/>
            <a:ext cx="11039551" cy="566928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" y="5330952"/>
            <a:ext cx="50292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5404104"/>
            <a:ext cx="10618927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백본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이후에는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소량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Few-shot·PEFT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적응을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기본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이식방식으로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적용함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113ED4C5-9FE6-2C7C-20E7-BCAC0E3A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01E74-8F92-F3A1-D787-D2052C532B96}"/>
              </a:ext>
            </a:extLst>
          </p:cNvPr>
          <p:cNvSpPr txBox="1"/>
          <p:nvPr/>
        </p:nvSpPr>
        <p:spPr>
          <a:xfrm>
            <a:off x="576072" y="6263640"/>
            <a:ext cx="8390058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en-US"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PEFT (Parameter Efficient Fine-Tuning)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A-06·A-08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T0 앵커에서 품목군·공급망·산단으로 4단계 확산함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후보기업의 참여의향과 데이터 제공조건은 확정 전이며 내부 사업발굴용임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앵커 티어링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819656"/>
          <a:ext cx="5447993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5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티어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데이터 접점 보유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기준선·모델검증·SP-1 확립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공정·품목군 이식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2027–2029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PoC·품목군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심화·신규산업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2029–2031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농기계·산단 단위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" y="3575304"/>
            <a:ext cx="5447995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T0는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현장데이터에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접근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현재의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경로임</a:t>
            </a:r>
            <a:endParaRPr sz="12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T0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실적을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성능이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진단·이식·검증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절차의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레퍼런스」로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자산화함</a:t>
            </a:r>
            <a:endParaRPr sz="12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농기계는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검증모델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기반으로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진입위험을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최소화함</a:t>
            </a:r>
            <a:endParaRPr sz="12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굴착기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혼류생산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제관·용접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라인을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레퍼런스로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활용함</a:t>
            </a:r>
            <a:endParaRPr sz="12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67627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4단 확산경로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7" y="1837944"/>
            <a:ext cx="381359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7627" y="1837944"/>
            <a:ext cx="3813596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0507" y="1984248"/>
            <a:ext cx="34661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  앵커기업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데이터 접근권·현장책임자·기준선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→ AI 적용·검증 레퍼런스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7" y="2770632"/>
            <a:ext cx="435839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7627" y="2770632"/>
            <a:ext cx="4358396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0507" y="2916936"/>
            <a:ext cx="4010924" cy="602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품목군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핵심 공급업체 대상 확장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공정·결함·검사기준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정합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→ SP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이식</a:t>
            </a:r>
            <a:endParaRPr sz="1000" b="0" dirty="0">
              <a:solidFill>
                <a:srgbClr val="E8A33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67627" y="3703320"/>
            <a:ext cx="490319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7627" y="3703320"/>
            <a:ext cx="49031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0507" y="3849624"/>
            <a:ext cx="4555723" cy="602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공급망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전체 범위로 확대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로트·개체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추적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OEM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품질요구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필드</a:t>
            </a: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품질이력</a:t>
            </a:r>
            <a:endParaRPr sz="1000" b="0" dirty="0">
              <a:solidFill>
                <a:srgbClr val="E8A33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67627" y="4636008"/>
            <a:ext cx="544799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67627" y="4636008"/>
            <a:ext cx="54479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0507" y="4782312"/>
            <a:ext cx="5100523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  지역 산단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공동 인프라·컨소시엄·운영주체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→ 산단 공동 데이터 허브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447E2D0A-15CA-E0FC-E409-1B07282C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수요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공급기업 풀을 기반으로 데이터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실증협력을 확보함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수요기업의 현장문제와 공급기업 기술을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KOCETI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가 매칭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검증하여 참여가치를 제공함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5447995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수요</a:t>
            </a:r>
            <a:r>
              <a:rPr lang="en-US" altLang="ko-KR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공급기업 구성 및 정보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941133"/>
              </p:ext>
            </p:extLst>
          </p:nvPr>
        </p:nvGraphicFramePr>
        <p:xfrm>
          <a:off x="576072" y="1819656"/>
          <a:ext cx="5447994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6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구성·제공정보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참여가치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OEM·1·2차 협력사: 품목·공정·애로·설비·데이터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공정진단·AI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공급기업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AI·비전·센서·로봇 기업: 기술·실적·TRL·연동·IP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레퍼런스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OEM·확산파트너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품질요구·필드클레임·공급망·공동인프라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검증근거·공급망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공정진단·기업매칭·데이터규격·제3자검증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검증보고서·공통자산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72" y="4142232"/>
            <a:ext cx="5447995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기업명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참여의향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현장접근권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제공범위는 사전진단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협약 단계에서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확정함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개별 기업 원본은 직접 공유하지 않고 검증결과와 공개등급 메타데이터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중심으로 연계함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7627" y="1435608"/>
            <a:ext cx="5447995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기업 풀 구축</a:t>
            </a:r>
            <a:r>
              <a:rPr lang="en-US" altLang="ko-KR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확보 방안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458638"/>
              </p:ext>
            </p:extLst>
          </p:nvPr>
        </p:nvGraphicFramePr>
        <p:xfrm>
          <a:off x="6167627" y="1819656"/>
          <a:ext cx="5447994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7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0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수요기업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발굴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기업지원·시험평가 고객, OEM·협회·산단 추천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공급기업 발굴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AI·비전·센서·로봇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전문기업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실적·TRL·현장지원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등록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기업명·지역·품목·공정·애로·설비·데이터·IP·보안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매칭·협약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적합성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KPI·비용·일정·권한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합의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 관리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실증결과·검증보고서·확산가능성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67627" y="4069080"/>
            <a:ext cx="5447995" cy="896112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7627" y="4069080"/>
            <a:ext cx="50292" cy="89611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5371" y="4184705"/>
            <a:ext cx="5027371" cy="6648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기업 풀 운영순서
후보군 조사 → 프로파일 등록 → 사전진단 → 수요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공급 매칭 → 협약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 → 검증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5257800"/>
            <a:ext cx="11039551" cy="530352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5257800"/>
            <a:ext cx="50292" cy="53035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5407270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핵심 원칙  기업명 나열이 아니라 역할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기술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협약조건과 실증이력을 갖춘 실행형 포트폴리오로 관리함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7348480F-6AC9-535C-FE6B-6F95CE09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21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A-05·A-14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ko-KR" altLang="en-US"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전환을 위한 공정별 명장 풀을 구성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현직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퇴직 숙련자의 판단을 데이터로 보존하고 복수 전문가가 교차 검증함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판단지점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발굴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" y="2240280"/>
            <a:ext cx="150464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품질·안전·조건변경 시
숙련자 개입지점 확인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00173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46477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46477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74493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  동기기록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6477" y="2240280"/>
            <a:ext cx="1687526" cy="422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영상·열화상·음향·센서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작업행동·언어설명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동기화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4170578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16882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6882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44898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  지식화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8322" y="2240280"/>
            <a:ext cx="150464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용어정리·출처연결
모호성·예외조건 기록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40983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87287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87287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5303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  모델화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8" y="2240280"/>
            <a:ext cx="1687524" cy="422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조건추천·이상판단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로봇궤적·비언어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가이던스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7911388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57692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57692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5708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  검증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9132" y="2240280"/>
            <a:ext cx="150464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명장 판단과 AI 출력
블라인드 비교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81794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928098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28098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6114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6  전수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9538" y="2240280"/>
            <a:ext cx="150464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현장 질의·교육·작업지원
피드백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3291839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산출물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공정지도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데이터셋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작업지식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그래프·RAG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작업지식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일치성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보고서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지속갱신형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지식체계</a:t>
            </a:r>
            <a:endParaRPr sz="11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6072" y="3749039"/>
            <a:ext cx="11039551" cy="330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명장</a:t>
            </a:r>
            <a:r>
              <a:rPr lang="en-US" altLang="ko-KR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전문가 풀 구성 </a:t>
            </a:r>
            <a:r>
              <a:rPr lang="en-US" altLang="ko-KR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공정별 상시 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기업 현직 </a:t>
            </a:r>
            <a:r>
              <a:rPr lang="ko-KR" altLang="en-US" sz="12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숙련자</a:t>
            </a:r>
            <a:endParaRPr lang="ko-KR" altLang="en-US" sz="12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809585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퇴직 명장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43098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전문가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76612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대학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연구기관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0125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차세대 숙련인력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" y="4727448"/>
            <a:ext cx="11039551" cy="658368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6072" y="4727448"/>
            <a:ext cx="5029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3816" y="4800600"/>
            <a:ext cx="10618927" cy="512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우선 공정  </a:t>
            </a:r>
            <a:r>
              <a:rPr lang="ko-KR" altLang="en-US"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주강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사형주조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후가공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단조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열처리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용접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제관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도장
 구성 원칙  공정별 주 명장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+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복수 교차검증 명장을 지정하고 현직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퇴직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외부전문가를 혼합 구성함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" y="5532120"/>
            <a:ext cx="11039551" cy="475488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76072" y="5532120"/>
            <a:ext cx="50292" cy="47548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5654159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명장 풀 확보방안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기업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·OEM·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협회 추천 및 퇴직기술인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DB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발굴 → 경력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대표사례 검증 → 활동비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성과보상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·IP·NDA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협약 → 정기 평가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갱신</a:t>
            </a:r>
          </a:p>
        </p:txBody>
      </p:sp>
      <p:sp>
        <p:nvSpPr>
          <p:cNvPr id="52" name="슬라이드 번호 개체 틀 51">
            <a:extLst>
              <a:ext uri="{FF2B5EF4-FFF2-40B4-BE49-F238E27FC236}">
                <a16:creationId xmlns:a16="http://schemas.microsoft.com/office/drawing/2014/main" id="{7415697B-A6F5-96FC-7EA4-B5712A68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관리 전략 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국가 데이터 라이브러리와 방향성을 맞춤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원본은 보호하고 메타데이터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비식별화 초점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공개등급 G1~G4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819656"/>
          <a:ext cx="5447992" cy="19552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노출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제공조건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G1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메타데이터·데이터 카드·스키마·합성 샘플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자유열람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G2 협의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목적심의 후 제공 가능한 원본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목록·규격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심의 + NDA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G3 제한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제공사 개별동의가 필요한 원본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존재사실만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기업별 승인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비공개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외부제공 거부 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미노출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승인만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" y="3648456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데이터 보호체계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6072" y="4032504"/>
          <a:ext cx="5447994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적용방안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암호화·비식별화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저장·전송 암호화, 식별정보 비식별 처리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접근통제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보안과제 지정 시 접근자 제한·접근기록 보관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유출방지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해외 반출 통제, 반출 이력 추적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자산가치 보호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간 공유·이전 시 원 제공사 권리 보전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전문인력 관리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취급자 지정·교육·서약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67627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포털 3단계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322446"/>
              </p:ext>
            </p:extLst>
          </p:nvPr>
        </p:nvGraphicFramePr>
        <p:xfrm>
          <a:off x="6167627" y="1819656"/>
          <a:ext cx="5447993" cy="16276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6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주요기능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기업·데이터셋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구축규격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문의경로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신청·심의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NDA·계약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클린룸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식별자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67627" y="3447288"/>
            <a:ext cx="54479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국가 체계 연계 구조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7" y="3776472"/>
            <a:ext cx="2397117" cy="475488"/>
          </a:xfrm>
          <a:prstGeom prst="roundRect">
            <a:avLst>
              <a:gd name="adj" fmla="val 8000"/>
            </a:avLst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KOCETI 도메인
데이터 라이브러리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8646465" y="3941063"/>
            <a:ext cx="237744" cy="146304"/>
          </a:xfrm>
          <a:prstGeom prst="left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18505" y="3776472"/>
            <a:ext cx="2397117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제조데이터
라이브러리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7627" y="4325112"/>
            <a:ext cx="54479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원본 이전이 아니라 메타데이터 연계·등급별 신탁 방식으로 참여함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7627" y="4727448"/>
            <a:ext cx="5447995" cy="1005840"/>
          </a:xfrm>
          <a:prstGeom prst="roundRect">
            <a:avLst>
              <a:gd name="adj" fmla="val 8000"/>
            </a:avLst>
          </a:prstGeom>
          <a:solidFill>
            <a:srgbClr val="F8EBE9"/>
          </a:solidFill>
          <a:ln w="15875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13931" y="4846320"/>
            <a:ext cx="932688" cy="502920"/>
          </a:xfrm>
          <a:prstGeom prst="roundRect">
            <a:avLst>
              <a:gd name="adj" fmla="val 1885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조사·보완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74636" y="4897969"/>
            <a:ext cx="4076395" cy="6647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국가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제조데이터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라이브러리의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보안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요구수준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암호화·비식별화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규격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보안과제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지정기준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접근권한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체계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은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구축주체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확정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후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재조사하여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보완 필요</a:t>
            </a:r>
            <a:endParaRPr sz="1150" b="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6072" y="5897880"/>
            <a:ext cx="11039551" cy="420624"/>
          </a:xfrm>
          <a:prstGeom prst="rect">
            <a:avLst/>
          </a:prstGeom>
          <a:solidFill>
            <a:srgbClr val="DB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" y="5897880"/>
            <a:ext cx="50292" cy="42062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" y="6005824"/>
            <a:ext cx="10618927" cy="204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및 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Physical AI 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자율화 관련 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Focus : 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활용성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실제 제조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작업현장과의 일치도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비식별화 </a:t>
            </a:r>
            <a:endParaRPr lang="en-US" altLang="ko-KR" sz="11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954A0986-0468-463C-6D07-22D06CE1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245BA1E-DC81-5ADE-075B-C0D5F2EEAE84}"/>
              </a:ext>
            </a:extLst>
          </p:cNvPr>
          <p:cNvSpPr/>
          <p:nvPr/>
        </p:nvSpPr>
        <p:spPr>
          <a:xfrm>
            <a:off x="7797959" y="959581"/>
            <a:ext cx="4252048" cy="560768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추가 보완 필요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9784080" cy="43864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0D2D49"/>
                </a:solidFill>
                <a:latin typeface="Noto Sans CJK KR"/>
              </a:defRPr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건설기계 특화 공간지능 단계별 확보 </a:t>
            </a:r>
            <a:r>
              <a:rPr lang="ko-KR" altLang="en-US" sz="2500" b="1" spc="-30" dirty="0" err="1">
                <a:solidFill>
                  <a:srgbClr val="0F2B46"/>
                </a:solidFill>
                <a:latin typeface="맑은 고딕"/>
                <a:cs typeface="맑은 고딕"/>
              </a:rPr>
              <a:t>로드맵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 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24238"/>
            <a:ext cx="10012680" cy="2795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  <a:defRPr sz="1550" b="0">
                <a:solidFill>
                  <a:srgbClr val="58697C"/>
                </a:solidFill>
                <a:latin typeface="Noto Sans CJK KR"/>
              </a:defRPr>
            </a:pPr>
            <a:r>
              <a:rPr lang="ko-KR" altLang="en-US" sz="1500" dirty="0">
                <a:solidFill>
                  <a:srgbClr val="5F6B7A"/>
                </a:solidFill>
                <a:latin typeface="+mn-ea"/>
                <a:cs typeface="맑은 고딕"/>
              </a:rPr>
              <a:t>기반 </a:t>
            </a:r>
            <a:r>
              <a:rPr sz="1500" dirty="0">
                <a:solidFill>
                  <a:srgbClr val="5F6B7A"/>
                </a:solidFill>
                <a:latin typeface="+mn-ea"/>
                <a:cs typeface="맑은 고딕"/>
              </a:rPr>
              <a:t>설계에서 행동생성·AI 보증 통합까지 3개 Phase로 고도화함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" y="1668780"/>
            <a:ext cx="3654552" cy="411480"/>
          </a:xfrm>
          <a:prstGeom prst="rect">
            <a:avLst/>
          </a:prstGeom>
          <a:solidFill>
            <a:srgbClr val="CF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627632"/>
            <a:ext cx="3654552" cy="411480"/>
          </a:xfrm>
          <a:prstGeom prst="rect">
            <a:avLst/>
          </a:prstGeom>
          <a:solidFill>
            <a:srgbClr val="1F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28216"/>
            <a:ext cx="3654552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Noto Sans CJK KR"/>
              </a:defRPr>
            </a:pPr>
            <a:r>
              <a:rPr dirty="0"/>
              <a:t>Phase 1  2027–2028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9204" y="1668780"/>
            <a:ext cx="3654552" cy="411480"/>
          </a:xfrm>
          <a:prstGeom prst="rect">
            <a:avLst/>
          </a:prstGeom>
          <a:solidFill>
            <a:srgbClr val="CF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7200" y="1627632"/>
            <a:ext cx="3654552" cy="411480"/>
          </a:xfrm>
          <a:prstGeom prst="rect">
            <a:avLst/>
          </a:prstGeom>
          <a:solidFill>
            <a:srgbClr val="00A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7200" y="1728216"/>
            <a:ext cx="3654552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Noto Sans CJK KR"/>
              </a:defRPr>
            </a:pPr>
            <a:r>
              <a:t>Phase 2  2029–2030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2044" y="1668780"/>
            <a:ext cx="3654552" cy="411480"/>
          </a:xfrm>
          <a:prstGeom prst="rect">
            <a:avLst/>
          </a:prstGeom>
          <a:solidFill>
            <a:srgbClr val="CF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40040" y="1627632"/>
            <a:ext cx="3654552" cy="411480"/>
          </a:xfrm>
          <a:prstGeom prst="rect">
            <a:avLst/>
          </a:prstGeom>
          <a:solidFill>
            <a:srgbClr val="239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40040" y="1728216"/>
            <a:ext cx="3654552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Noto Sans CJK KR"/>
              </a:defRPr>
            </a:pPr>
            <a:r>
              <a:t>Phase 3  2031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2212848"/>
            <a:ext cx="3508248" cy="115214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" y="2265727"/>
            <a:ext cx="3096767" cy="949234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공간·행동 온톨로지 설계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3차원 공간표현 체계 정립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제조 AI 파운데이션모델과 데이터 정합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5488" y="2212848"/>
            <a:ext cx="3508248" cy="111099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1792" y="2338100"/>
            <a:ext cx="3279648" cy="755335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도메인 월드모델 구축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</a:t>
            </a:r>
            <a:r>
              <a:rPr sz="1300" dirty="0" err="1">
                <a:latin typeface="+mn-ea"/>
              </a:rPr>
              <a:t>인지</a:t>
            </a:r>
            <a:r>
              <a:rPr sz="1300" dirty="0">
                <a:latin typeface="+mn-ea"/>
              </a:rPr>
              <a:t>–예측 연계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굴착·적재·운반·조립·검사 대표작업 실증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8328" y="2212849"/>
            <a:ext cx="3508248" cy="12024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58912" y="2397466"/>
            <a:ext cx="3371088" cy="755335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행동생성·AI 보증 통합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제조–사용환경 full loop </a:t>
            </a:r>
            <a:r>
              <a:rPr sz="1300" dirty="0" err="1">
                <a:latin typeface="+mn-ea"/>
              </a:rPr>
              <a:t>검증</a:t>
            </a:r>
            <a:endParaRPr sz="1300" dirty="0">
              <a:latin typeface="+mn-ea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Dark Factory·제품/현장 지능화 접점 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2027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2928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52928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2028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56632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56632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>
                <a:latin typeface="+mn-ea"/>
              </a:rPr>
              <a:t>2029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0336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0336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>
                <a:latin typeface="+mn-ea"/>
              </a:rPr>
              <a:t>2030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64040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>
                <a:latin typeface="+mn-ea"/>
              </a:rPr>
              <a:t>2031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온톨로지 설계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52928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98648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3차원 공간표현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56632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02352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도메인 월드모델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0336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06056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인지–예측 연계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64040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09760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행동생성·AI 보증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" y="4764029"/>
            <a:ext cx="11018520" cy="475488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4944" y="4764029"/>
            <a:ext cx="54864" cy="47548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7824" y="4895707"/>
            <a:ext cx="10698480" cy="2669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80" b="1">
                <a:solidFill>
                  <a:srgbClr val="0D2D49"/>
                </a:solidFill>
                <a:latin typeface="Noto Sans CJK KR"/>
              </a:defRPr>
            </a:pPr>
            <a:r>
              <a:rPr lang="ko-KR" altLang="en-US" sz="1300" b="1" dirty="0">
                <a:latin typeface="+mn-ea"/>
              </a:rPr>
              <a:t>제조 </a:t>
            </a:r>
            <a:r>
              <a:rPr lang="en-US" altLang="ko-KR" sz="1300" b="1" dirty="0">
                <a:latin typeface="+mn-ea"/>
              </a:rPr>
              <a:t>AI </a:t>
            </a:r>
            <a:r>
              <a:rPr lang="ko-KR" altLang="en-US" sz="1300" b="1" dirty="0">
                <a:latin typeface="+mn-ea"/>
              </a:rPr>
              <a:t>파운데이션모델을 기반자산으로 활용하여 공간지능으로 확장하고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이후 </a:t>
            </a:r>
            <a:r>
              <a:rPr lang="ko-KR" altLang="en-US" sz="1300" b="1" dirty="0" err="1">
                <a:latin typeface="+mn-ea"/>
              </a:rPr>
              <a:t>자율작업</a:t>
            </a:r>
            <a:r>
              <a:rPr lang="en-US" altLang="ko-KR" sz="1300" b="1" dirty="0">
                <a:latin typeface="+mn-ea"/>
              </a:rPr>
              <a:t>·</a:t>
            </a:r>
            <a:r>
              <a:rPr lang="ko-KR" altLang="en-US" sz="1300" b="1" dirty="0">
                <a:latin typeface="+mn-ea"/>
              </a:rPr>
              <a:t>기업지원 데이터와 순환구조를 형성함</a:t>
            </a:r>
            <a:endParaRPr sz="1300" dirty="0">
              <a:latin typeface="+mn-ea"/>
            </a:endParaRPr>
          </a:p>
        </p:txBody>
      </p:sp>
      <p:sp>
        <p:nvSpPr>
          <p:cNvPr id="62" name="Rectangle 5"/>
          <p:cNvSpPr/>
          <p:nvPr/>
        </p:nvSpPr>
        <p:spPr>
          <a:xfrm>
            <a:off x="576072" y="1263582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5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55E660-88E7-5E2D-F23E-02BA44AD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63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A-18</a:t>
            </a:r>
          </a:p>
        </p:txBody>
      </p:sp>
    </p:spTree>
    <p:extLst>
      <p:ext uri="{BB962C8B-B14F-4D97-AF65-F5344CB8AC3E}">
        <p14:creationId xmlns:p14="http://schemas.microsoft.com/office/powerpoint/2010/main" val="397734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신뢰성 </a:t>
            </a:r>
            <a:r>
              <a:rPr lang="en-US" altLang="ko-KR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S31 트랙 구분 및 도메인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S32 트랙별 확장경로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S33 공간지능으로 확장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자율작업과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시험평가는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병렬인 독립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트랙으로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추진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도메인·데이터·개발주기가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상이한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독립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트랙이</a:t>
            </a:r>
            <a:r>
              <a:rPr lang="ko-KR" altLang="en-US"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므로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제조AX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와 병렬로 진행이 적합함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3개 트랙의 도메인 구분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692345"/>
              </p:ext>
            </p:extLst>
          </p:nvPr>
        </p:nvGraphicFramePr>
        <p:xfrm>
          <a:off x="576072" y="1819656"/>
          <a:ext cx="4516067" cy="259264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8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제조AX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b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lang="en-US" altLang="ko-KR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1·2)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 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b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B 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b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lang="en-US" altLang="ko-KR" sz="125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맑은 고딕"/>
                        </a:rPr>
                        <a:t>AI </a:t>
                      </a: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맑은 고딕"/>
                        </a:rPr>
                        <a:t>시험평가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제조환경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  <a:r>
                        <a:rPr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사용환경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시험평가 환경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가공·용접·조립·검사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 토공 </a:t>
                      </a: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부품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장비 신뢰성시험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CAD·2D/3D 영상·공정·품질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영상·LiDAR·CAN</a:t>
                      </a:r>
                      <a:r>
                        <a:rPr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·</a:t>
                      </a:r>
                      <a:r>
                        <a:rPr lang="en-US"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지형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 err="1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시험품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조건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계측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</a:p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고장모드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발전방향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품질검사·공정최적화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환경인지·작업계획·행동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유사사례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·B</a:t>
                      </a:r>
                      <a:r>
                        <a:rPr lang="en-US" altLang="ko-KR" sz="950" b="0" baseline="-2500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10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</a:p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시험조건 추천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보고서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</a:t>
                      </a:r>
                      <a:r>
                        <a:rPr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</a:t>
                      </a:r>
                      <a:r>
                        <a:rPr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235702" y="1435608"/>
            <a:ext cx="637992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트랙 A · 트랙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5702" y="1819656"/>
            <a:ext cx="637992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35702" y="1819656"/>
            <a:ext cx="6379921" cy="914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36870" y="2093976"/>
            <a:ext cx="5977585" cy="10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 — AI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(Physical AI)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SP-3: 데이터 수집 → 고속 근사 모델 → 강화학습 → Sim-to-Real 전이 → 실차 미세조정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보유자산: 자율작업 굴착기 2종, 롤러 4종, 디지털트윈·HILS/VILS, 숙련자 작업 로깅 데이터</a:t>
            </a:r>
            <a:endParaRPr sz="11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제조AX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접점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위험공정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로봇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대체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제조로봇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궤적학습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⑬),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</a:t>
            </a:r>
            <a:endParaRPr sz="11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35702" y="3447288"/>
            <a:ext cx="637992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35702" y="3447288"/>
            <a:ext cx="6379921" cy="914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36870" y="3721608"/>
            <a:ext cx="5977585" cy="1738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B — </a:t>
            </a:r>
            <a:r>
              <a:rPr 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시험평가 지원</a:t>
            </a:r>
            <a:endParaRPr lang="en-US" altLang="ko-KR" sz="1350" b="1" dirty="0">
              <a:solidFill>
                <a:srgbClr val="0F2B46"/>
              </a:solidFill>
              <a:cs typeface="맑은 고딕"/>
            </a:endParaRPr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SP-2: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자동수집→표준화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라벨→전문가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검토→수명분석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·AI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추천</a:t>
            </a:r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/>
              <a:t>PoC: </a:t>
            </a:r>
            <a:r>
              <a:rPr lang="ko-KR" altLang="en-US" sz="1100" dirty="0"/>
              <a:t>동일 </a:t>
            </a:r>
            <a:r>
              <a:rPr lang="ko-KR" altLang="en-US" sz="1100" dirty="0" err="1"/>
              <a:t>고장메커니즘과</a:t>
            </a:r>
            <a:r>
              <a:rPr lang="ko-KR" altLang="en-US" sz="1100" dirty="0"/>
              <a:t> 복수 가속</a:t>
            </a:r>
            <a:r>
              <a:rPr lang="en-US" altLang="ko-KR" sz="1100" dirty="0"/>
              <a:t>·</a:t>
            </a:r>
            <a:r>
              <a:rPr lang="ko-KR" altLang="en-US" sz="1100" dirty="0"/>
              <a:t>하중수준이 확보된 </a:t>
            </a:r>
            <a:r>
              <a:rPr lang="en-US" altLang="ko-KR" sz="1100" dirty="0"/>
              <a:t>1</a:t>
            </a:r>
            <a:r>
              <a:rPr lang="ko-KR" altLang="en-US" sz="1100" dirty="0"/>
              <a:t>개 </a:t>
            </a:r>
            <a:r>
              <a:rPr lang="ko-KR" altLang="en-US" sz="1100" dirty="0" err="1"/>
              <a:t>부품군</a:t>
            </a:r>
            <a:endParaRPr lang="en-US" altLang="ko-KR" sz="1100" dirty="0"/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지원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유사사례 검색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 B</a:t>
            </a:r>
            <a:r>
              <a:rPr kumimoji="0" lang="en-US" altLang="ko-KR" sz="1100" b="0" i="0" u="none" strike="noStrike" kern="1200" cap="none" spc="0" normalizeH="0" baseline="-2500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10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수명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신뢰구간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시험조건 추천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endParaRPr lang="en-US"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35000"/>
              </a:lnSpc>
              <a:spcAft>
                <a:spcPts val="500"/>
              </a:spcAft>
            </a:pP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76072" y="5111496"/>
            <a:ext cx="11039551" cy="786384"/>
          </a:xfrm>
          <a:prstGeom prst="roundRect">
            <a:avLst>
              <a:gd name="adj" fmla="val 8000"/>
            </a:avLst>
          </a:prstGeom>
          <a:solidFill>
            <a:srgbClr val="EAF3F0"/>
          </a:solidFill>
          <a:ln w="15875">
            <a:solidFill>
              <a:srgbClr val="2F8F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2375" y="5230367"/>
            <a:ext cx="1494731" cy="576071"/>
          </a:xfrm>
          <a:prstGeom prst="roundRect">
            <a:avLst>
              <a:gd name="adj" fmla="val 14605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추진전략 수립</a:t>
            </a:r>
            <a:endParaRPr sz="1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17107" y="5416967"/>
            <a:ext cx="9233924" cy="2046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 AI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분석결과는 시험담당자의 의사결정을 지원하며 실물시험과 전문가 최종판정을 대체하지 않음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909863B6-7C28-C71F-4ED5-27ACCCC6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sp>
        <p:nvSpPr>
          <p:cNvPr id="22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A-08·A-18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960559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altLang="ko-KR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시험평가는 </a:t>
            </a:r>
            <a:r>
              <a:rPr lang="ko-KR" altLang="en-US" sz="2400" b="1" spc="-20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부품군</a:t>
            </a:r>
            <a:r>
              <a:rPr lang="ko-KR" altLang="en-US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PoC</a:t>
            </a:r>
            <a:r>
              <a:rPr lang="ko-KR" altLang="en-US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에서 데이터 고속도로 기반 서비스로 확장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A는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사용환경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B는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사용환경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통합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도메인이며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상하관계가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아님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" y="1435608"/>
            <a:ext cx="5447995" cy="402336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   AI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(Physical AI)  · 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사용환경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도메인</a:t>
            </a:r>
            <a:endParaRPr sz="12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76072" y="1929384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929384"/>
            <a:ext cx="621792" cy="74980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57400"/>
            <a:ext cx="4515307" cy="422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대표작업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개발</a:t>
            </a:r>
            <a:endParaRPr sz="12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굴착기·롤러 병행 개발 — 실차 데이터 수집·고속 근사 모델(Gray box) 기반, 동작 모델 2종과 학습 프로세스 v1 확보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3236061" y="2697480"/>
            <a:ext cx="128016" cy="82296"/>
          </a:xfrm>
          <a:prstGeom prst="downArrow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6072" y="2788920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2788920"/>
            <a:ext cx="621792" cy="74980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16936"/>
            <a:ext cx="4515307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실증·표준화</a:t>
            </a:r>
            <a:endParaRPr sz="12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타 사이즈 실증으로 기종 무관 표준 프로세스 확보, 환경인지·예측 개발, 양의 전이 검증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3236061" y="3557016"/>
            <a:ext cx="128016" cy="82296"/>
          </a:xfrm>
          <a:prstGeom prst="downArrow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3648456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" y="3648456"/>
            <a:ext cx="621792" cy="74980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6472"/>
            <a:ext cx="4515307" cy="607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확장·서비스화</a:t>
            </a:r>
            <a:endParaRPr sz="12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환경 적응형 작업으로 기능 확장, 타 기종 확산, 모델·프로세스·데이터의 과제·기업지원 서비스화, 토공 파운데이션 모델 기반 확보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67627" y="1435608"/>
            <a:ext cx="5447995" cy="40233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B </a:t>
            </a:r>
            <a:r>
              <a:rPr lang="en-US" altLang="ko-KR"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시험평가 지원  </a:t>
            </a:r>
            <a:r>
              <a:rPr lang="en-US" altLang="ko-KR"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lang="ko-KR" altLang="en-US"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시험평가 도메인</a:t>
            </a:r>
            <a:endParaRPr sz="12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7627" y="1929384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7627" y="1929384"/>
            <a:ext cx="621792" cy="74980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5723" y="2057400"/>
            <a:ext cx="4515307" cy="391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데이터 정비</a:t>
            </a: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·PoC</a:t>
            </a:r>
            <a:endParaRPr kumimoji="0" lang="ko-KR" altLang="en-US" sz="125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맑은 고딕"/>
              <a:ea typeface="맑은 고딕"/>
              <a:cs typeface="맑은 고딕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392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건 후보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재선별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, 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부품군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 표준화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활용성 검증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827617" y="2697480"/>
            <a:ext cx="128016" cy="82296"/>
          </a:xfrm>
          <a:prstGeom prst="downArrow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67627" y="2788920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4A9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67627" y="2788920"/>
            <a:ext cx="621792" cy="749808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5723" y="2916936"/>
            <a:ext cx="4515307" cy="391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시험평가 </a:t>
            </a: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DX 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기반</a:t>
            </a: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자동수집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라벨링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통합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DB·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데이터 고속도로 구축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827617" y="3557016"/>
            <a:ext cx="128016" cy="82296"/>
          </a:xfrm>
          <a:prstGeom prst="downArrow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67627" y="3648456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67627" y="3648456"/>
            <a:ext cx="621792" cy="74980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5723" y="3776472"/>
            <a:ext cx="4515307" cy="391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AI 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지원 서비스</a:t>
            </a: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유사사례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·B</a:t>
            </a:r>
            <a:r>
              <a:rPr kumimoji="0" lang="en-US" altLang="ko-KR" sz="1000" b="0" i="0" u="none" strike="noStrike" kern="1200" cap="none" spc="0" normalizeH="0" baseline="-2500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10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시험조건 추천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검증분야 단계 확대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4544568"/>
            <a:ext cx="11039551" cy="566928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072" y="4544568"/>
            <a:ext cx="50292" cy="5669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4716783"/>
            <a:ext cx="10618927" cy="2224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Phase 1(2027~2028) 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정비</a:t>
            </a: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·PoC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Phase 2(2029~2030) DX 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·AI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시스템 → </a:t>
            </a: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Phase 3(2031) SP-2 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서비스화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" y="5239512"/>
            <a:ext cx="11039551" cy="786384"/>
          </a:xfrm>
          <a:prstGeom prst="roundRect">
            <a:avLst>
              <a:gd name="adj" fmla="val 8000"/>
            </a:avLst>
          </a:prstGeom>
          <a:solidFill>
            <a:srgbClr val="EAF3F0"/>
          </a:solidFill>
          <a:ln w="15875">
            <a:solidFill>
              <a:srgbClr val="2F8F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22376" y="5358382"/>
            <a:ext cx="932688" cy="554229"/>
          </a:xfrm>
          <a:prstGeom prst="roundRect">
            <a:avLst>
              <a:gd name="adj" fmla="val 15904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리포트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예정</a:t>
            </a:r>
            <a:endParaRPr sz="1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83080" y="5415303"/>
            <a:ext cx="9667951" cy="434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비교데이터가 없는 신규 부품의 수명 직접예측</a:t>
            </a: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해석데이터가 필요한 취약부위</a:t>
            </a: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고장위치 예측</a:t>
            </a: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신규 </a:t>
            </a:r>
            <a:r>
              <a:rPr lang="ko-KR" altLang="en-US"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고장메커니즘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서로 다른 </a:t>
            </a:r>
            <a:r>
              <a:rPr lang="ko-KR" altLang="en-US"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부품군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간 </a:t>
            </a:r>
            <a:r>
              <a:rPr lang="ko-KR" altLang="en-US"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외삽은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수행하지 않음</a:t>
            </a:r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0CFDDCCA-1A2C-3214-E9B6-D2F657B3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sp>
        <p:nvSpPr>
          <p:cNvPr id="40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60"/>
          <p:cNvSpPr/>
          <p:nvPr/>
        </p:nvSpPr>
        <p:spPr>
          <a:xfrm>
            <a:off x="6242291" y="5390780"/>
            <a:ext cx="5322410" cy="548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66927" y="411480"/>
            <a:ext cx="10347999" cy="43864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0D2D49"/>
                </a:solidFill>
                <a:latin typeface="Noto Sans CJK KR"/>
              </a:defRPr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제조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AX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를 넘어 건설기계 특화 공간지능으로 확장</a:t>
            </a:r>
            <a:endParaRPr sz="2000" b="1" spc="-30" dirty="0">
              <a:solidFill>
                <a:srgbClr val="0F2B46"/>
              </a:solidFill>
              <a:latin typeface="+mn-ea"/>
              <a:cs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7627" y="1322858"/>
            <a:ext cx="9367405" cy="3034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15000"/>
              </a:lnSpc>
              <a:defRPr sz="1600" b="1">
                <a:solidFill>
                  <a:srgbClr val="239369"/>
                </a:solidFill>
                <a:latin typeface="Noto Sans CJK KR"/>
              </a:defRPr>
            </a:pPr>
            <a:r>
              <a:rPr lang="ko-KR" altLang="en-US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제조 </a:t>
            </a:r>
            <a:r>
              <a:rPr lang="en-US" altLang="ko-KR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AI </a:t>
            </a:r>
            <a:r>
              <a:rPr lang="ko-KR" altLang="en-US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파운데이션모델 → 제조</a:t>
            </a:r>
            <a:r>
              <a:rPr lang="en-US" altLang="ko-KR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·</a:t>
            </a:r>
            <a:r>
              <a:rPr lang="ko-KR" altLang="en-US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사용환경 </a:t>
            </a:r>
            <a:r>
              <a:rPr lang="ko-KR" altLang="en-US" sz="1600" b="1" dirty="0" err="1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통합표현</a:t>
            </a:r>
            <a:r>
              <a:rPr lang="ko-KR" altLang="en-US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 → 도메인 월드모델 → 공간지능</a:t>
            </a:r>
            <a:endParaRPr sz="1600" b="1" dirty="0">
              <a:solidFill>
                <a:srgbClr val="1B4F8A"/>
              </a:solidFill>
              <a:latin typeface="Noto Sans CJK KR"/>
              <a:ea typeface="맑은 고딕"/>
              <a:cs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847" y="2090466"/>
            <a:ext cx="3250692" cy="887935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 3차원 공간·시간·상호작용을 이해하고</a:t>
            </a:r>
            <a:br>
              <a:rPr sz="1200" dirty="0">
                <a:latin typeface="+mn-ea"/>
              </a:rPr>
            </a:br>
            <a:r>
              <a:rPr sz="1200" dirty="0">
                <a:latin typeface="+mn-ea"/>
              </a:rPr>
              <a:t>행동에 따른 결과를 예측하는 AI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 단순 검출·분류를 넘어 공간관계와</a:t>
            </a:r>
            <a:br>
              <a:rPr sz="1200" dirty="0">
                <a:latin typeface="+mn-ea"/>
              </a:rPr>
            </a:br>
            <a:r>
              <a:rPr sz="1200" dirty="0">
                <a:latin typeface="+mn-ea"/>
              </a:rPr>
              <a:t>동적 변화를 해석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093909"/>
            <a:ext cx="11048695" cy="377851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" y="3093909"/>
            <a:ext cx="54864" cy="377851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7" y="3182625"/>
            <a:ext cx="10607040" cy="24711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440" b="1">
                <a:solidFill>
                  <a:srgbClr val="0D2D49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제조 AI 파운데이션모델</a:t>
            </a:r>
            <a:r>
              <a:rPr lang="ko-KR" altLang="en-US" sz="1300" dirty="0">
                <a:latin typeface="+mn-ea"/>
              </a:rPr>
              <a:t>을</a:t>
            </a:r>
            <a:r>
              <a:rPr lang="en-US" altLang="ko-KR" sz="1300" dirty="0">
                <a:latin typeface="+mn-ea"/>
              </a:rPr>
              <a:t> </a:t>
            </a:r>
            <a:r>
              <a:rPr lang="ko-KR" altLang="en-US" sz="1300" dirty="0">
                <a:latin typeface="+mn-ea"/>
              </a:rPr>
              <a:t>기반으로 </a:t>
            </a:r>
            <a:r>
              <a:rPr sz="1300" dirty="0">
                <a:latin typeface="+mn-ea"/>
              </a:rPr>
              <a:t>제조–사용환경 통합 도메인으로</a:t>
            </a:r>
            <a:r>
              <a:rPr lang="ko-KR" altLang="en-US" sz="1300" dirty="0">
                <a:latin typeface="+mn-ea"/>
              </a:rPr>
              <a:t>의 확장을 위한 후속 플랜</a:t>
            </a:r>
            <a:endParaRPr sz="1300" dirty="0"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87628" y="2017556"/>
            <a:ext cx="3445131" cy="960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4490759" y="2087600"/>
            <a:ext cx="3250692" cy="716478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부품</a:t>
            </a:r>
            <a:r>
              <a:rPr lang="en-US" altLang="ko-KR" sz="1200" dirty="0">
                <a:latin typeface="+mn-ea"/>
              </a:rPr>
              <a:t>–</a:t>
            </a:r>
            <a:r>
              <a:rPr lang="ko-KR" altLang="en-US" sz="1200" dirty="0">
                <a:latin typeface="+mn-ea"/>
              </a:rPr>
              <a:t>장비</a:t>
            </a:r>
            <a:r>
              <a:rPr lang="en-US" altLang="ko-KR" sz="1200" dirty="0">
                <a:latin typeface="+mn-ea"/>
              </a:rPr>
              <a:t>–</a:t>
            </a:r>
            <a:r>
              <a:rPr lang="ko-KR" altLang="en-US" sz="1200" dirty="0">
                <a:latin typeface="+mn-ea"/>
              </a:rPr>
              <a:t>환경 관계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굴착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적재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운반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조립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검사 대표작업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제조 환경 </a:t>
            </a:r>
            <a:r>
              <a:rPr lang="en-US" altLang="ko-KR" sz="1200" dirty="0">
                <a:latin typeface="+mn-ea"/>
              </a:rPr>
              <a:t>+ </a:t>
            </a:r>
            <a:r>
              <a:rPr lang="ko-KR" altLang="en-US" sz="1200" dirty="0">
                <a:latin typeface="+mn-ea"/>
              </a:rPr>
              <a:t>현장 사용환경 통합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4393540" y="2014690"/>
            <a:ext cx="3445131" cy="981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576072" y="9295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dirty="0">
                <a:solidFill>
                  <a:srgbClr val="5F6B7A"/>
                </a:solidFill>
                <a:cs typeface="맑은 고딕"/>
              </a:rPr>
              <a:t>제조 </a:t>
            </a:r>
            <a:r>
              <a:rPr lang="en-US" altLang="ko-KR" sz="1500" dirty="0">
                <a:solidFill>
                  <a:srgbClr val="5F6B7A"/>
                </a:solidFill>
                <a:cs typeface="맑은 고딕"/>
              </a:rPr>
              <a:t>AI </a:t>
            </a:r>
            <a:r>
              <a:rPr lang="ko-KR" altLang="en-US" sz="1500" dirty="0">
                <a:solidFill>
                  <a:srgbClr val="5F6B7A"/>
                </a:solidFill>
                <a:cs typeface="맑은 고딕"/>
              </a:rPr>
              <a:t>파운데이션모델을 제조환경에서 사용환경까지 확장하여 인지</a:t>
            </a:r>
            <a:r>
              <a:rPr lang="en-US" altLang="ko-KR" sz="1500" dirty="0">
                <a:solidFill>
                  <a:srgbClr val="5F6B7A"/>
                </a:solidFill>
                <a:cs typeface="맑은 고딕"/>
              </a:rPr>
              <a:t>–</a:t>
            </a:r>
            <a:r>
              <a:rPr lang="ko-KR" altLang="en-US" sz="1500" dirty="0">
                <a:solidFill>
                  <a:srgbClr val="5F6B7A"/>
                </a:solidFill>
                <a:cs typeface="맑은 고딕"/>
              </a:rPr>
              <a:t>예측</a:t>
            </a:r>
            <a:r>
              <a:rPr lang="en-US" altLang="ko-KR" sz="1500" dirty="0">
                <a:solidFill>
                  <a:srgbClr val="5F6B7A"/>
                </a:solidFill>
                <a:cs typeface="맑은 고딕"/>
              </a:rPr>
              <a:t>–</a:t>
            </a:r>
            <a:r>
              <a:rPr lang="ko-KR" altLang="en-US" sz="1500" dirty="0">
                <a:solidFill>
                  <a:srgbClr val="5F6B7A"/>
                </a:solidFill>
                <a:cs typeface="맑은 고딕"/>
              </a:rPr>
              <a:t>행동 기반을 확보함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0377" y="2082362"/>
            <a:ext cx="3250692" cy="913583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품질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작업성과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에너지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위험 예측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제조 </a:t>
            </a:r>
            <a:r>
              <a:rPr lang="en-US" altLang="ko-KR" sz="1200" dirty="0">
                <a:latin typeface="+mn-ea"/>
              </a:rPr>
              <a:t>AX</a:t>
            </a:r>
            <a:r>
              <a:rPr lang="ko-KR" altLang="en-US" sz="1200" dirty="0">
                <a:latin typeface="+mn-ea"/>
              </a:rPr>
              <a:t>와 </a:t>
            </a:r>
            <a:r>
              <a:rPr lang="en-US" altLang="ko-KR" sz="1200" dirty="0">
                <a:latin typeface="+mn-ea"/>
              </a:rPr>
              <a:t>Physical AI</a:t>
            </a:r>
            <a:r>
              <a:rPr lang="ko-KR" altLang="en-US" sz="1200" dirty="0">
                <a:latin typeface="+mn-ea"/>
              </a:rPr>
              <a:t>를 잇는</a:t>
            </a:r>
            <a:br>
              <a:rPr lang="ko-KR" altLang="en-US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연결 축 확보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도메인 월드 모델 확장의 기반 마련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8153158" y="2009451"/>
            <a:ext cx="3445131" cy="968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89340" y="3548307"/>
            <a:ext cx="4572000" cy="3034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defRPr sz="1600" b="1">
                <a:solidFill>
                  <a:srgbClr val="2F8F6F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>
              <a:defRPr sz="1600" b="1">
                <a:solidFill>
                  <a:srgbClr val="239369"/>
                </a:solidFill>
                <a:latin typeface="Noto Sans CJK KR"/>
              </a:defRPr>
            </a:pPr>
            <a:r>
              <a:rPr lang="ko-KR" altLang="en-US" dirty="0">
                <a:solidFill>
                  <a:srgbClr val="1B4F8A"/>
                </a:solidFill>
              </a:rPr>
              <a:t>공간 지능 핵심 </a:t>
            </a:r>
            <a:r>
              <a:rPr dirty="0">
                <a:solidFill>
                  <a:srgbClr val="1B4F8A"/>
                </a:solidFill>
              </a:rPr>
              <a:t>구성요소</a:t>
            </a:r>
            <a:r>
              <a:rPr lang="en-US" dirty="0">
                <a:solidFill>
                  <a:srgbClr val="1B4F8A"/>
                </a:solidFill>
              </a:rPr>
              <a:t> </a:t>
            </a:r>
            <a:r>
              <a:rPr lang="ko-KR" altLang="en-US" dirty="0">
                <a:solidFill>
                  <a:srgbClr val="1B4F8A"/>
                </a:solidFill>
              </a:rPr>
              <a:t>및 대표 데이터</a:t>
            </a:r>
            <a:r>
              <a:rPr lang="en-US" altLang="ko-KR" dirty="0">
                <a:solidFill>
                  <a:srgbClr val="1B4F8A"/>
                </a:solidFill>
              </a:rPr>
              <a:t>&amp;</a:t>
            </a:r>
            <a:r>
              <a:rPr lang="ko-KR" altLang="en-US" dirty="0">
                <a:solidFill>
                  <a:srgbClr val="1B4F8A"/>
                </a:solidFill>
              </a:rPr>
              <a:t>작업</a:t>
            </a:r>
            <a:endParaRPr dirty="0">
              <a:solidFill>
                <a:srgbClr val="1B4F8A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620100" y="4256128"/>
            <a:ext cx="201168" cy="35548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1C825A"/>
                </a:solidFill>
                <a:latin typeface="Noto Sans CJK KR"/>
              </a:defRPr>
            </a:pPr>
            <a:r>
              <a:rPr dirty="0"/>
              <a:t>▶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1139" y="4324856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영상</a:t>
            </a:r>
            <a:r>
              <a:rPr lang="en-US" altLang="ko-KR" sz="1200" dirty="0">
                <a:latin typeface="+mn-ea"/>
              </a:rPr>
              <a:t>·LiDAR·CAN·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CAD·</a:t>
            </a:r>
            <a:r>
              <a:rPr lang="ko-KR" altLang="en-US" sz="1200" dirty="0">
                <a:latin typeface="+mn-ea"/>
              </a:rPr>
              <a:t>공정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시험데이터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571139" y="4251946"/>
            <a:ext cx="2009397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Rectangle 7"/>
          <p:cNvSpPr/>
          <p:nvPr/>
        </p:nvSpPr>
        <p:spPr>
          <a:xfrm>
            <a:off x="557871" y="3857772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marL="342900" indent="-342900" algn="ctr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멀티모달 데이터 </a:t>
            </a:r>
            <a:endParaRPr lang="en-US" altLang="ko-KR" sz="1300" b="1" dirty="0">
              <a:solidFill>
                <a:srgbClr val="FFFFFF"/>
              </a:solidFill>
              <a:cs typeface="맑은 고딕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연계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2846920" y="4262063"/>
            <a:ext cx="1986592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Rectangle 7"/>
          <p:cNvSpPr/>
          <p:nvPr/>
        </p:nvSpPr>
        <p:spPr>
          <a:xfrm>
            <a:off x="2833651" y="3867889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2. 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공간</a:t>
            </a: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행동 온톨로지</a:t>
            </a:r>
          </a:p>
        </p:txBody>
      </p:sp>
      <p:sp>
        <p:nvSpPr>
          <p:cNvPr id="138" name="직사각형 137"/>
          <p:cNvSpPr/>
          <p:nvPr/>
        </p:nvSpPr>
        <p:spPr>
          <a:xfrm>
            <a:off x="5061608" y="4272476"/>
            <a:ext cx="2009397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Rectangle 7"/>
          <p:cNvSpPr/>
          <p:nvPr/>
        </p:nvSpPr>
        <p:spPr>
          <a:xfrm>
            <a:off x="5048340" y="3878302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3. 3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차원 공간표현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7298709" y="4241150"/>
            <a:ext cx="2009397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Rectangle 7"/>
          <p:cNvSpPr/>
          <p:nvPr/>
        </p:nvSpPr>
        <p:spPr>
          <a:xfrm>
            <a:off x="7285441" y="3846976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4. 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도메인 월드모델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9558615" y="4210477"/>
            <a:ext cx="2009397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Rectangle 7"/>
          <p:cNvSpPr/>
          <p:nvPr/>
        </p:nvSpPr>
        <p:spPr>
          <a:xfrm>
            <a:off x="9545347" y="3816303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5. 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행동생성</a:t>
            </a: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검증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74156" y="4225356"/>
            <a:ext cx="201168" cy="35548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1C825A"/>
                </a:solidFill>
                <a:latin typeface="Noto Sans CJK KR"/>
              </a:defRPr>
            </a:pPr>
            <a:r>
              <a:rPr dirty="0"/>
              <a:t>▶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92667" y="4225115"/>
            <a:ext cx="201168" cy="33675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1C825A"/>
                </a:solidFill>
                <a:latin typeface="Noto Sans CJK KR"/>
              </a:defRPr>
            </a:pPr>
            <a:r>
              <a:rPr dirty="0"/>
              <a:t>▶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346248" y="4185261"/>
            <a:ext cx="201168" cy="35548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1C825A"/>
                </a:solidFill>
                <a:latin typeface="Noto Sans CJK KR"/>
              </a:defRPr>
            </a:pPr>
            <a:r>
              <a:rPr dirty="0"/>
              <a:t>▶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98872" y="4355082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부품</a:t>
            </a:r>
            <a:r>
              <a:rPr lang="en-US" altLang="ko-KR" sz="1200" dirty="0">
                <a:latin typeface="+mn-ea"/>
              </a:rPr>
              <a:t>–</a:t>
            </a:r>
            <a:r>
              <a:rPr lang="ko-KR" altLang="en-US" sz="1200" dirty="0">
                <a:latin typeface="+mn-ea"/>
              </a:rPr>
              <a:t>장비</a:t>
            </a:r>
            <a:r>
              <a:rPr lang="en-US" altLang="ko-KR" sz="1200" dirty="0">
                <a:latin typeface="+mn-ea"/>
              </a:rPr>
              <a:t>–</a:t>
            </a:r>
            <a:r>
              <a:rPr lang="ko-KR" altLang="en-US" sz="1200" dirty="0">
                <a:latin typeface="+mn-ea"/>
              </a:rPr>
              <a:t>환경</a:t>
            </a:r>
            <a:r>
              <a:rPr lang="en-US" altLang="ko-KR" sz="1200" dirty="0">
                <a:latin typeface="+mn-ea"/>
              </a:rPr>
              <a:t>–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작업 관계 구조화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35974" y="4368368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시공간 정합</a:t>
            </a:r>
            <a:r>
              <a:rPr lang="en-US" altLang="ko-KR" sz="1200" dirty="0">
                <a:latin typeface="+mn-ea"/>
              </a:rPr>
              <a:t>,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위치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거리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장면 표현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325651" y="4358857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품질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작업성과</a:t>
            </a:r>
            <a:r>
              <a:rPr lang="en-US" altLang="ko-KR" sz="1200" dirty="0">
                <a:latin typeface="+mn-ea"/>
              </a:rPr>
              <a:t>·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에너지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위험 예측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02419" y="4338377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작업계획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행동생성</a:t>
            </a:r>
            <a:r>
              <a:rPr lang="en-US" altLang="ko-KR" sz="1200" dirty="0">
                <a:latin typeface="+mn-ea"/>
              </a:rPr>
              <a:t>,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AI </a:t>
            </a:r>
            <a:r>
              <a:rPr lang="ko-KR" altLang="en-US" sz="1200" dirty="0">
                <a:latin typeface="+mn-ea"/>
              </a:rPr>
              <a:t>보증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재학습</a:t>
            </a:r>
          </a:p>
        </p:txBody>
      </p:sp>
      <p:sp>
        <p:nvSpPr>
          <p:cNvPr id="153" name="Rectangle 35"/>
          <p:cNvSpPr/>
          <p:nvPr/>
        </p:nvSpPr>
        <p:spPr>
          <a:xfrm>
            <a:off x="566433" y="6056393"/>
            <a:ext cx="11049190" cy="377851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749313" y="6117175"/>
            <a:ext cx="10607040" cy="2458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440" b="1">
                <a:solidFill>
                  <a:srgbClr val="0D2D49"/>
                </a:solidFill>
                <a:latin typeface="Noto Sans CJK KR"/>
              </a:defRPr>
            </a:pPr>
            <a:r>
              <a:rPr lang="ko-KR" altLang="en-US" sz="1300" dirty="0">
                <a:latin typeface="+mn-ea"/>
              </a:rPr>
              <a:t>데이터 확보 → 공간이해 → 미래예측 → 작업계획 → 행동생성 → 검증 → 재학습</a:t>
            </a:r>
          </a:p>
        </p:txBody>
      </p:sp>
      <p:sp>
        <p:nvSpPr>
          <p:cNvPr id="156" name="Rectangle 36"/>
          <p:cNvSpPr/>
          <p:nvPr/>
        </p:nvSpPr>
        <p:spPr>
          <a:xfrm>
            <a:off x="570579" y="6058918"/>
            <a:ext cx="54864" cy="377851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814680" y="5430209"/>
            <a:ext cx="3346660" cy="487313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 </a:t>
            </a:r>
            <a:r>
              <a:rPr lang="ko-KR" altLang="en-US" sz="1200" dirty="0">
                <a:latin typeface="+mn-ea"/>
              </a:rPr>
              <a:t>영상</a:t>
            </a:r>
            <a:r>
              <a:rPr lang="en-US" altLang="ko-KR" sz="1200" dirty="0">
                <a:latin typeface="+mn-ea"/>
              </a:rPr>
              <a:t>·LiDAR·</a:t>
            </a:r>
            <a:r>
              <a:rPr lang="ko-KR" altLang="en-US" sz="1200" dirty="0">
                <a:latin typeface="+mn-ea"/>
              </a:rPr>
              <a:t>장비센서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제어정보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 CAD·</a:t>
            </a:r>
            <a:r>
              <a:rPr lang="ko-KR" altLang="en-US" sz="1200" dirty="0">
                <a:latin typeface="+mn-ea"/>
              </a:rPr>
              <a:t>공정이력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시험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품질데이터</a:t>
            </a:r>
          </a:p>
        </p:txBody>
      </p:sp>
      <p:sp>
        <p:nvSpPr>
          <p:cNvPr id="158" name="Rectangle 7"/>
          <p:cNvSpPr/>
          <p:nvPr/>
        </p:nvSpPr>
        <p:spPr>
          <a:xfrm>
            <a:off x="557871" y="5016409"/>
            <a:ext cx="5334616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 데이터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557871" y="5410582"/>
            <a:ext cx="5334616" cy="548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Rectangle 7"/>
          <p:cNvSpPr/>
          <p:nvPr/>
        </p:nvSpPr>
        <p:spPr>
          <a:xfrm>
            <a:off x="6242291" y="5017896"/>
            <a:ext cx="5334616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 작업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8224144" y="5430209"/>
            <a:ext cx="3346660" cy="487313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굴착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적재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운반 등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조립 및 품질 검사</a:t>
            </a:r>
          </a:p>
        </p:txBody>
      </p:sp>
      <p:sp>
        <p:nvSpPr>
          <p:cNvPr id="59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Rectangle 7"/>
          <p:cNvSpPr/>
          <p:nvPr/>
        </p:nvSpPr>
        <p:spPr>
          <a:xfrm>
            <a:off x="4393540" y="1620517"/>
            <a:ext cx="3445131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범위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Rectangle 7"/>
          <p:cNvSpPr/>
          <p:nvPr/>
        </p:nvSpPr>
        <p:spPr>
          <a:xfrm>
            <a:off x="8153158" y="1615279"/>
            <a:ext cx="3445131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효과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587628" y="1623383"/>
            <a:ext cx="3445131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정의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8F5531-1277-AC74-B220-9A0DB21E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114789-21B2-14A3-E05F-B590F6810A42}"/>
              </a:ext>
            </a:extLst>
          </p:cNvPr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D58EF4CF-A02E-95E6-B412-CE30F4A4F737}"/>
              </a:ext>
            </a:extLst>
          </p:cNvPr>
          <p:cNvSpPr/>
          <p:nvPr/>
        </p:nvSpPr>
        <p:spPr>
          <a:xfrm>
            <a:off x="8006549" y="313880"/>
            <a:ext cx="4181330" cy="111379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endParaRPr kumimoji="1" lang="en-US" altLang="ko-KR" sz="40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이 페이지는 병렬 트랙과 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M.AX 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의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결합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kumimoji="1"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7654C99-5AFF-73D0-3BC3-3B12E3BED0BB}"/>
              </a:ext>
            </a:extLst>
          </p:cNvPr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45076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실행전략 </a:t>
            </a:r>
            <a:r>
              <a:rPr lang="en-US" altLang="ko-KR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어떻게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실행하는가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S35 M.AX 3단계 로드맵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S36 신규 대형사업 대응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S37 1순위 정부지원사업 2종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S38 대외 핵심메시지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: 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2027~2031년 3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단계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Full Stack,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국가제조라이브러리 등 국가 핵심 전략 방향에 맞춰 수주를 통해 추진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A-17·A-18·A-19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6355" y="1435608"/>
            <a:ext cx="3240275" cy="27432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1  2027–2028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4062" y="1435608"/>
            <a:ext cx="3240275" cy="274320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2  2029–2030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81769" y="1435608"/>
            <a:ext cx="1606421" cy="27432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3  2031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454045"/>
              </p:ext>
            </p:extLst>
          </p:nvPr>
        </p:nvGraphicFramePr>
        <p:xfrm>
          <a:off x="576072" y="1783080"/>
          <a:ext cx="11039547" cy="34002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53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1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 데이터 규격·MLOps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 v1·데이터레이크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실험추적·레지스트리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엣지배포·Shadow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드리프트·재학습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연계규격 v3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 공정AI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 확대·PoC 착수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공정별 기초모델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예측·최적화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 서비스화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05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  </a:t>
                      </a:r>
                      <a:r>
                        <a:rPr sz="105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5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endParaRPr sz="105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규격·백본 설계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Task 모델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사전학습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Few-shot·전이 검증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배포형 경량모델·환류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 신뢰성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적용조건·오탐/미탐 요건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프로토콜 초안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강건성·일치성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단체표준안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공인시험·KS 추진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 협력사 진단·이식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기준선·데이터 권한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품목군 이식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1차→2차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앵커→품목군→공급망→산단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 제조 암묵지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판단지점·협약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동기기록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작업지식 RAG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정량기준·현장검증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일치성 결합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 데이터 라이브러리·포털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카드규격·거버넌스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 확충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v3·국가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 지역 클러스터·산단AX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권역 현황조사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컨소시엄 설계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클러스터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허브 시범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산단</a:t>
                      </a:r>
                      <a:r>
                        <a:rPr sz="10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</a:t>
                      </a:r>
                      <a:r>
                        <a:rPr sz="10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  <a:endParaRPr sz="10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75E7E484-07E4-BD85-CC90-EF5B5BD2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대형사업을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우선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대응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2026년 8월 기준 기술수요조사 단계이며 KOCETI 제안기술 제출을 완료함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6263640"/>
            <a:ext cx="8390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※ 사업명·제안규모는 수요조사 단계 값이며 공고 확정 시 재작성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8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대형사업</a:t>
            </a:r>
            <a:r>
              <a:rPr sz="18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대응</a:t>
            </a:r>
            <a:endParaRPr sz="1800" b="1" dirty="0">
              <a:solidFill>
                <a:srgbClr val="00A5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040580"/>
              </p:ext>
            </p:extLst>
          </p:nvPr>
        </p:nvGraphicFramePr>
        <p:xfrm>
          <a:off x="576072" y="1819656"/>
          <a:ext cx="4516068" cy="28498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6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사업(가칭)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풀스택AI팩토리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기술개발사업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내역사업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기술개발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진행단계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기술수요조사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제안기술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제안기술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신규 핵심부품 비정형 제조공정 대응 학습데이터 70% 절감형 원천기술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유형·기간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원천기술형, 3년, 종료 TRL 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· AI ·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(5극3특)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35702" y="1435608"/>
            <a:ext cx="637992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진입과제 포트폴리오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235702" y="1819656"/>
          <a:ext cx="6379919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R&amp;D </a:t>
                      </a: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진입과제안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핵심기술</a:t>
                      </a:r>
                      <a:endParaRPr sz="11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endParaRPr sz="11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주관·핵심참여 후보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 활용 AI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주강 사형주조 암묵지 AI + 일치성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주관, 참여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 AI팩토리 핵심기술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 기반·MLOps·도메인 벤치마크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 후보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제조 안전 시스템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강건성·폴백 검증 + 위험공정 로봇안전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 후보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업종별 AI 생산성 향상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공정AI 모델 이식·확산, SP 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4764024"/>
            <a:ext cx="11039551" cy="603504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4764024"/>
            <a:ext cx="50292" cy="603504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4837176"/>
            <a:ext cx="1061892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주관 우선 — 데이터 규격·신탁, 신뢰성 검증, 도메인 벤치마크 (공공재·시험평가 성격)   |   참여 우선 — 개별 공정모델, 암묵지, 업종별 현장확산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5513832"/>
            <a:ext cx="11039551" cy="493776"/>
          </a:xfrm>
          <a:prstGeom prst="rect">
            <a:avLst/>
          </a:prstGeom>
          <a:solidFill>
            <a:srgbClr val="DB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5513832"/>
            <a:ext cx="50292" cy="49377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5586984"/>
            <a:ext cx="1061892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본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사업은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 「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확보」의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진입경로에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해당함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S37)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CDC974C6-9895-1006-5257-D9C59876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암묵지와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공동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1순위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사업으로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대응함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두 사업 모두 정부 제조AI 정책의 핵심 대형사업이며, KOCETI 역할과 진입경로가 상호 보완적임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A-04·A-15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435608"/>
            <a:ext cx="5447995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527048"/>
            <a:ext cx="51553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1순위 ①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 암묵지 활용 제조AI 모델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4114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명장·숙련공 노하우의 데이터셋 전환 대규모 사업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7627" y="1435608"/>
            <a:ext cx="5447995" cy="65836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13931" y="1527048"/>
            <a:ext cx="51553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1순위 ②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기술개발</a:t>
            </a:r>
            <a:endParaRPr sz="14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5915" y="2148840"/>
            <a:ext cx="54114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풀스택AI팩토리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제조AI파운데이션모델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기술개발사업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90978"/>
              </p:ext>
            </p:extLst>
          </p:nvPr>
        </p:nvGraphicFramePr>
        <p:xfrm>
          <a:off x="576072" y="2459736"/>
          <a:ext cx="5447994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2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근거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 2030 전략 「기초」 단계 대규모 사업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제조기업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KOCETI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데이터화·검증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자산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작업로깅·주강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현직·퇴직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명장·공정·품질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전문가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확보·운영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기업·OEM·협회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경력·사례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보상·IP·NDA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협약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차별점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교차검증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일치성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블라인드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전략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67627" y="2459736"/>
          <a:ext cx="5447994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2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근거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 2030 전략 「고도화」 단계 핵심사업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역할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공통기반 — 주관·핵심참여 후보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5개사,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차별점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 제조환경 대응, 학습데이터 70% 절감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 시점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기술수요조사 제출 완료, 공고 시 대응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전략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76072" y="4983480"/>
            <a:ext cx="11039551" cy="658368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4983480"/>
            <a:ext cx="50292" cy="65836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5056632"/>
            <a:ext cx="10618927" cy="512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두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사업은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경쟁관계가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상호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공급관계임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생산한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데이터셋이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파운데이션모델의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고유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학습자산이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되고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백본이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모델의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5733288"/>
            <a:ext cx="11039551" cy="420624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" y="5733288"/>
            <a:ext cx="50292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5806440"/>
            <a:ext cx="10618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 대응체계 — 컨소시엄 구성·데이터 IP 조건·KOCETI 역할범위를 동일 기준으로 사전 확정함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78296AC9-B1B3-56C3-A8FA-E4216E70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9448495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5000"/>
              </a:lnSpc>
              <a:spcAft>
                <a:spcPts val="200"/>
              </a:spcAft>
            </a:pPr>
            <a:r>
              <a:rPr sz="26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KOCETI가 지향하는 Dark Factory는</a:t>
            </a:r>
          </a:p>
          <a:p>
            <a:pPr algn="ctr">
              <a:lnSpc>
                <a:spcPct val="145000"/>
              </a:lnSpc>
              <a:spcAft>
                <a:spcPts val="200"/>
              </a:spcAft>
            </a:pPr>
            <a:r>
              <a:rPr sz="26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사람이 빠진 공장이 아니라</a:t>
            </a:r>
          </a:p>
          <a:p>
            <a:pPr algn="ctr">
              <a:lnSpc>
                <a:spcPct val="14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숙련기술이 데이터로 계승된 공장입니다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55510"/>
            <a:ext cx="2997098" cy="143560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4155510"/>
            <a:ext cx="299709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1056" y="4365822"/>
            <a:ext cx="255818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5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1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정부 제조AI 2030·M.AX 정책에 부응하여
생태계 AX를 지원하는 전문연구기관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7298" y="4155510"/>
            <a:ext cx="2997098" cy="143560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97298" y="4155510"/>
            <a:ext cx="299709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16754" y="4365822"/>
            <a:ext cx="255818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5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사람</a:t>
            </a:r>
            <a:endParaRPr sz="1250" b="1" dirty="0">
              <a:solidFill>
                <a:srgbClr val="00A5B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명장·숙련공의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암묵지를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AI로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보존·계승하고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사람은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AI를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가르치고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검증·감독함</a:t>
            </a:r>
            <a:endParaRPr sz="1150" b="0" dirty="0">
              <a:solidFill>
                <a:srgbClr val="D5DE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22996" y="4155510"/>
            <a:ext cx="2997098" cy="143560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22996" y="4155510"/>
            <a:ext cx="299709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2452" y="4365822"/>
            <a:ext cx="255818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5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안전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1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위험·고강도 공정은 AI·로봇으로 전환하여
작업자의 안전을 확보함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79008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7C93AB"/>
                </a:solidFill>
                <a:latin typeface="맑은 고딕"/>
                <a:ea typeface="맑은 고딕"/>
                <a:cs typeface="맑은 고딕"/>
              </a:rPr>
              <a:t>한국건설기계연구원  |  AI working group  |  2026. 8.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210312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>
                <a:solidFill>
                  <a:srgbClr val="3A4C5E"/>
                </a:solidFill>
                <a:latin typeface="맑은 고딕"/>
                <a:ea typeface="맑은 고딕"/>
                <a:cs typeface="맑은 고딕"/>
              </a:rPr>
              <a:t>APPENDIX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상세 근거자료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416052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solidFill>
                  <a:srgbClr val="9EAFC0"/>
                </a:solidFill>
                <a:latin typeface="맑은 고딕"/>
                <a:ea typeface="맑은 고딕"/>
                <a:cs typeface="맑은 고딕"/>
              </a:rPr>
              <a:t>질의 대응용 자료이며 순차 발표하지 않음
본편 장표의 ▸ 상세 A-nn 표기로 호출함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1783080"/>
            <a:ext cx="18288" cy="3291840"/>
          </a:xfrm>
          <a:prstGeom prst="rect">
            <a:avLst/>
          </a:prstGeom>
          <a:solidFill>
            <a:srgbClr val="2A3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43800" y="18288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18470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정부 정책 및 신규사업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1856231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A-01 ~ A-04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304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대상 산업·생태계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2313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A-05 ~ A-06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7432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7614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KOCETI 보유자산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27706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A-07 ~ A-09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2004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218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기술·데이터·모델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32278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A-10 ~ A-13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6576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675887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기업지원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36850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A-14 ~ A-16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148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133087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실행·관리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41422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A-17 ~ A-22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5720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4590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참고자료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4599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A-23 ~ A-24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6583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A-L0  부록 간지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색인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부록 색인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자료명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참조위치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. 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A-i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591056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18488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 2030 전략 요지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1379" y="161848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1975104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2029968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200253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M.AX 현장성과 및 향후계획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1379" y="200253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2359152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2414016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2386584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정책–로드맵 대응관계 매핑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1379" y="2386584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S06 / S12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2743200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2798064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2770632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신규사업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개요</a:t>
            </a:r>
            <a:endParaRPr sz="10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91379" y="2770632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⚠ S08·S23·S36·S37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" y="3127248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" y="3182112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3154679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대상 생태계 및 공급망 구조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1379" y="3154679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S07 / S26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" y="3511296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356616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3538727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산업별 공통공정 및 우선 AX 영역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1379" y="3538727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S07 / S24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3895344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" y="3950207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35607" y="3987743"/>
            <a:ext cx="3573475" cy="162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종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상세</a:t>
            </a:r>
            <a:endParaRPr sz="10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91379" y="392277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S14 / S16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" y="4279392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85800" y="4334255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5607" y="4306824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 표준 프로세스 SP-1·2·3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1379" y="430682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S15·S18·S24·S31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" y="4663440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85800" y="4718303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5607" y="4690872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인력·인프라 현황 및 역량 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1379" y="4690872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⚠ S17 / S19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" y="5047488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85800" y="5102351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35607" y="5074920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제조·시험 공통 데이터 규격 S-E-F-C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1379" y="5074920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S15 / S21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" y="5431536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85800" y="548640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35607" y="5458968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공정AI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16종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카탈로그</a:t>
            </a:r>
            <a:endParaRPr sz="10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91379" y="545896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" y="5815584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85800" y="5870448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35607" y="584301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개발구성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국내외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동향</a:t>
            </a:r>
            <a:endParaRPr sz="10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91379" y="584301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S08 / S23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67628" y="1591056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77356" y="164592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7164" y="1618488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 검증영역 8종 및 검증체계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82935" y="161848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67628" y="1975104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277356" y="2029968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7164" y="200253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앵커 협력사 포트폴리오 T0/T1/T2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82935" y="200253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⚠ S25 / S26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2359152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277356" y="2414016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27164" y="2386584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 암묵지 전환 절차 및 산출물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82935" y="2386584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S27 / S37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67628" y="2743200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277356" y="2798064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27164" y="2770632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공개등급 G1~G4 및 포털 3단계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82935" y="2770632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7628" y="3127248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6277356" y="3182112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7164" y="3154679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연차별 총괄표 (1/2) 전략 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82935" y="3154679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S35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67628" y="3511296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277356" y="356616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27164" y="3538727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연차별 총괄표 (2/2) 전략 2·병렬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82935" y="3538727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⚠ S29·S31·S32·S35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67628" y="3895344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277356" y="3950207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27164" y="392277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의사결정 게이트 G0~G5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82935" y="392277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S35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67628" y="4279392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277356" y="4334255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27164" y="4306824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KPI 6군 상세 및 측정원칙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82935" y="4306824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67628" y="4663440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277356" y="4718303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27164" y="4690872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리스크 전체 목록 및 대응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82935" y="4690872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67628" y="5047488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6277356" y="5102351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7164" y="5074920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향후 검증 필요사항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82935" y="5074920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67628" y="5431536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277356" y="548640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27164" y="5458968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근거자료 목록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82935" y="545896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67628" y="5815584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6277356" y="5870448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27164" y="584301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용어 정의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82935" y="584301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「제조AI 2030 전략」 요지 (2026.6.29, 범부처 합동)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민·관 합동 20조 원 투자, 제조업 부가가치 100조 원 이상 창출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15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산업통상부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인공지능이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이끄는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제조업의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대전환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2030년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청사진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나왔다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」(2026.6.29)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S06 / 본보고서 부록 B-1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609344"/>
          <a:ext cx="11039550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4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2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 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제조데이터 라이브러리(제조AX 데이터 라이브러리) 구축 — 부처별 데이터 연계, 보안·비식별화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데이터 라이브러리·연계규격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 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물리법칙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장비·로봇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제조 백본·현장적응 기술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 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클러스터 조성 — 산업단지 중심 확산, 위험공정 AI 대체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전북 권역 클러스터 진입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→ 고도화 → 확산 → 생태계 조성 4단계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로드맵 3단계와 대응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단계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 수집, 제조 암묵지 데이터 전환 대규모 사업, 경량~범용 모델 단계별 구축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데이터 / 전략 2 암묵지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고도화 단계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AI에이전트, 제조 특화 휴머노이드, 제조 피지컬AI, 풀스택 AI팩토리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단계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지역산단별 M.AX 클러스터, 실증 테스트베드·엣지컴퓨팅센터, 상생형 AI 스마트공장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산단AX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생태계 단계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제조AX 민간투자 확대, 제조AX 인증, 국민성장펀드 연계, 석·박사 인력양성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인력양성·기업 사업화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산업부 AI팩토리 제조데이터셋, 과기정통부 AI허브, 중기부 KAMP를 라이브러리로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상호운용 규격 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관련사업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개발사업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(2027~2031,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데이터셋·벤치마크 공급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현장성과 및 향후계획 (2026.8.4, 산업통상부)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수치는 모두 국가사업 실적·목표이며 KOCETI 자체 목표치가 아님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자료: 산업통상부 「제조업 AI 대전환(M.AX), 현장에서 성과로 답하다」(2026.8.4)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S06 / 본보고서 부록 B-2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609344"/>
          <a:ext cx="11039549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91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4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3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현황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로드맵 시사점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 지원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선도 프로젝트를 통해 170여 개 사업장 AX 지원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검증된 모델의 협력사 이식체계 필요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점검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착수 42개 사업장 기준 생산성 평균 30.1% 향상, 불량률 평균 15.5% 감소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국가사업 성과 사례로만 활용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얼라이언스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출범 8개월 만에 1,500여 개 기관, 11개 분과 체계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대표기관 지위 확보 필요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 성과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 검사시간 33% 단축, 자동차 검사시간 90% 단축, 조선 생산성 50% 향상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업종별 대표 Use Case 확보 필요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 확산목표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 500개 구축, AX 실증산단 25개로 확대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앵커→산단 확산경로 설계 필요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창원·광주 등 10개 실증산단 + 신규 3개, MINI Alliance 출범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전북 권역 진입경로 확보 필요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명장·숙련공 경험·노하우 데이터셋 변환 및 AI 모델·솔루션 개발·검증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기업지원 핵심트랙으로 선점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AI팩토리·암묵지 사업 데이터를 국가 제조데이터 라이브러리에 집적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가능한 구축규격 필요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 AI팩토리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개입 없이 AI가 전 공정을 자율운영하는 핵심기술 개발·실증·수출상품화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Dark Factory 지향과 동일방향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RFM(Robot Foundation Model), 업종별 특화 휴머노이드, 온디바이스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파운데이션모델형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개발이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주류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아카데미, 지역별 AX/DX협업지원센터, M.AX 토크콘서트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도메인·데이터·검증 결합형 양성 참여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국민성장펀드–M.AX 프론티어 프로젝트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실증·사업화 자금연계 경로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국가 제조AI 정책과 본 로드맵의 대응관계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정책의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4단계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추진구조와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본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로드맵의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2대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전략·병렬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트랙이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단계별로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대응함</a:t>
            </a:r>
            <a:endParaRPr sz="12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S06·S12 / 본보고서 1-3, 부록 B-4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Chevron 8"/>
          <p:cNvSpPr/>
          <p:nvPr/>
        </p:nvSpPr>
        <p:spPr>
          <a:xfrm>
            <a:off x="576072" y="1645920"/>
            <a:ext cx="1978837" cy="548640"/>
          </a:xfrm>
          <a:prstGeom prst="chevron">
            <a:avLst/>
          </a:prstGeom>
          <a:solidFill>
            <a:srgbClr val="95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기초</a:t>
            </a:r>
          </a:p>
        </p:txBody>
      </p:sp>
      <p:sp>
        <p:nvSpPr>
          <p:cNvPr id="10" name="Chevron 9"/>
          <p:cNvSpPr/>
          <p:nvPr/>
        </p:nvSpPr>
        <p:spPr>
          <a:xfrm>
            <a:off x="2353741" y="1645920"/>
            <a:ext cx="1978837" cy="548640"/>
          </a:xfrm>
          <a:prstGeom prst="chevron">
            <a:avLst/>
          </a:prstGeom>
          <a:solidFill>
            <a:srgbClr val="838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고도화</a:t>
            </a:r>
          </a:p>
        </p:txBody>
      </p:sp>
      <p:sp>
        <p:nvSpPr>
          <p:cNvPr id="11" name="Chevron 10"/>
          <p:cNvSpPr/>
          <p:nvPr/>
        </p:nvSpPr>
        <p:spPr>
          <a:xfrm>
            <a:off x="4131411" y="1645920"/>
            <a:ext cx="1978837" cy="548640"/>
          </a:xfrm>
          <a:prstGeom prst="chevron">
            <a:avLst/>
          </a:prstGeom>
          <a:solidFill>
            <a:srgbClr val="71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</a:t>
            </a:r>
          </a:p>
        </p:txBody>
      </p:sp>
      <p:sp>
        <p:nvSpPr>
          <p:cNvPr id="12" name="Chevron 11"/>
          <p:cNvSpPr/>
          <p:nvPr/>
        </p:nvSpPr>
        <p:spPr>
          <a:xfrm>
            <a:off x="5909081" y="1645920"/>
            <a:ext cx="1978837" cy="548640"/>
          </a:xfrm>
          <a:prstGeom prst="chevron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9186" y="2212848"/>
            <a:ext cx="18288" cy="274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6072" y="2505456"/>
            <a:ext cx="1704517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 1 데이터 규격·MLOps
전략 2 암묵지 디지털화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505456"/>
            <a:ext cx="1704517" cy="73152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8296" y="2212848"/>
            <a:ext cx="18288" cy="274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445181" y="2505456"/>
            <a:ext cx="1704517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파운데이션모델·신뢰성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 </a:t>
            </a:r>
            <a:r>
              <a:rPr lang="en-US"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45181" y="2505456"/>
            <a:ext cx="1704517" cy="731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57406" y="2212848"/>
            <a:ext cx="18288" cy="274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14291" y="2505456"/>
            <a:ext cx="1704517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 2 앵커 → 품목군 → 공급망 → 산단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4291" y="2505456"/>
            <a:ext cx="1704517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26516" y="2212848"/>
            <a:ext cx="18288" cy="274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83401" y="2505456"/>
            <a:ext cx="1704517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도메인 데이터 라이브러리
인력양성·사업화 연계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3401" y="2505456"/>
            <a:ext cx="1704517" cy="73152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76072" y="3511296"/>
          <a:ext cx="7311846" cy="25054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0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로드맵 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제조데이터 라이브러리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데이터 구축규격·카탈로그·연계체계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 데이터 전환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판단–근거 데이터화, 작업지식 AI, 일치성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파운데이션·경량모델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제조 백본, 도메인 벤치마크, 어댑터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 AI팩토리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공정AI → 공정 간 연계 → 자율제조 단계별 지향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위험공정 AI·로봇 대체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주조·단조·용접·도장 안전 중심 자동화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클러스터·지역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 → 품목군 → 공급망 → 지역 산단 4단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 인력·전문기업 육성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 인력·조직 확충, 외부 전문기업·대학 협력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피지컬AI 원천·기반기술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 트랙 자율작업·공간지능 기반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 원칙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1480" y="1975104"/>
            <a:ext cx="3584143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31480" y="1975104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4359" y="2020824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 추진순서와 본 로드맵 단계가 일치함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1480" y="2487168"/>
            <a:ext cx="358414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31480" y="2487168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4359" y="2532888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 핵심과제별 KOCETI 대응항목을 1:1로 배정함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1480" y="2999232"/>
            <a:ext cx="3584143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31480" y="2999232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4359" y="3044952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국가 라이브러리는 원본 이전이 아닌 메타데이터 연계로 참여함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31480" y="3511296"/>
            <a:ext cx="358414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31480" y="3511296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4359" y="3557016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암묵지 트랙은 국가 대규모 사업과 직결되므로 선점이 필요함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31480" y="4023360"/>
            <a:ext cx="3584143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31480" y="4023360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4359" y="4069080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산단AX는 앵커 실증 → 산단 확산의 경로 설계가 전제임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1480" y="4535424"/>
            <a:ext cx="358414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31480" y="4535424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14359" y="4581144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파운데이션모델은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대형사업이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진입경로임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031480" y="5047488"/>
            <a:ext cx="3584143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31480" y="5047488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4359" y="5093208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피지컬AI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원천기술은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트랙으로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대응함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031480" y="5559552"/>
            <a:ext cx="358414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31480" y="5559552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14359" y="5605272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 수치는 국가사업 실적이며 목표로 전용하지 않음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353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「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풀스택AI팩토리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제조AI파운데이션모델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기술개발사업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」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개요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2026년 8월 기준 기술수요조사 단계, KOCETI 제안기술 제출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 「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기술개발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」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기술수요조사서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(KOCETI, 2026.8)  ⚠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대외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배포본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제외</a:t>
            </a:r>
            <a:endParaRPr sz="9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S08·S23·S36·S37 / 본보고서 3-5, 7-1, 부록 B-3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591056"/>
            <a:ext cx="11039551" cy="3657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제안기술명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기계장비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건설기계·농기계·특장차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핵심부품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제조공정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대응을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위한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70%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절감형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원천기술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  <a:endParaRPr sz="11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6072" y="2084831"/>
            <a:ext cx="5447995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2084831"/>
            <a:ext cx="1852318" cy="2834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2121408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세부사업명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2982" y="2085424"/>
            <a:ext cx="3284780" cy="4037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풀스택AI팩토리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제조AI파운데이션모델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기술개발사업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6072" y="2489780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2526356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내역사업명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2982" y="2526356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기술개발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6072" y="2894729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2931305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산업기술분류 1순위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982" y="2931305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기계·소재 / 산업·일반기계 / 산업·일반기계관련 S/W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3299677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3336253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산업기술분류 2순위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2982" y="3336253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정보통신 / 소프트웨어 / SW솔루션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" y="3704626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3741202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제안기술 유형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2982" y="3741202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원천기술형 (종료 TRL 5단계)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109574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" y="4146150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기술준비도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2982" y="4146150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시작 TRL 3  →  종료 TRL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" y="4514523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6" y="4551099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총 개발기간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2982" y="4551099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3년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7627" y="2084831"/>
            <a:ext cx="5447995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7627" y="2084831"/>
            <a:ext cx="1852318" cy="2834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3931" y="2121408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정부지원연구개발비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4538" y="2121408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460억 원 규모 (제안 기준, 확정 시 변동)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7627" y="2489780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13931" y="2526356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M.AX 연계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4538" y="2526356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해당 — 대형 기계장비 제조데이터·AI 공통 활용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7627" y="2894729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13931" y="2931305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연계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4538" y="2931305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해당 — 기타 AI 연계 기술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7627" y="3299677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13931" y="3336253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지역(5극3특) 연계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4538" y="3336253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해당 — 전북 군산·익산·완주·김제 실증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7627" y="3704626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13931" y="3741202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참여 희망분야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4538" y="3741202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④ 기계장비 / 농기계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67627" y="4109574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13931" y="4146150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참여 의향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4538" y="4146150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참여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67627" y="4514523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13931" y="4551099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로드맵 연계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4538" y="4551099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 「3-5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」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진입경로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76072" y="5084064"/>
            <a:ext cx="11039551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76072" y="5084064"/>
            <a:ext cx="50292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816" y="5212079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70% 절감은 수요조사 제출값이며 사업 확정 시 재검토 대상임. 대외 문서에는 「산업 공통 제조AI 기반 확보」로 일반화하여 기재함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대상 생태계 및 공급망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1·2차 중소·중견 협력사를 핵심 지원대상으로 하고 OEM은 요구사항·품질이력 연계 대상으로 설정함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S07·S26 / 본보고서 4-2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2057400"/>
            <a:ext cx="1242913" cy="822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소재·소재부품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endParaRPr sz="1150" b="1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855561" y="2404872"/>
            <a:ext cx="201168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93305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93305" y="2057400"/>
            <a:ext cx="1242913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84745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2차 협력사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주조·단조·가공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72794" y="2404872"/>
            <a:ext cx="201168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10538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10538" y="2057400"/>
            <a:ext cx="1242913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1978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1차 협력사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모듈·제관·유압·구동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90028" y="2404872"/>
            <a:ext cx="201168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7772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7772" y="2057400"/>
            <a:ext cx="1242913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9212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OEM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완성장비·완성차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407261" y="2404872"/>
            <a:ext cx="201168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45005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45005" y="2057400"/>
            <a:ext cx="1242913" cy="822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6445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현장운용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품질·보증 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1859" y="3246120"/>
            <a:ext cx="4950311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91859" y="3300984"/>
            <a:ext cx="49503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◀ 피드백 — 필드클레임·보증이력을 공정조건과 연결 (점선 처리)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6072" y="3749039"/>
          <a:ext cx="7311845" cy="151866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7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제품·부품 특성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공통 공정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 AX 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대형·후육재, 다품종, 고하중 구조·유압부품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주조·단조·열처리·가공·용접·제관·검사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비전·3D검사, 용접, 하부주행체, 신뢰성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계절수요, 다기종, 주물·기어·동력전달 부품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주조·단조·기어가공·열처리·조립·검사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주조·기어 품질, 열처리, 공구수명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특장차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주문형·다품종 소량, 차체·탑·작업장치 제관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절단·성형·용접·제관·도장·조립·기능안전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용접품질·변형, 로봇궤적, 도장·검사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계층별 지원내용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1480" y="1975104"/>
            <a:ext cx="3584143" cy="6035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31480" y="1975104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4359" y="2048256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2차 협력사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뿌리공정 데이터 수집체계, 주조·단조·열처리 PoC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2633472"/>
            <a:ext cx="3584143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31480" y="2633472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4359" y="2706624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1차 협력사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공정진단, 비전·3D 검사 AI 이식, SP-1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1480" y="3291840"/>
            <a:ext cx="3584143" cy="6035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31480" y="3291840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4359" y="3364992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OEM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 AI 판정의 제3자 검증, 적용조건 제공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3950208"/>
            <a:ext cx="3584143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31480" y="3950208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4359" y="4023360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현장운용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필드클레임·보증이력을 공정조건과 연결한 인과분석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1480" y="4608576"/>
            <a:ext cx="3584143" cy="6035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31480" y="4608576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14359" y="4681728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확산단위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앵커기업 → 동일 품목군 → 공급망 → 지역 산단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1480" y="5266944"/>
            <a:ext cx="3584143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31480" y="5266944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14359" y="5340096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원칙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원본 비공개, 메타데이터 연계, 등급별 신탁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산업별 공통공정 및 우선 AX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건설기계에서 확보한 기술을 농기계·특장차 공통 공정으로 확장함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S07·S24 / 본보고서 4-2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49" cy="1682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5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제품·부품 특성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공통 공정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 AX 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대형·후육재, 다품종, 고하중 구조·유압부품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주조·단조·열처리·가공·용접·제관·검사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비전·3D검사, 용접, 하부주행체, 유압, 신뢰성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계절수요, 다기종, 주물·기어·동력전달 부품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주조·단조·기어가공·열처리·조립·검사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주조·기어 품질, 열처리, 공구수명, OEM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특장차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주문형·다품종 소량, 차체·탑·작업장치 제관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절단·성형·용접·제관·도장·조립·기능안전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용접품질·변형, 로봇궤적, 도장·검사, 안전검증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72" y="3401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표준 공정코드 P1 ~ P16   (3개 산업 공통 공정 = Blue / 산업 특화 공정 = Slate)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 소재입고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72017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P2 절단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P3 성형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3909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P4 주조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9855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P5 단조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55801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P6 열처리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747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P7 정밀가공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47693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P8 표면처리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P9 용접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72017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P10 제관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7963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P11 도장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3909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P12 조립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P13 검사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5801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P14 시험평가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1747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P15 포장·출하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47693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P16 필드운용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956048"/>
            <a:ext cx="11039551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4956048"/>
            <a:ext cx="50292" cy="914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" y="5084064"/>
            <a:ext cx="1061892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특장차 반영원칙 —  ① 별도 기업·공정 데이터가 충분하지 않으므로 독립 수치·성과목표를 임의 설정하지 않음   ② 건설기계의 대형 제관·다층용접·변형예측·3D 형상검사 기술을 특장차 공통 공정으로 확장   ③ 김제 특장차 산업단지를 기업수요 발굴과 기능안전·신뢰성 연계 거점으로 검토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353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lang="ko-KR" altLang="en-US"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과제 진행중인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종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상세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lang="en-US" altLang="ko-KR"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2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기존 과제 수행을 통해 확보 진행중이거나 보유중인 </a:t>
            </a:r>
            <a:r>
              <a:rPr lang="en-US" altLang="ko-KR" sz="12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2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 상황</a:t>
            </a:r>
            <a:endParaRPr sz="12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S14·S16 / 본보고서 3-2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371201"/>
              </p:ext>
            </p:extLst>
          </p:nvPr>
        </p:nvGraphicFramePr>
        <p:xfrm>
          <a:off x="576072" y="1609344"/>
          <a:ext cx="11039549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5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보유모델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수준·데이터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확장방향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로드맵 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 소량 부품 품질검사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수요기업 비전모델, 2026.10 이후 현장 데이터 유입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동일기업 다품종 → 신규 부품·기업 → 지속학습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공정AI 1차 진입모델, SP-1 실증단위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 굴착기 부품 인식·용접·검사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과제(2025.9~2028.12) 수행 중, 공동연구기관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인식 데이터셋 → 영상 AI 품질판단 → 로봇 PAUT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제조환경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학습원천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 자율작업</a:t>
                      </a:r>
                      <a:r>
                        <a:rPr lang="en-US" altLang="ko-KR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Physical AI</a:t>
                      </a:r>
                      <a:r>
                        <a:rPr lang="en-US" altLang="ko-KR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버킷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궤적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다짐·경로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추종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제조로봇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궤적·조건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학습으로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위험공정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예측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수소 엔진 연비</a:t>
                      </a:r>
                      <a:r>
                        <a:rPr lang="en-US" altLang="ko-KR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1000" b="0" dirty="0" err="1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배출물질량</a:t>
                      </a: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 예측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열역학</a:t>
                      </a:r>
                      <a:r>
                        <a:rPr lang="en-US" altLang="ko-KR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물리 법칙 반영 → 최적화 기능으로의 확장 → 최적 구동 조건 제안하는 지능형 모델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최적화 방안 및 모델 전이 방법론 제시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76072" y="5266944"/>
            <a:ext cx="11039551" cy="8595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5266944"/>
            <a:ext cx="50292" cy="85953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5394959"/>
            <a:ext cx="10618927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다기종 굴착기 부품 AI의 KOCETI 수행범위 —  ① 굴착기 제조공정 프로세스 기술조사   ② 부품 인식·위치추정 데이터 항목 정의 및 AI 모델 기술조사   ③ 학습데이터 수집 하드웨어 선정   ④ 데이터 수집 서버·DBMS 환경 구축   ⑤ 부품 인식 AI 학습용 기초 데이터셋 구축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프로세스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SP-1 · SP-2 · SP-3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기업별 일회성 구축이 아니라 동일 공정·품목군으로 반복 이식 가능한 절차로 운영함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S15·S18·S24·S31 / 본보고서 3-2 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 정의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975104"/>
          <a:ext cx="5447994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1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표준절차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이식단위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SP-1 제조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 → 적응학습 → 검증 → 현장적용 → 실패데이터 재확보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1개사 × 부품군 1개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SP-2 시험평가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자동수집 → 전처리·라벨 → 전문가 검토 → 분석 → AI 추천 → 시험설계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시험항목 또는 부품군 1개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SP-3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→ Gray-box 근사 → 강화학습 → Sim-to-Real → 실물 미세조정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작업유형 1개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보강사항 및 적용대상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67627" y="1975104"/>
          <a:ext cx="5447994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0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보강사항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품목별 판정 임계값 설정절차 추가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앵커 5개사 → 동일 품목군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전문가 검토이력·신뢰도·버전관리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시험평가인증센터 부품 신뢰성시험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제조로봇·위험공정 적용조건 정의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 (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4023360"/>
            <a:ext cx="11039551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4023360"/>
            <a:ext cx="50292" cy="65836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4151376"/>
            <a:ext cx="10618927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 백본 확보 이후에는 소량 데이터 Few-shot·PEFT 적응을 SP-1의 기본 이식방식으로 적용함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4828032"/>
            <a:ext cx="11039551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4828032"/>
            <a:ext cx="50292" cy="65836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4956048"/>
            <a:ext cx="10618927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SP-3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모델개발은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본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보고서의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제조AX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전략과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분리된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트랙에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해당하며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참조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리포트에서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기술함</a:t>
            </a:r>
            <a:endParaRPr sz="13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인력·인프라 현황 및 역량 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인력 약 8명의 과도기를 전제로 Phase 1 수행범위를 관리함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S17·S19 / 본보고서 3-2 다·라, 3-7 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altLang="ko-KR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현황 및 진단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17639"/>
              </p:ext>
            </p:extLst>
          </p:nvPr>
        </p:nvGraphicFramePr>
        <p:xfrm>
          <a:off x="576072" y="1975104"/>
          <a:ext cx="5447994" cy="309194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7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지능제어 3, 시스템설계 2, 친환경동력 1, 기반기술 2 등 약 8명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과도기 2~3년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연구지원 인프라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기반기술 분야 총 57종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학습자산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을 위한 자동화 등 필요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 장비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2종, 롤러 4종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Sim-to-Real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시험·인증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나포 시험평가인증센터, 가속수명·피로, HILS/VILS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가능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컴퓨팅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워크스테이션, 광명 RTX A4000급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MLOps·스토리지 부족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부서·과제별 분산, 분류기준 상이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학습활용여부부터 점검필요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진행과제 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과제 수집 서버·DBMS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DB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선행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역량 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67627" y="1975104"/>
          <a:ext cx="5447995" cy="30363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필요역량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확보방식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비전AI·시계열·강화학습·Sim-to-Real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보유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인력 중심 고도화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신뢰성·수명분석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강점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시험평가인증 기반 특화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Point Cloud·CAD·GD&amp;T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내부역량 + 상용도구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물리지식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갭 큼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생기원·대학 협력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MLOps·데이터 엔지니어링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갭 큼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전담인력 또는 전문기업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파운데이션모델·멀티모달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갭 큼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백본 + 대형사업 컨소시엄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거버넌스 / 포털 / LLM·RAG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갭 중간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부서 연계·외주·외부 협업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6072" y="5131341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인력 확보 우선순위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lang="ko-KR" altLang="en-US" sz="1050" b="1" dirty="0" err="1">
                <a:solidFill>
                  <a:srgbClr val="FFFFFF"/>
                </a:solidFill>
                <a:cs typeface="맑은 고딕"/>
              </a:rPr>
              <a:t>멀티모달</a:t>
            </a:r>
            <a:r>
              <a:rPr lang="en-US" altLang="ko-KR" sz="1050" b="1" dirty="0">
                <a:solidFill>
                  <a:srgbClr val="FFFFFF"/>
                </a:solidFill>
                <a:cs typeface="맑은 고딕"/>
              </a:rPr>
              <a:t>·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050" b="1" dirty="0">
                <a:solidFill>
                  <a:srgbClr val="FFFFFF"/>
                </a:solidFill>
                <a:cs typeface="맑은 고딕"/>
              </a:rPr>
              <a:t>파운데이션모델</a:t>
            </a:r>
            <a:endParaRPr sz="10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437333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뿌리공정 도메인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8594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AI 신뢰성·품질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9855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3D·생성AI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1116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</a:t>
            </a:r>
            <a:r>
              <a:rPr lang="en-US" altLang="ko-KR" sz="1050" b="1" dirty="0">
                <a:solidFill>
                  <a:srgbClr val="FFFFFF"/>
                </a:solidFill>
                <a:cs typeface="맑은 고딕"/>
              </a:rPr>
              <a:t>LM·</a:t>
            </a:r>
            <a:r>
              <a:rPr lang="ko-KR" altLang="en-US" sz="1050" b="1" dirty="0">
                <a:solidFill>
                  <a:srgbClr val="FFFFFF"/>
                </a:solidFill>
                <a:cs typeface="맑은 고딕"/>
              </a:rPr>
              <a:t>지식공학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82378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lang="en-US" altLang="ko-KR" sz="1050" b="1" dirty="0">
                <a:solidFill>
                  <a:srgbClr val="FFFFFF"/>
                </a:solidFill>
                <a:cs typeface="맑은 고딕"/>
              </a:rPr>
              <a:t>⑥ </a:t>
            </a:r>
            <a:r>
              <a:rPr lang="ko-KR" altLang="en-US" sz="1050" b="1" dirty="0">
                <a:solidFill>
                  <a:srgbClr val="FFFFFF"/>
                </a:solidFill>
                <a:cs typeface="맑은 고딕"/>
              </a:rPr>
              <a:t>데이터 엔지니어링</a:t>
            </a:r>
            <a:r>
              <a:rPr lang="en-US" altLang="ko-KR" sz="1050" b="1" dirty="0">
                <a:solidFill>
                  <a:srgbClr val="FFFFFF"/>
                </a:solidFill>
                <a:cs typeface="맑은 고딕"/>
              </a:rPr>
              <a:t>·</a:t>
            </a:r>
            <a:r>
              <a:rPr lang="en-US" altLang="ko-KR" sz="1050" b="1" dirty="0" err="1">
                <a:solidFill>
                  <a:srgbClr val="FFFFFF"/>
                </a:solidFill>
                <a:cs typeface="맑은 고딕"/>
              </a:rPr>
              <a:t>MLOps</a:t>
            </a:r>
            <a:endParaRPr lang="en-US" altLang="ko-KR" sz="1050" b="1" dirty="0">
              <a:solidFill>
                <a:srgbClr val="FFFFFF"/>
              </a:solidFill>
              <a:cs typeface="맑은 고딕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제조·시험 공통 데이터 규격 S-E-F-C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시험데이터 구조를 제조공정 전반에 적용 가능한 4계층으로 일반화함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S15·S21 / 본보고서 3-3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627632"/>
            <a:ext cx="1704517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627632"/>
            <a:ext cx="1704517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792224"/>
            <a:ext cx="1448485" cy="817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22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S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Set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설정값·레시피·제어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45181" y="1627632"/>
            <a:ext cx="1704517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45181" y="1627632"/>
            <a:ext cx="1704517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73197" y="1792224"/>
            <a:ext cx="14484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220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E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Environment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온도·습도·소재·작업환경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4291" y="1627632"/>
            <a:ext cx="1704517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4291" y="1627632"/>
            <a:ext cx="1704517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2307" y="1792224"/>
            <a:ext cx="1448485" cy="817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22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F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Feedback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센서·영상·하중·에너지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3401" y="1627632"/>
            <a:ext cx="1704517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3401" y="1627632"/>
            <a:ext cx="1704517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1417" y="1792224"/>
            <a:ext cx="14484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220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C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Conclusion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검사·결함·수명·품질결과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2779776"/>
            <a:ext cx="2327554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072" y="2779776"/>
            <a:ext cx="45720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852928"/>
            <a:ext cx="2016658" cy="351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공정코드</a:t>
            </a:r>
            <a:endParaRPr sz="10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주요 공정 </a:t>
            </a:r>
            <a:r>
              <a:rPr lang="en-US" altLang="ko-KR"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lang="ko-KR" altLang="en-US"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종 </a:t>
            </a:r>
            <a:endParaRPr sz="9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068218" y="2779776"/>
            <a:ext cx="2327554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68218" y="2779776"/>
            <a:ext cx="45720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51098" y="2852928"/>
            <a:ext cx="201665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추적등급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로트 L1 / 개체 L2 / 위치 L3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60364" y="2779776"/>
            <a:ext cx="2327554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60364" y="2779776"/>
            <a:ext cx="45720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43244" y="2852928"/>
            <a:ext cx="2016658" cy="351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시간동기</a:t>
            </a:r>
            <a:endParaRPr sz="10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다양한 센서 및 입력정보간 동기화</a:t>
            </a:r>
            <a:endParaRPr sz="9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6072" y="3493008"/>
          <a:ext cx="7311845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3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구성요소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목표상태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스키마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S-E-F-C 태깅, 공정코드, 로트·개체 추적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 관통 제조데이터 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시간동기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PTP/NTP,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동기오차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필수기록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공정조건–검사결과 위치·시점 연결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1차 라벨 → 전문가 검토 → 확정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검토 포함 고품질 라벨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생성기준·검토여부·수정이력·신뢰도·버전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재현성과 책임추적 확보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상호운용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OPC UA · ISO 23247 인터페이스 매핑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라이브러리 연계 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거버넌스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공개등급, 익명화, 재식별 검토, 표준계약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IP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신탁기반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 원칙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1480" y="1975104"/>
            <a:ext cx="3584143" cy="530352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31480" y="1975104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4359" y="2029968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시험데이터 구조를 제조 전반으로 일반화함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2578608"/>
            <a:ext cx="358414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31480" y="2578608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4359" y="2633472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산업별 명칭 차이는 유지하되 공통 공정코드로 비교 가능성 확보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1480" y="3182112"/>
            <a:ext cx="3584143" cy="530352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31480" y="3182112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4359" y="3236976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라벨은 자동 1차 생성 후 반드시 전문가 검토를 거침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3785616"/>
            <a:ext cx="358414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31480" y="3785616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4359" y="3840480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생성·검토·수정 이력을 버전으로 관리함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1480" y="4389120"/>
            <a:ext cx="3584143" cy="530352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31480" y="4389120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14359" y="4443984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OPC UA·ISO 23247로 기업·산업 간 확산성을 확보함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1480" y="4992624"/>
            <a:ext cx="358414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31480" y="4992624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14359" y="5047488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공개등급과 표준계약으로 기업 데이터 IP를 보호함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공정AI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16종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카탈로그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종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고도화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뿌리공정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PoC +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비파괴검사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신설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공통자산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3종으로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구성함</a:t>
            </a:r>
            <a:endParaRPr sz="12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S22 / 본보고서 3-4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49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6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5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핵심기능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 적용산업·공정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다품종 소량 부품 품질검사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 데이터 외관결함 판정·지속학습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산업 공통 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고도화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2D/3D 형상검사·CAD 편차 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2D 영상·3D Scan–CAD 정합, 다중시점·열보정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가공·제관 부품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초음파(UT/PAUT)·방사선(RT) 비파괴검사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초음파 이미지·RT 영상 기반 내부결함 판정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주조·후육 용접부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CAD 기반 합성 학습데이터 생성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양산 전 검사모델 사전준비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신규·수주형 부품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도메인 벤치마크·어댑테이션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조명·극소결함·대형물 표준평가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공통자산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공통자산화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정밀가공 공구마모·잔여수명 예측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공구·소재 조합별 교체시점 예측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기어·유압·정밀가공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열처리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⑦ 에너지·공정조건 최적화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강종·장입조건별 레시피 추천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기어·축·하부주행체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열처리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⑧ 경화층·경도 물리정보 대리모델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FEM–실측 결합, 이상로트 선별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열처리 품질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⑨ 후판 다층용접 품질 실시간 판정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전기신호 기반 패스별 품질판정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건설기계·특장차 제관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⑩ 대형 구조물 용접변형·순서 최적화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열–탄소성 해석·대리모델·순서 추천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붐·암·프레임·특장 구조물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⑪ 단조금형 마모·수명 예측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하중곡선–스트로크 잔여타수 예측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하부주행체·기어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⑫ 용탕상태 추정·응고 대리모델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열화상·음향·온도 추정 및 결함예측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하우징·주강·농기계 주물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⑬ 제조로봇 궤적·조건 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Gray-box·RL·Sim-to-Real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대형·후육재 용접·검사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⑭ 숙련공 암묵지 작업지식 에이전트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기반 작업질의·판단근거 제시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주조·단조·용접·후가공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⑮ 시험평가 데이터 자동수집·라벨링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자동수집·전문가 검토·고장모드 정비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신뢰성시험·SP-2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고도화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⑯ 제조AI 신뢰성 검증 프로토콜·도구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강건성·불확실성·재현성·명장 일치성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모델·시험평가인증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공통자산화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개발구성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국내외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동향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자체 대규모 사전학습이 아니라 외부 백본 + 도메인 추가학습 + 어댑터 방식을 채택함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S08·S23 / 본보고서 3-5 나·라</a:t>
            </a:r>
            <a:endParaRPr sz="9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 구성 6요소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975104"/>
          <a:ext cx="5447993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8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구성요소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멀티모달 통합표현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2D 영상·3D 형상·CAD·설비 시계열·공정·품질정보 통합표현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멀티모달 표현모델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Manufacturing Backbone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산업 제조공정 공통 특성 사전학습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제조 백본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Task 적용기술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식별, 외관·용접 결함검사, 이상탐지, 조립상태, 품질예측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AI Task 모델군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신속재학습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 Learning, Domain Adaptation, PEFT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현장적응 기술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데이터 지속학습, Edge·On-Premise 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배포형 추론·학습 환경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 적용성 및 건설기계↔농기계↔특장차 전이성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적용성·전이성 검증보고서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국내·외 동향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67627" y="1975104"/>
          <a:ext cx="5447993" cy="3145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62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동향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시사점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피지컬AI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전략과 정책 추진순서 일치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사업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2025년부터 MFM 기반 SDM 플랫폼(총 292억 원) 추진, 자동차·정유석유화학·반도체장비 적용·검증 중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구조물·비정형 공정 기계장비 분야 공백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지멘스–마이크로소프트, 3D 모델·2D 도면·산업데이터·기술사양 통합 Industrial Foundation Model 개발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 고유 데이터 학습형이 글로벌 경쟁축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엔비디아, 제조 디지털트윈–Physical AI 연계로 공장·로봇 가상 학습·검증 후 실제 운영 연결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 분석모델 → 공통지능·자율운영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OPC UA, ISO 23247 기반 데이터·인터페이스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기업·산업 간 확산성 확보 전제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5193792"/>
            <a:ext cx="11039551" cy="89611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5193792"/>
            <a:ext cx="50292" cy="89611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5321807"/>
            <a:ext cx="10618927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정량목표 학습데이터 70% 이상 절감   |   기술준비도 TRL 3 → 5   |   학습데이터 원천  비전 AI 실증 5개사 · 다기종 굴착기 부품 과제 · 시험평가 데이터 · 협력사 공정진단 데이터</a:t>
            </a:r>
          </a:p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※ 70%는 수요조사 제안값이며 사업 확정 시 재검토 대상임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신뢰성 검증영역 8종 및 검증체계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시험평가인증 기반으로 AI가 작동할 수 있는 조건과 한계를 검증함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S21 / 본보고서 3-6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7311846" cy="30906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검증영역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적용대상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조명·자세·소재·설비 변동에 따른 성능저하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비전·3D·공정모델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불확실성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신뢰구간의 실제 포함률과 보정상태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수명·대리모델·품질예측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입력·동일 조건 반복 시 출력 일관성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오탐·미탐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미검출과 과검출을 분리한 현장영향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일반화·전이성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부품·기업·산업 적용 시 성능유지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파운데이션모델·어댑터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판단 일치성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판정과 AI 출력의 블라인드 비교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암묵지·공정조건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폴백·안전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드리프트·센서 이상 시 바이패스·사람개입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배포모델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비파괴검사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후판 용접부 PAUT 등 AI 검사 성능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용접·제관 공정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76072" y="4864608"/>
            <a:ext cx="7311847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4864608"/>
            <a:ext cx="50292" cy="10058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4992624"/>
            <a:ext cx="6891223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검증결과를 모델카드와 기업 적용조건에 결합하여 OEM·협력사가 AI 판정을 채택할 수 있는 신뢰근거를 제공함. 검증항목·방법·보고형식을 단체표준으로 제안하고 KS 추진을 검토함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검증체계 흐름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1975104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1.  적용조건 정의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1480" y="1975104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9777831" y="2450592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1480" y="2542032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2.  기준선·검증셋 구성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1480" y="2542032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9777831" y="3017520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31480" y="3108960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3.  강건성·불확실성·재현성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1480" y="3108960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9777831" y="3584448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31480" y="3675887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4.  전문가·명장 블라인드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1480" y="3675887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9777831" y="4151375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31480" y="4242816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5.  폴백·안전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1480" y="4242816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9777831" y="4718304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31480" y="4809744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6.  검증결과·적용범위 명시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1480" y="4809744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Down Arrow 30"/>
          <p:cNvSpPr/>
          <p:nvPr/>
        </p:nvSpPr>
        <p:spPr>
          <a:xfrm>
            <a:off x="9777831" y="5285231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31480" y="5376672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7.  단체표준·KS 제안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1480" y="5376672"/>
            <a:ext cx="45720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앵커 협력사 포트폴리오 T0 / T1 /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후보기업의 참여의향과 데이터 제공조건은 확정 전이며 내부 사업발굴용임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⚠ 대외 배포본 전면 제외 장표 — 기업명은 원내 버전에서도 「참여의향 미확정」 표기 필수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S25·S26 / 본보고서 4-4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티어링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" y="1975104"/>
          <a:ext cx="5447992" cy="212077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9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티어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추진시기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데이터 접점 보유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 AI 실증 5개사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기준선·모델검증·SP-1 확립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공정·품목군 이식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주조·단조·유압·제관 후보군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2027–2029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PoC·품목군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심화·신규산업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 후보군·지역 클러스터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2029–2031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농기계·산단 단위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76072" y="3767328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진입 논리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169663"/>
            <a:ext cx="526511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T0는 협력사 현장데이터에 접근할 수 있는 현재의 핵심 경로임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T0 실적을 표준 진단·이식·검증 절차의 레퍼런스로 자산화함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하부롤러 실증을 동일 품목군 이식의 첫 후보경로로 검토함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암묵지 확인 앵커는 T0 외 예외경로로 2027년 병렬 착수를 검토함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농기계는 건설기계 검증모델 기반으로 진입위험을 최소화함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굴착기 혼류생산 과제 제관·용접 라인을 비정형 공정 레퍼런스로 활용함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4단 확산경로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67627" y="1975104"/>
          <a:ext cx="5447992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0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확산단위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핵심조건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대표성과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접근권·현장책임자·기준선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적용·검증 레퍼런스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품목군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공정·결함·검사기준 정합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 기반 모델 이식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로트·개체 추적, OEM 품질요구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공정–필드 품질이력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산단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인프라·컨소시엄·운영주체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산단 공동 데이터 허브·공통모델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167627" y="4169663"/>
            <a:ext cx="5447995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7627" y="4169663"/>
            <a:ext cx="50292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5371" y="4297679"/>
            <a:ext cx="5027371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확산 전제조건 —  기업별 데이터 제공의향과 IP 조건이 착수 전 합의되어야 하며, G4(비공개) 선택이 사업배제 사유가 되지 않도록 설계함. OEM 연계는 원본이 아닌 로트·품질이력과 검증결과 중심으로 추진함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 암묵지 전환 절차 및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단순 모방이 아니라 「왜 그렇게 판단했는지」 설명 가능한 데이터를 구축함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⚠ 대외 배포본에서는 기업명을 삭제하고 「직접 조사로 숙련자 협조가 확인된 주조 공정」으로 일반화함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S27·S37 / 본보고서 4-5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609344"/>
          <a:ext cx="7311845" cy="2724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45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0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판단지점 발굴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품질·안전·조건변경 시 숙련자 개입지점 확인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 공정지도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동기기록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영상·열화상·음향·센서·작업행동·언어설명 동기화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판단–근거 데이터셋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지식화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용어정리, 출처연결, 모호성·예외조건 기록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작업지식 그래프·RAG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모델화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조건추천·이상판단·로봇궤적·비언어 가이던스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공정AI·작업지식 에이전트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판단과 AI 출력 블라인드 비교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일치성·적용범위 보고서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전수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질의·교육·작업지원과 피드백 반영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지속갱신형 지식체계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4425696"/>
            <a:ext cx="7311847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기본원칙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828032"/>
            <a:ext cx="712896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단순 모방 모델이 아니라 어떤 상황에서 왜 판단했는지 설명 가능한 데이터 구축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위험·고강도 작업의 물리적 수행은 AI·로봇이 대체하되 숙련자는 기준설정·검증·예외판단에 참여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공식 명장 지정 여부와 별개로 실제 공정경험과 기업 협조 가능성을 착수조건으로 평가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우선 적용후보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1975104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1480" y="1975104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4359" y="2139696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주강 주조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사형주조·후가공 숙련판단 (1순위)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1480" y="2743200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31480" y="2743200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4359" y="2907792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소재·금형 상태, 하중곡선, 윤활, 교체판단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1480" y="3511296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31480" y="3511296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4359" y="3675887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열처리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강종·장입·가열·냉각조건과 레시피 조정근거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1480" y="4279392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31480" y="4279392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14359" y="4443983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용접·제관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패스순서·입열·자세·변형교정·결함징후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1480" y="5047488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31480" y="5047488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4359" y="5212079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도장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표면상태·점도·환경조건·도막 품질 판단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공개등급 G1~G4 및 포털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원본은 보호하고 메타데이터를 공개하는 신탁형 운영체계임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S28 / 본보고서 4-6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공개등급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975104"/>
          <a:ext cx="5447994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33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노출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제공조건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G1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메타데이터, 데이터 카드, 스키마, 익명화·합성 샘플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자유열람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G2 협의 제공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목적심의 후 제공 가능한 원본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목록·규격 공개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심의 + NDA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G3 제한 제공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제공사 개별동의가 필요한 원본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존재사실만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기업별 추가승인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비공개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외부제공 거부 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미노출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승인 연구만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3950208"/>
            <a:ext cx="544799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3950208"/>
            <a:ext cx="50292" cy="5120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4078224"/>
            <a:ext cx="502737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협력사가 G4를 선택해도 사업배제 사유가 되지 않도록 설계함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443984"/>
            <a:ext cx="5447995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보호체계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6072" y="4809744"/>
          <a:ext cx="5447994" cy="1453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적용방안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암호화·비식별화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저장·전송 암호화, 식별정보 비식별 처리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접근통제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보안과제 지정 시 접근자 제한·접근기록 보관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유출방지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해외 반출 통제, 반출 이력 추적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자산가치 보호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간 공유·이전 시 원 제공사 권리 보전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전문인력 관리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취급자 지정·교육·서약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포털 단계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67627" y="1975104"/>
          <a:ext cx="5447993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15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주요기능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 카탈로그, 데이터 카드, 구축규격, 문의경로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 신청·심의, NDA·계약, 클린룸, 검색·필터, 제공이력, 모델카드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제조데이터 라이브러리 메타데이터 연계, 영구 식별자, 벤치마크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167627" y="3712463"/>
            <a:ext cx="5447995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체계 연계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7627" y="4133087"/>
            <a:ext cx="2397117" cy="548640"/>
          </a:xfrm>
          <a:prstGeom prst="roundRect">
            <a:avLst>
              <a:gd name="adj" fmla="val 8000"/>
            </a:avLst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KOCETI 도메인
데이터 라이브러리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8646465" y="4334256"/>
            <a:ext cx="237744" cy="146304"/>
          </a:xfrm>
          <a:prstGeom prst="left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18505" y="4133087"/>
            <a:ext cx="2397117" cy="54864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제조데이터
라이브러리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7627" y="4754880"/>
            <a:ext cx="54479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산업부 AI팩토리 제조데이터셋 · 과기정통부 AI허브 · 중기부 KAMP 와 상호 연계
원본 이전이 아니라 메타데이터 연계·등급별 신탁 방식으로 참여함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7627" y="5230368"/>
            <a:ext cx="5447995" cy="29260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차별화 메타데이터 7종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7" y="5596128"/>
            <a:ext cx="52651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① 공급망 계층  ② 공정코드 P1~P16  ③ 추적등급 L1/L2/L3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④ 라벨 이력  ⑤ 검증결과·적용조건  ⑥ 알려진 한계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⑦ 국가 라이브러리 연계 식별자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연차별 총괄표 (1/2) 전략 1 연구원 AI 역량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셀은 「무엇을 어느 단계까지」를 기재함. 신규 목표수치는 2027년 현장진단 이후 확정함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S35 / 본보고서 6-2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214291"/>
              </p:ext>
            </p:extLst>
          </p:nvPr>
        </p:nvGraphicFramePr>
        <p:xfrm>
          <a:off x="576072" y="1609344"/>
          <a:ext cx="11039547" cy="5141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2026년 말 현 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 목표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제조·시험 공통 데이터 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시험데이터 구조만 문서화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S-E-F-C 스키마 v1·공정코드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5개사 적용·결함분류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확장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 v2·OPC UA 매핑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라이브러리 상호운용 v3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시험데이터 자동수집·라벨링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수기정리·부서별 형식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부품군 PoC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1차 라벨·전문가 검토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통합DB·고장모드 표준화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시험데이터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SP-2 서비스화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DB·MLOps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워크스테이션, 미보유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데이터레이크·버전관리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실험추적·모델 레지스트리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엣지배포·Shadow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드리프트·사람승인 재학습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모델 운영체계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 품질검사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5개사 실증 착수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동일기업 다품종 확대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부품·타 기업 적응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지속학습형 고도화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 편입·서비스화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 부품 인식·용접·검사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혼류생산 과제 1차년도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데이터셋·DBMS 구축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AI·PAUT 프로토타입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실공정 실증·성능검증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검증데이터 자산화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제관·용접 레퍼런스 편입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미보유, 수요조사 제출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규격·백본 구조 설계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Task 모델·데이터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백본 사전학습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Few-shot·PEFT·전이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배포형 경량모델·환류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3D·합성데이터 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상용도구 개별사용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검사계획·기하결함 파이프라인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다중시점 정합·재질 라이브러리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열보정·표면결함 생성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생성–선별 루프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양산 전 검사모델 사전준비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없음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수집체계·PoC 착수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공정별 기초모델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예측·최적화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모델군 라이브러리 편입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 로깅 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판단지점 발굴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판단–근거 기록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RAG·작업지식 그래프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정량기준·현장검증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일치성 결합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벤치마크·어댑터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국제 벤치마크 의존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요구조건 정의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벤치마크 v1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동결 백본·어댑터 구조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벤치마크 v2·어댑터 자산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 신뢰성 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방법론 미문서화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적용조건·오탐/미탐 요건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프로토콜 초안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강건성·불확실성·일치성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일반화·전이성·단체표준안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공인시험 서비스·KS 추진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조직·인력·인프라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 약 8명, 분산운영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조직형태·공통기능·귀속규정 확정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데이터·MLOps 인력·환경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도메인·검증인력 확대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운영역량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지속운영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조직·인프라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연차별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총괄표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(2/2)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2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기업지원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트랙의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세부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연차계획은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참조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리포트에서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확정함</a:t>
            </a:r>
            <a:endParaRPr sz="12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S29·S31·S32·S35 / 본보고서 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994780"/>
              </p:ext>
            </p:extLst>
          </p:nvPr>
        </p:nvGraphicFramePr>
        <p:xfrm>
          <a:off x="576072" y="1609344"/>
          <a:ext cx="11039547" cy="3531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2026년 말 현 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 목표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공정진단·SP 이식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5개사 실증, 확산경로 없음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기준선·데이터 권한 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품목군 이식·유압 앵커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단조·열처리 T1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1차→2차 협력사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앵커→품목군→공급망→산단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농기계·특장차 진입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 접점 부족, 특장차 데이터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접근경로·공통공정 수요조사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 진입, 김제 수요발굴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주조·열처리·용접 적용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산업별 앵커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산업 공통 지원체계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 기업지원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 로깅 과제·개별조사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 앵커 판단지점·협약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행동·환경·근거 동기기록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작업지식 RAG·공정모델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정량기준·현장검증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일치성·비언어 가이던스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데이터 라이브러리·포털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방침 수준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카드규격·운영주체·거버넌스 확정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데이터·모델 카드 확충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v2 신청·심의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v3·국가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품질이력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개별과제 접점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파일럿 협의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품질요구 정합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로트 기반 연결설계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공정–필드 품질이력 실증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공급망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클러스터·산단AX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산단 연계자산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전북·군산·김제·익산·완주 조사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컨소시엄 설계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클러스터 컨소시엄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데이터 허브 시범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산단 공동 AI 인프라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 A  AI 자율작업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SP-3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정비·데이터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파이프라인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Gray-box PoC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Sim-to-Real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실물 미세조정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실증·정량기준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B</a:t>
                      </a:r>
                      <a:r>
                        <a:rPr lang="ko-KR" altLang="en-US"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산업특화 공간지능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롱텀 미션 수준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공간·행동 온톨로지 설계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3차원 공간표현 체계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월드모델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인지–예측 연계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행동생성·AI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보증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68" y="5311140"/>
            <a:ext cx="11039551" cy="6035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68" y="5311140"/>
            <a:ext cx="50292" cy="603504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2" y="5439156"/>
            <a:ext cx="1061892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(A·B)은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1·2와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동등한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레벨의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트랙이며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단기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제조AX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실행계획에는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세부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개발항목을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포함하지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않음</a:t>
            </a:r>
            <a:endParaRPr sz="13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단계별 의사결정 게이트 G0 ~ G5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게이트 미충족 시 범위를 축소하고 다음 단계로 무리하게 진행하지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S35 / 본보고서 6-3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49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2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4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확인사항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미충족 시 조치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전략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G0 착수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2026년 하반기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조직형태, 공통기능 범위·성과귀속 규정, 데이터 접근권, 인프라 예산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범위 재조정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G1 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2027년 2분기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채널·라벨·추적등급·IP 조건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수집형 과제로 전환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1·2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G2 PoC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2028년 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기준선 대비 성능, 작업자 채택, 폴백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적용조건 축소·재수집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G3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2029년 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공정 이식성, 검증 프로토콜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개별기업 모델로 한정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1·2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공급망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2030년 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품질이력·기업동의·표준계약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연계로 범위 축소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G5 서비스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운영조직·예산·표준·보안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연구서비스 형태로 단계 운영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1·2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72" y="5084064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타임라인 상 게이트 위치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5687568"/>
            <a:ext cx="11039551" cy="5486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Diamond 11"/>
          <p:cNvSpPr/>
          <p:nvPr/>
        </p:nvSpPr>
        <p:spPr>
          <a:xfrm>
            <a:off x="677991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823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G0</a:t>
            </a:r>
          </a:p>
        </p:txBody>
      </p:sp>
      <p:sp>
        <p:nvSpPr>
          <p:cNvPr id="14" name="Diamond 13"/>
          <p:cNvSpPr/>
          <p:nvPr/>
        </p:nvSpPr>
        <p:spPr>
          <a:xfrm>
            <a:off x="2665110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3942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G1</a:t>
            </a:r>
          </a:p>
        </p:txBody>
      </p:sp>
      <p:sp>
        <p:nvSpPr>
          <p:cNvPr id="16" name="Diamond 15"/>
          <p:cNvSpPr/>
          <p:nvPr/>
        </p:nvSpPr>
        <p:spPr>
          <a:xfrm>
            <a:off x="4873020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71852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G2</a:t>
            </a:r>
          </a:p>
        </p:txBody>
      </p:sp>
      <p:sp>
        <p:nvSpPr>
          <p:cNvPr id="18" name="Diamond 17"/>
          <p:cNvSpPr/>
          <p:nvPr/>
        </p:nvSpPr>
        <p:spPr>
          <a:xfrm>
            <a:off x="6860139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8971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G3</a:t>
            </a:r>
          </a:p>
        </p:txBody>
      </p:sp>
      <p:sp>
        <p:nvSpPr>
          <p:cNvPr id="20" name="Diamond 19"/>
          <p:cNvSpPr/>
          <p:nvPr/>
        </p:nvSpPr>
        <p:spPr>
          <a:xfrm>
            <a:off x="9068049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6881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G4</a:t>
            </a:r>
          </a:p>
        </p:txBody>
      </p:sp>
      <p:sp>
        <p:nvSpPr>
          <p:cNvPr id="22" name="Diamond 21"/>
          <p:cNvSpPr/>
          <p:nvPr/>
        </p:nvSpPr>
        <p:spPr>
          <a:xfrm>
            <a:off x="11055169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54001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815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2026 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9934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7844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4963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2873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93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2031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KPI 6군 상세 및 주요 측정원칙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목표수치는 2027년 앵커 As-is 진단과 데이터 인벤토리 완료 후 확정함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본보고서 8-1·8-2·8-3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KPI 6군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975104"/>
          <a:ext cx="5447993" cy="31638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0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 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측정항목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최초 측정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관리목적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K1 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커버리지, 라벨 건수, 자동 라벨 비율, 전문가 일치도, 추적 가능비율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하반기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가능성·품질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K2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미검출·과검출, 신뢰구간 포함률, 신규품목 적응 데이터량, 망각, 조건변동 성능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1Q~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적용조건 판단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K3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지원기업·공정, SP 이식, OEM·농기계·특장차·산단 연계, 현장 채택률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2027~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이식성·확산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K4 사업·성과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과제수주·주관, IP, 기술이전, 표준, 기업지원 실적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2027~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연구원 성과·지속성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K5 신뢰성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커버리지, 재현성, 일반화·전이성, 명장 일치율, 표준 제안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2029~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판정의 신뢰근거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K6 포털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 등록, 데이터 카드 충족률, G1~G4 분포, 활용 신청·제공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2028~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신탁·활용 성과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5230368"/>
            <a:ext cx="5447995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5230368"/>
            <a:ext cx="50292" cy="87782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5358383"/>
            <a:ext cx="5027371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KPI는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부품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학습데이터량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절감률」이며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K2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군에서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관리함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완료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전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모델의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성능·규모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목표는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기재하지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않음</a:t>
            </a:r>
            <a:endParaRPr sz="13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측정원칙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7627" y="1975104"/>
            <a:ext cx="5447995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3931" y="199339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1.  미검출·과검출 분리 — 비용·안전 영향을 별도 측정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7627" y="2249424"/>
            <a:ext cx="5447995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3931" y="226771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2.  검증셋·현장 사후성능 분리 — 통제 시험과 실운용 구분 보고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7627" y="2523744"/>
            <a:ext cx="5447995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3931" y="254203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3.  불확실성 보정상태 보고 — 신뢰구간의 실제 포함률 측정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7627" y="2798064"/>
            <a:ext cx="5447995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3931" y="281635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4.  조건변동 성능 별도 보고 — 조명·자세·소재·설비·센서 변화별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7627" y="3072384"/>
            <a:ext cx="5447995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3931" y="309067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5.  학습데이터 절감률 기준 명시 — 동일 Task·동일 목표성능 조건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7627" y="3346704"/>
            <a:ext cx="5447995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3931" y="336499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6.  인프라 준비도·모델성능 분리 — 데이터 연결·배포 준비도 구분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7627" y="3621024"/>
            <a:ext cx="5447995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3931" y="363931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7.  현장 채택률 포함 — 작업자 사용·승인·바이패스 비율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7627" y="4041648"/>
            <a:ext cx="5447995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목표수치 확정절차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167627" y="4425696"/>
          <a:ext cx="5447993" cy="159042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5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9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1Q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 As-is 진단 (불량·검사시간·재작업·에너지)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기업별 기준선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2Q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인벤토리 (채널·라벨·동기·추적·IP)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준비도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3Q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기술·현장·사업 KPI 목표 1차 설정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 기준서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 이후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연차평가와 조건변동을 반영한 재조정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KPI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주요 리스크 9건 및 추가 관리 리스크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1~4순위는 로드맵 성립 자체를 좌우하는 전제조건 리스크임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⚠ 대외 배포본 전면 제외 장표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본보고서 8-4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609344"/>
          <a:ext cx="11039550" cy="3273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실증데이터 접근권 불명확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모델·전략 2 확산 전제 훼손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역할·접근·활용범위를 협약서에 명시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데이터 제공·IP 거부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데이터셋·모델 학습 제한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허용, 메타데이터 중심, 클린룸·표준계약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 약 8명의 과도기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동시다발 과제 품질·일정 위험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범위 제한, 공통기능 우선, 외부조달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전담조직 신설에 따른 수주·수행 왜곡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부서 수주 위축, 병목·귀속분쟁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공통기능 범위 한정, 수주주체 도메인 유지, 공동실적 인정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MLOps·데이터 엔지니어링 공백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재현·배포·운영 불가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2027년 우선 착수, 전담인력·전문기업 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대형사업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실행경로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상실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산업특화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파운데이션·뿌리AI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등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대체사업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병행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축소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공동학습 데이터 확보 실패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사전학습 규모 미달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합성데이터·공개데이터 보완, 산업 간 전이학습 우선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물리지식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설명력·현장성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생기원·대학 협력, 수집·PoC 선행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협조·품질이력 미확보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 연계 제한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신뢰성 검증을 교환가치로 제시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5084064"/>
            <a:ext cx="11039551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 관리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5486400"/>
            <a:ext cx="52651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실증사업과 R&amp;D 범위 중복 → 연구개발 요소 분리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로트·개체 추적체계 부재 → 추적등급 진단 후 배치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유사기관·상용솔루션 중복 → 비정형 공정·검증으로 차별화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9067" y="5486400"/>
            <a:ext cx="52651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포털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운영주체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미정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정적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카탈로그로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시작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후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확장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과도한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성능목표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전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정량수치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배제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병기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트랙·제조AX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자원경합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인력·예산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배정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향후 검증 필요사항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로드맵 확정 전 검증이 필요한 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본보고서 10장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최우선 검증 5건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데이터·기술 검증 11항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" y="1993391"/>
          <a:ext cx="5447993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8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상태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 AI 실증사업 KOCETI 역할·데이터 접근권한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미확인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데이터 제공의향과 IP 조건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미확인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착수협의 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조직형태 및 공통기능·성과귀속 규정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여부·KOCETI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수요조사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공고 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GPU·MLOps·통합DB 확보예산과 시점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미확인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기획 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67627" y="1993391"/>
          <a:ext cx="5447994" cy="27752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 기준선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불량률·검사시간·재작업·에너지·공구교체 주기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채널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센서·영상·제어·검사결과와 라벨 존재여부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추적수준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로트·개체·위치 L1/L2/L3 가능여부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프레스 하중곡선과 스트로크 위치 동기화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RT/UT/PAUT 검사결과와 용접좌표 매칭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고장메커니즘·복수 가속수준 PoC 부품군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센터·부서별 형식·고장모드 분류의 실제 차이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용접 제관물 렌더링 가능성·실효성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공동학습 최소 규모·확보 가능성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건설기계↔농기계↔특장차 공정 유사도·전이 실효성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상호운용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OPC UA·ISO 23247 기업 설비 실제 지원범위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5376672"/>
            <a:ext cx="11039551" cy="7680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5376672"/>
            <a:ext cx="50292" cy="7680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5504688"/>
            <a:ext cx="10618927" cy="512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확정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전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의사결정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9항  ·  Phase 1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조직형태·공통기능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데이터·MLOps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예산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대응체계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앵커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포털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v1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운영주체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농기계·특장차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진입기업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리포트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AI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공인서비스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전환경로</a:t>
            </a:r>
            <a:endParaRPr sz="13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근거자료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 로드맵의 정책·과제·원내·부속 리포트 근거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본보고서 부록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50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3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출처·일자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본문 활용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인공지능이 이끄는 제조업의 대전환, 2030년 청사진 나왔다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산업통상부, 2026.6.29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S06, A-01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제조업 AI 대전환(M.AX), 현장에서 성과로 답하다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산업통상부, 2026.8.4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S06, A-02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기술개발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기술수요조사서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신규사업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KOCETI, 2026.8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S08·S23·S36, A-04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로봇용접·AI PAUT 연구개발계획서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진행과제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2025.9~2028.12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S14, A-07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다기종 굴착기 부품 자동 용접·UT 검사 RFP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진행과제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2024-첨단기계-일반-13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S14, A-07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한국건설기계연구원 기술로드맵 취합 v1.1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융합연구본부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S02, A-05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구축 로드맵 Rev4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2026.7.26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구축 로드맵 연구원 롱텀 미션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2026.8.3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S31·S32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 특화 AI 모델 단기 개발 계획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S14, A-07·A-08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7 KOCETI 보유자산 진단 및 확장전략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부속 리포트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06.MAX_roadmap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S14, A-07·A-09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9 공정AI 모델 카탈로그 및 KPI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부속 리포트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06.MAX_roadmap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S22, A-11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10 데이터셋 구축규격 및 공개포털 설계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부속 리포트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06.MAX_roadmap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S28, A-10·A-16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12 앵커협력사 포트폴리오 및 OEM 연계 시나리오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부속 리포트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06.MAX_roadmap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S25·S26, A-14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(예정) AI 자율작업·산업특화 공간지능 리포트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작성범위·일정 미확정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S31·S32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주요 용어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 로드맵 전반에서 사용하는 정책·기술 용어의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전체 / 본보고서 전반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50" cy="4407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2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7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Manufacturing AI Transformation — 제조업 AI 대전환 정책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공정AX / 제품AX / 산단AX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M.AX의 적용범위 확대 단계. 개별 공정 → 완성제품 → 산업단지 단위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Dark Factory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로드맵에서는 사람이 빠진 공장이 아니라 「숙련기술이 데이터로 계승된 공장」으로 정의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 제조환경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부품, 기종별 상이한 형상, 작업위치·생산조건 변화가 커 고정형 자동화 적용이 어려운 제조환경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명장·숙련공이 보유한 문서화되지 않은 판단·작업 노하우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제조데이터 라이브러리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부처별 제조데이터를 연계·보안 관리하는 국가 데이터 집적체계 (제조AX 데이터 라이브러리)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대규모 데이터를 사전학습하여 다양한 하위 과제에 재사용 가능한 기반 AI 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Manufacturing Backbone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제조공정의 공통 특성을 사전학습한 도메인 백본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 Learning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소량의 예시 데이터만으로 신규 과제에 적응하는 학습기법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PEFT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Parameter Efficient Fine-Tuning — 모델 전체가 아닌 일부 파라미터만 조정하는 경량 재학습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/ 메모리뱅크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동결된 백본 위에 부착하는 경량 학습모듈 / 정상 특징을 저장·비교하는 참조 저장소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데이터·모델의 버전관리, 실험추적, 배포, 감시, 재학습을 체계화한 운영 방법론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Shadow Mode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판정을 실제 적용하지 않고 기존 판정과 병행 비교하여 검증하는 운영방식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S-E-F-C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Set(설정)–Environment(환경)–Feedback(응답)–Conclusion(결과) 4계층 데이터 규격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Sim-to-Real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시뮬레이션에서 학습한 모델을 실제 장비·환경에 이전 적용하는 기법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공간지능 / 월드모델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3차원 공간관계를 이해하는 능력 / 행동에 따른 미래 상태를 예측하는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4DB9-9C56-AC86-F61B-4831B8C1C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DF3362-F832-1489-857B-EC2CD86253E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A448C-1191-61E5-3B5C-644AFEA9EC1C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861468-DA61-DBF9-7DE8-0973C124DBB5}"/>
              </a:ext>
            </a:extLst>
          </p:cNvPr>
          <p:cNvSpPr txBox="1"/>
          <p:nvPr/>
        </p:nvSpPr>
        <p:spPr>
          <a:xfrm>
            <a:off x="850392" y="2103120"/>
            <a:ext cx="5943600" cy="1479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 dirty="0">
                <a:solidFill>
                  <a:srgbClr val="3A4C5E"/>
                </a:solidFill>
                <a:latin typeface="맑은 고딕"/>
                <a:ea typeface="맑은 고딕"/>
                <a:cs typeface="맑은 고딕"/>
              </a:rPr>
              <a:t>APPENDIX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lang="ko-KR" altLang="en-US" sz="3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기타</a:t>
            </a:r>
            <a:endParaRPr sz="3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55D2F4-4F84-F562-9997-D54A29CF3396}"/>
              </a:ext>
            </a:extLst>
          </p:cNvPr>
          <p:cNvSpPr txBox="1"/>
          <p:nvPr/>
        </p:nvSpPr>
        <p:spPr>
          <a:xfrm>
            <a:off x="850392" y="4160520"/>
            <a:ext cx="5943600" cy="227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lang="ko-KR" altLang="en-US" sz="1200" dirty="0">
                <a:solidFill>
                  <a:srgbClr val="9EAFC0"/>
                </a:solidFill>
                <a:latin typeface="맑은 고딕"/>
                <a:ea typeface="맑은 고딕"/>
                <a:cs typeface="맑은 고딕"/>
              </a:rPr>
              <a:t>본 보고내용에는 포함하지 않지만 의미가 있는 자료들</a:t>
            </a:r>
            <a:endParaRPr sz="1200" b="0" dirty="0">
              <a:solidFill>
                <a:srgbClr val="9EAFC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27C00-C030-DD15-319F-1AB7B9EDF738}"/>
              </a:ext>
            </a:extLst>
          </p:cNvPr>
          <p:cNvSpPr/>
          <p:nvPr/>
        </p:nvSpPr>
        <p:spPr>
          <a:xfrm>
            <a:off x="7178040" y="1783080"/>
            <a:ext cx="18288" cy="3291840"/>
          </a:xfrm>
          <a:prstGeom prst="rect">
            <a:avLst/>
          </a:prstGeom>
          <a:solidFill>
            <a:srgbClr val="2A3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965CC6-C8FE-BE15-C389-C5F704A1E12B}"/>
              </a:ext>
            </a:extLst>
          </p:cNvPr>
          <p:cNvSpPr/>
          <p:nvPr/>
        </p:nvSpPr>
        <p:spPr>
          <a:xfrm>
            <a:off x="7543800" y="18288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BC462-6547-5E25-C777-2FE683CC7961}"/>
              </a:ext>
            </a:extLst>
          </p:cNvPr>
          <p:cNvSpPr txBox="1"/>
          <p:nvPr/>
        </p:nvSpPr>
        <p:spPr>
          <a:xfrm>
            <a:off x="8156448" y="1847088"/>
            <a:ext cx="2286000" cy="229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altLang="ko-KR" sz="12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…</a:t>
            </a:r>
            <a:endParaRPr sz="1250" b="0" dirty="0">
              <a:solidFill>
                <a:srgbClr val="D5DE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06978-F47F-ABD7-23E7-B535D52A47EF}"/>
              </a:ext>
            </a:extLst>
          </p:cNvPr>
          <p:cNvSpPr txBox="1"/>
          <p:nvPr/>
        </p:nvSpPr>
        <p:spPr>
          <a:xfrm>
            <a:off x="10469880" y="1856231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A-01 ~ A-04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729405-B75A-63FC-E7E6-4D10790A99E9}"/>
              </a:ext>
            </a:extLst>
          </p:cNvPr>
          <p:cNvSpPr/>
          <p:nvPr/>
        </p:nvSpPr>
        <p:spPr>
          <a:xfrm>
            <a:off x="7543800" y="22860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7CEADF-C19C-442E-0834-3E3DFFB2337A}"/>
              </a:ext>
            </a:extLst>
          </p:cNvPr>
          <p:cNvSpPr txBox="1"/>
          <p:nvPr/>
        </p:nvSpPr>
        <p:spPr>
          <a:xfrm>
            <a:off x="8156448" y="2304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대상 산업·생태계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E36C32-5ABB-723D-22AC-503CD8FFD63F}"/>
              </a:ext>
            </a:extLst>
          </p:cNvPr>
          <p:cNvSpPr txBox="1"/>
          <p:nvPr/>
        </p:nvSpPr>
        <p:spPr>
          <a:xfrm>
            <a:off x="10469880" y="2313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A-05 ~ A-06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AA9215-BACD-037D-24DF-7A8ACF716424}"/>
              </a:ext>
            </a:extLst>
          </p:cNvPr>
          <p:cNvSpPr txBox="1"/>
          <p:nvPr/>
        </p:nvSpPr>
        <p:spPr>
          <a:xfrm>
            <a:off x="850392" y="658368"/>
            <a:ext cx="548640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 dirty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A-L</a:t>
            </a:r>
            <a:r>
              <a:rPr lang="en-US" sz="1100" b="0" dirty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0" dirty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0" dirty="0" err="1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부록</a:t>
            </a:r>
            <a:r>
              <a:rPr sz="1100" b="0" dirty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간지</a:t>
            </a:r>
            <a:endParaRPr sz="1100" b="0" dirty="0">
              <a:solidFill>
                <a:srgbClr val="6E8399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988415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로드맵 확정을 위해 5개 사항의 의사결정이 필요함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 보고의 실질 목적이며, 항목별 결정권자와 기한을 함께 확인함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1490472"/>
            <a:ext cx="11039551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" y="1490472"/>
            <a:ext cx="475488" cy="67665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581912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비전 문안 확정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후보 1 + 후보 2 병기안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8072" y="16916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</a:t>
            </a:r>
            <a:r>
              <a:rPr sz="110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sz="110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선포식·대외문서</a:t>
            </a:r>
            <a:r>
              <a:rPr sz="110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착수</a:t>
            </a:r>
            <a:r>
              <a:rPr sz="110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불가</a:t>
            </a:r>
            <a:endParaRPr sz="1100" b="0" dirty="0">
              <a:solidFill>
                <a:srgbClr val="C039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12503" y="16916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본 보고 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276856"/>
            <a:ext cx="1103955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" y="2276856"/>
            <a:ext cx="475488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368296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비전 AI 실증사업 데이터 접근권한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KOCETI 공식 역할·접근범위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4780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 시  품질검사 AI·T0 확산 전면 재설계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2503" y="247802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로드맵 확정 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063240"/>
            <a:ext cx="11039551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" y="3063240"/>
            <a:ext cx="475488" cy="67665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154680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조직형태 및 공통기능 규정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범위 한정·성과귀속 사전 확정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32644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 시  Phase 1 수행범위·과제 수주구조 혼선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2503" y="32644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2026년 9월 보고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3849624"/>
            <a:ext cx="1103955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3849624"/>
            <a:ext cx="475488" cy="67665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941063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데이터·MLOps·통합DB 예산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전담기능과 확보시점 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4050791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 시  전략 1 전체 일정 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2503" y="4050791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2027 사업기획 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636008"/>
            <a:ext cx="11039551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4636008"/>
            <a:ext cx="475488" cy="67665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27448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대응체계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컨소시엄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구성방향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확정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48072" y="483717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 시  대형사업 진입기회 상실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2503" y="48371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공고 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5513832"/>
            <a:ext cx="11039551" cy="5486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결정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이후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①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리포트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② 2027년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앵커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As-is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③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선포문·보도자료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작성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827999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수행에 대한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Risk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" y="1463040"/>
          <a:ext cx="11039549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7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8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실증데이터 접근권 불명확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모델·전략 2 확산 전제 훼손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역할·접근·활용범위를 협약서에 명시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데이터 제공·IP 거부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데이터셋·모델 학습 제한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허용, 메타데이터 중심, 클린룸·표준계약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 약 8명의 과도기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동시다발 과제 품질·일정 위험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범위 제한, 공통기능 우선, 외부조달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전담조직 신설에 따른 수주·수행 왜곡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부서 수주 위축, 병목·귀속분쟁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공통기능 범위 한정, 수주주체 도메인 유지, 공동실적 인정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MLOps·데이터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엔지니어링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공백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재현·배포·운영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불가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2027년 우선 착수, 전담인력·전문기업 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대형사업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실행경로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상실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대체사업 병행 대응, 어댑터 자산화로 축소 실행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공동학습 데이터 확보 실패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미달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합성·공개데이터 보완, 산업 간 전이학습 우선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물리지식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설명력·현장성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부족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생기원·대학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수집·PoC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선행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협조·품질이력 미확보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 연계 제한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검증을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교환가치로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제시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6072" y="5458968"/>
            <a:ext cx="11039551" cy="530352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5458968"/>
            <a:ext cx="50292" cy="530352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5532120"/>
            <a:ext cx="10618927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추가 관리 — 실증·R&amp;D 범위 중복 / 추적체계 부재 / 유사기관 중복 / 포털 운영주체 미정 / 과도한 성능목표 / 트랙 간 자원경합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FF59051-CC2F-ACEF-370D-428719F4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48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시험데이터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구조를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전반에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일반화하고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운영체계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구축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대규모 GPU 선투자가 아니라 데이터 파이프라인·경량학습을 우선함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S-E-F-C 4계층 스키마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856232"/>
            <a:ext cx="4516069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1856232"/>
            <a:ext cx="420624" cy="45720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01952"/>
            <a:ext cx="380283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Set   설비 설정값·레시피·제어입력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2386584"/>
            <a:ext cx="451606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2386584"/>
            <a:ext cx="420624" cy="45720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32304"/>
            <a:ext cx="380283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Environment   온도·습도·소재·작업환경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2916936"/>
            <a:ext cx="4516069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2916936"/>
            <a:ext cx="420624" cy="45720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962656"/>
            <a:ext cx="380283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Feedback   센서·영상·하중·에너지 응답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447288"/>
            <a:ext cx="451606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" y="3447288"/>
            <a:ext cx="420624" cy="45720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93008"/>
            <a:ext cx="380283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Conclusion   검사·결함·수명·품질결과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087368"/>
            <a:ext cx="451606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16단계 공정코드 P1~P16 + 결함 3계층 분류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로트·개체·위치 추적 L1/L2/L3 등급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OPC UA · ISO 23247 인터페이스 매핑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5702" y="1435608"/>
            <a:ext cx="637992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제조 MLOps 파이프라인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5702" y="1856232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35702" y="1856232"/>
            <a:ext cx="1980336" cy="822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27141" y="2039112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원본데이터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불변 보관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1758" y="2066544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35494" y="1856232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35494" y="1856232"/>
            <a:ext cx="1980336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26934" y="2039112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정제 데이터레이크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61550" y="2066544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35286" y="1856232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35286" y="1856232"/>
            <a:ext cx="1980336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26726" y="2039112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메타 카탈로그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35702" y="2624328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35702" y="2624328"/>
            <a:ext cx="1980336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27141" y="2807208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학습·실험 추적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261758" y="2834640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435494" y="2624328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35494" y="2624328"/>
            <a:ext cx="1980336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26934" y="2807208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 레지스트리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461550" y="2834640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35286" y="2624328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635286" y="2624328"/>
            <a:ext cx="1980336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26726" y="2807208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엣지 배포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On-Premise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35702" y="3392424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235702" y="3392424"/>
            <a:ext cx="1980336" cy="82296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27141" y="3575304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Shadow Mode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병행 검증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261758" y="3602735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435494" y="3392424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435494" y="3392424"/>
            <a:ext cx="1980336" cy="82296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26934" y="3575304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드리프트 감시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9461550" y="3602735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635286" y="3392424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635286" y="3392424"/>
            <a:ext cx="198033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26726" y="3575304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사람 승인 게이트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재학습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5702" y="4032504"/>
            <a:ext cx="637992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↺  사람 승인 후 학습·실험 추적으로 환류 (점선)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5702" y="4343400"/>
            <a:ext cx="637992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현장 적용 전 Shadow Mode로 기존 판정과의 차이 누적 검증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데이터 드리프트와 센서 열화를 구분 감시, 재학습은 사람 승인 유지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기업 데이터 반출 제약을 고려한 Edge·On-Premise 기본형 설계</a:t>
            </a:r>
          </a:p>
        </p:txBody>
      </p:sp>
      <p:sp>
        <p:nvSpPr>
          <p:cNvPr id="60" name="슬라이드 번호 개체 틀 59">
            <a:extLst>
              <a:ext uri="{FF2B5EF4-FFF2-40B4-BE49-F238E27FC236}">
                <a16:creationId xmlns:a16="http://schemas.microsoft.com/office/drawing/2014/main" id="{916D47C5-B3C7-0D19-4169-42279359D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70</a:t>
            </a:fld>
            <a:endParaRPr 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3608D36-B785-D35C-E088-3F05EF7873D0}"/>
              </a:ext>
            </a:extLst>
          </p:cNvPr>
          <p:cNvSpPr/>
          <p:nvPr/>
        </p:nvSpPr>
        <p:spPr>
          <a:xfrm rot="1935078">
            <a:off x="2880503" y="2841266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r>
              <a:rPr kumimoji="1" lang="en-US" altLang="ko-KR" sz="4000" b="1" dirty="0">
                <a:solidFill>
                  <a:srgbClr val="FF0000"/>
                </a:solidFill>
              </a:rPr>
              <a:t/>
            </a:r>
            <a:br>
              <a:rPr kumimoji="1" lang="en-US" altLang="ko-KR" sz="4000" b="1" dirty="0">
                <a:solidFill>
                  <a:srgbClr val="FF0000"/>
                </a:solidFill>
              </a:rPr>
            </a:b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이부분에 맞음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?)</a:t>
            </a:r>
            <a:endParaRPr kumimoji="1" lang="ko-KR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5241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</a:t>
            </a:r>
            <a:r>
              <a:rPr lang="ko-KR" altLang="en-US" sz="24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lang="ko-KR" altLang="en-US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위한 </a:t>
            </a:r>
            <a:r>
              <a:rPr lang="en-US" altLang="ko-KR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모델개발 전략 </a:t>
            </a:r>
            <a:r>
              <a:rPr lang="en-US" altLang="ko-KR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검증이 용이한 부분부터 접근</a:t>
            </a:r>
            <a:endParaRPr sz="24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 개발 및 생산공정 적용시 주요 검증영역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•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검증체계 기반 접근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10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637992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검증영역 8종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819656"/>
          <a:ext cx="6379920" cy="29992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2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7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조명·자세·소재·설비 변동에 따른 성능저하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불확실성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신뢰구간의 실제 포함률과 보정상태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입력·조건 반복 시 출력 일관성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오탐·미탐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미검출과 과검출을 분리한 현장영향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일반화·전이성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부품·기업·산업 적용 시 성능유지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판단 일치성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판정과 AI 출력의 블라인드 비교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폴백·안전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드리프트·센서 이상 시 바이패스·사람개입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비파괴검사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후판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용접부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PAUT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99553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검증체계 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9553" y="18196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1.  적용조건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9553" y="18196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99553" y="22768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2.  기준선·검증셋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99553" y="22768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099553" y="27340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3.  강건성·불확실성·재현성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9553" y="27340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99553" y="31912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4.  전문가·명장 블라인드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9553" y="31912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99553" y="36484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5.  폴백·안전 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99553" y="36484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99553" y="41056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6.  검증결과·적용범위 명시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9553" y="41056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99553" y="45628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7.  단체표준·KS 제안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99553" y="4562856"/>
            <a:ext cx="45720" cy="3657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" y="4937760"/>
            <a:ext cx="11039551" cy="64008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" y="4937760"/>
            <a:ext cx="50292" cy="64008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" y="5137638"/>
            <a:ext cx="10618927" cy="24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검증결과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적용조건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적용한계를 모델카드로 관리하여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OEM·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협력사의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판정 채택 근거로 활용</a:t>
            </a: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0EFD3ECF-DFC7-C43F-5BA2-6A4F955A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71</a:t>
            </a:fld>
            <a:endParaRPr 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0AB6829-9049-B054-AEE5-84201C6D145F}"/>
              </a:ext>
            </a:extLst>
          </p:cNvPr>
          <p:cNvSpPr/>
          <p:nvPr/>
        </p:nvSpPr>
        <p:spPr>
          <a:xfrm rot="1935078">
            <a:off x="2880503" y="2841266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r>
              <a:rPr kumimoji="1" lang="en-US" altLang="ko-KR" sz="4000" b="1" dirty="0">
                <a:solidFill>
                  <a:srgbClr val="FF0000"/>
                </a:solidFill>
              </a:rPr>
              <a:t/>
            </a:r>
            <a:br>
              <a:rPr kumimoji="1" lang="en-US" altLang="ko-KR" sz="4000" b="1" dirty="0">
                <a:solidFill>
                  <a:srgbClr val="FF0000"/>
                </a:solidFill>
              </a:rPr>
            </a:b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이부분에 맞음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?)</a:t>
            </a:r>
            <a:endParaRPr kumimoji="1" lang="ko-KR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5484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4445-588E-1527-4EA5-20D7155B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EE348-AE86-B5B9-99A6-A57550E9533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566A5-4F31-46E0-F51C-0BD2DA0BE876}"/>
              </a:ext>
            </a:extLst>
          </p:cNvPr>
          <p:cNvSpPr txBox="1"/>
          <p:nvPr/>
        </p:nvSpPr>
        <p:spPr>
          <a:xfrm>
            <a:off x="576072" y="393192"/>
            <a:ext cx="11039551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・수행과제의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종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을 기반으로 고도화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확장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1F969-8FD0-6D9A-1612-22340757D794}"/>
              </a:ext>
            </a:extLst>
          </p:cNvPr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연구원 자체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역량확보 전략의 세부내용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65A6D6-EBB3-570A-C194-A24697E432F9}"/>
              </a:ext>
            </a:extLst>
          </p:cNvPr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F3728-82E1-F8D1-0A64-7920C9D0FA8B}"/>
              </a:ext>
            </a:extLst>
          </p:cNvPr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10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A-07·A-09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35BE-D000-C0F0-B3F6-FFAD7AD23020}"/>
              </a:ext>
            </a:extLst>
          </p:cNvPr>
          <p:cNvSpPr txBox="1"/>
          <p:nvPr/>
        </p:nvSpPr>
        <p:spPr>
          <a:xfrm>
            <a:off x="576072" y="1435608"/>
            <a:ext cx="6379921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08B496-DC63-8DBB-7ACB-14167A900D12}"/>
              </a:ext>
            </a:extLst>
          </p:cNvPr>
          <p:cNvGraphicFramePr>
            <a:graphicFrameLocks noGrp="1"/>
          </p:cNvGraphicFramePr>
          <p:nvPr/>
        </p:nvGraphicFramePr>
        <p:xfrm>
          <a:off x="576072" y="1819656"/>
          <a:ext cx="6379920" cy="215461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4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5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수요기업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비전모델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현장데이터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  <a:endParaRPr sz="12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 굴착기 부품 인식·용접·검사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과제 수행 중 (~2028.12)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 지원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가속수명·피로시험, 부품군 PoC 계획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Physical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버킷 궤적, 롤러 다짐·경로 추종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예측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수소 엔진 연비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1200" b="0" dirty="0" err="1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배출물질량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 예측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AE8480D-5A08-52E0-7D79-D9C54840914E}"/>
              </a:ext>
            </a:extLst>
          </p:cNvPr>
          <p:cNvSpPr txBox="1"/>
          <p:nvPr/>
        </p:nvSpPr>
        <p:spPr>
          <a:xfrm>
            <a:off x="7099553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인력·인프라 진단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AA7207-4766-98F5-84D4-87CCF209CF53}"/>
              </a:ext>
            </a:extLst>
          </p:cNvPr>
          <p:cNvGraphicFramePr>
            <a:graphicFrameLocks noGrp="1"/>
          </p:cNvGraphicFramePr>
          <p:nvPr/>
        </p:nvGraphicFramePr>
        <p:xfrm>
          <a:off x="7099553" y="1819656"/>
          <a:ext cx="4516068" cy="204489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30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현황·진단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8명, 4개 부서 분산 — 과도기 2~3년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연구지원 인프라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기반기술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57종 —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시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자산화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시험·인증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시험평가인증센터 — 핵심 차별자산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컴퓨팅·데이터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워크스테이션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MLOps·공통스키마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미보유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A1B20ED-7B09-3475-E43C-AA813B5868DD}"/>
              </a:ext>
            </a:extLst>
          </p:cNvPr>
          <p:cNvSpPr/>
          <p:nvPr/>
        </p:nvSpPr>
        <p:spPr>
          <a:xfrm>
            <a:off x="7099553" y="3886200"/>
            <a:ext cx="4516069" cy="96012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6848A1-5059-A784-87D2-35C9987B8B7D}"/>
              </a:ext>
            </a:extLst>
          </p:cNvPr>
          <p:cNvSpPr/>
          <p:nvPr/>
        </p:nvSpPr>
        <p:spPr>
          <a:xfrm>
            <a:off x="7099553" y="3886200"/>
            <a:ext cx="50292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8136D-0A49-0CE4-9D1B-8F2E6D667FB3}"/>
              </a:ext>
            </a:extLst>
          </p:cNvPr>
          <p:cNvSpPr txBox="1"/>
          <p:nvPr/>
        </p:nvSpPr>
        <p:spPr>
          <a:xfrm>
            <a:off x="7337297" y="3959352"/>
            <a:ext cx="4095445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갭
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MLOps·데이터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엔지니어링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뿌리공정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물리지식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파운데이션모델·멀티모달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사전학습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CD501-E121-372E-E0D8-586493D7382B}"/>
              </a:ext>
            </a:extLst>
          </p:cNvPr>
          <p:cNvSpPr/>
          <p:nvPr/>
        </p:nvSpPr>
        <p:spPr>
          <a:xfrm>
            <a:off x="576072" y="5257800"/>
            <a:ext cx="11039551" cy="54864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AC8930-AE33-4007-E16A-70546A73F4F3}"/>
              </a:ext>
            </a:extLst>
          </p:cNvPr>
          <p:cNvSpPr/>
          <p:nvPr/>
        </p:nvSpPr>
        <p:spPr>
          <a:xfrm>
            <a:off x="576072" y="5257800"/>
            <a:ext cx="50292" cy="5486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A952B-DE1F-5B4A-A357-3F26D74BD4F2}"/>
              </a:ext>
            </a:extLst>
          </p:cNvPr>
          <p:cNvSpPr txBox="1"/>
          <p:nvPr/>
        </p:nvSpPr>
        <p:spPr>
          <a:xfrm>
            <a:off x="813816" y="5416414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현재 진행중인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관련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건의 과제는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제조환경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실증이자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구축을 위한 핵심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Seed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75181AC2-DECF-A2A3-1B87-98ADD892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72</a:t>
            </a:fld>
            <a:endParaRPr 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0E705EA-DC4B-0007-7040-E96C3348EC43}"/>
              </a:ext>
            </a:extLst>
          </p:cNvPr>
          <p:cNvSpPr/>
          <p:nvPr/>
        </p:nvSpPr>
        <p:spPr>
          <a:xfrm rot="1935078">
            <a:off x="728520" y="3750108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chemeClr val="accent1">
                    <a:lumMod val="75000"/>
                  </a:schemeClr>
                </a:solidFill>
              </a:rPr>
              <a:t>일부수정 필요</a:t>
            </a:r>
            <a:r>
              <a:rPr kumimoji="1" lang="en-US" altLang="ko-KR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/>
            </a:r>
            <a:br>
              <a:rPr kumimoji="1" lang="en-US" altLang="ko-KR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인력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인프라 진단은 </a:t>
            </a:r>
            <a:r>
              <a:rPr kumimoji="1" lang="ko-KR" altLang="en-US" b="1" dirty="0" err="1">
                <a:solidFill>
                  <a:schemeClr val="accent6">
                    <a:lumMod val="75000"/>
                  </a:schemeClr>
                </a:solidFill>
              </a:rPr>
              <a:t>빼야됨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kumimoji="1" lang="ko-KR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2595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사업지원을 위한 정량적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KPI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구축의 예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6개군으로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관리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주요 사업에서 제시되는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KPI</a:t>
            </a:r>
            <a:r>
              <a:rPr lang="ko-KR" altLang="en-US"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기반으로 목표 및 사업제안시 활용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463040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463040"/>
            <a:ext cx="3584143" cy="9144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K1 데이터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 커버리지, 라벨 건수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자동 라벨 비율, 전문가 일치도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추적 가능비율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2027 하반기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1463040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3775" y="1463040"/>
            <a:ext cx="3584143" cy="914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4943" y="1700784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K2 모델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미검출·과검출, 신뢰구간 포함률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신규품목 적응 데이터량, 망각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조건변동 성능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2027 1Q~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1463040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1480" y="1463040"/>
            <a:ext cx="3584143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2648" y="1700784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K3 확산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지원기업·공정, SP 이식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OEM·산단 연계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현장 채택률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2027~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035808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" y="3035808"/>
            <a:ext cx="3584143" cy="91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273552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K4 사업·성과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과제수주·주관, IP, 기술이전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표준, 기업지원 실적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2027~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3775" y="3035808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03775" y="3035808"/>
            <a:ext cx="3584143" cy="914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4943" y="3273552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K5 신뢰성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 커버리지, 재현성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일반화·전이성, 명장 일치율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표준 제안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2029~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1480" y="3035808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31480" y="3035808"/>
            <a:ext cx="3584143" cy="9144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32648" y="3273552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K6 포털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카탈로그 등록, 카드 충족률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G1~G4 분포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활용 신청·제공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2028~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690872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주요 측정원칙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미검출·과검출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분리</a:t>
            </a:r>
            <a:endParaRPr sz="10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171438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검증셋·현장성능 분리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66805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불확실성 보정상태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62172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조건변동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</a:t>
            </a:r>
            <a:endParaRPr sz="10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57538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절감률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</a:t>
            </a:r>
            <a:endParaRPr sz="10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552905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준비도·성능 분리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8272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채택률 포함</a:t>
            </a:r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1BB05BA6-70AD-F368-5F3B-E5825E5F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73</a:t>
            </a:fld>
            <a:endParaRPr 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9C26781-C923-8D86-BED7-C370BB5E94B7}"/>
              </a:ext>
            </a:extLst>
          </p:cNvPr>
          <p:cNvSpPr/>
          <p:nvPr/>
        </p:nvSpPr>
        <p:spPr>
          <a:xfrm rot="1935078">
            <a:off x="2990672" y="2664658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endParaRPr kumimoji="1" lang="en-US" altLang="ko-KR" sz="40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1600" b="1" dirty="0">
                <a:solidFill>
                  <a:srgbClr val="FF0000"/>
                </a:solidFill>
              </a:rPr>
              <a:t>(</a:t>
            </a:r>
            <a:r>
              <a:rPr kumimoji="1" lang="ko-KR" altLang="en-US" sz="1600" b="1" dirty="0">
                <a:solidFill>
                  <a:srgbClr val="FF0000"/>
                </a:solidFill>
              </a:rPr>
              <a:t>이자리에 있을지</a:t>
            </a:r>
            <a:r>
              <a:rPr kumimoji="1" lang="en-US" altLang="ko-KR" sz="1600" b="1" dirty="0">
                <a:solidFill>
                  <a:srgbClr val="FF0000"/>
                </a:solidFill>
              </a:rPr>
              <a:t>)</a:t>
            </a:r>
            <a:endParaRPr kumimoji="1"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1866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57642FA-D79D-6739-1407-B77E7291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altLang="ko-KR" smtClean="0"/>
              <a:pPr/>
              <a:t>74</a:t>
            </a:fld>
            <a:endParaRPr lang="en-US" altLang="ko-KR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A5F11E9-76F4-CEB0-AE58-63CE8D3DA6EE}"/>
              </a:ext>
            </a:extLst>
          </p:cNvPr>
          <p:cNvSpPr/>
          <p:nvPr/>
        </p:nvSpPr>
        <p:spPr>
          <a:xfrm rot="1935078">
            <a:off x="1716037" y="3151580"/>
            <a:ext cx="5836111" cy="1474735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보완 필요</a:t>
            </a:r>
            <a:endParaRPr kumimoji="1" lang="en-US" altLang="ko-KR" sz="40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병렬 트랙 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row 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분리 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–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 자율작업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,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 신뢰성 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AI)</a:t>
            </a:r>
            <a:endParaRPr kumimoji="1"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330F4-6280-8A31-3E26-61EF8391A719}"/>
              </a:ext>
            </a:extLst>
          </p:cNvPr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편집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수정을 위한 표시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Textbox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5416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CETI AI">
      <a:dk1>
        <a:sysClr val="windowText" lastClr="000000"/>
      </a:dk1>
      <a:lt1>
        <a:sysClr val="window" lastClr="FFFFFF"/>
      </a:lt1>
      <a:dk2>
        <a:srgbClr val="0F2B46"/>
      </a:dk2>
      <a:lt2>
        <a:srgbClr val="F4F6F9"/>
      </a:lt2>
      <a:accent1>
        <a:srgbClr val="1B4F8A"/>
      </a:accent1>
      <a:accent2>
        <a:srgbClr val="E8A33D"/>
      </a:accent2>
      <a:accent3>
        <a:srgbClr val="2F8F6F"/>
      </a:accent3>
      <a:accent4>
        <a:srgbClr val="00A5B5"/>
      </a:accent4>
      <a:accent5>
        <a:srgbClr val="4A90C8"/>
      </a:accent5>
      <a:accent6>
        <a:srgbClr val="C0392B"/>
      </a:accent6>
      <a:hlink>
        <a:srgbClr val="1B4F8A"/>
      </a:hlink>
      <a:folHlink>
        <a:srgbClr val="5F6B7A"/>
      </a:folHlink>
    </a:clrScheme>
    <a:fontScheme name="KOCETI AI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7550</TotalTime>
  <Words>13739</Words>
  <Application>Microsoft Office PowerPoint</Application>
  <PresentationFormat>와이드스크린</PresentationFormat>
  <Paragraphs>2713</Paragraphs>
  <Slides>74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80" baseType="lpstr">
      <vt:lpstr>Noto Sans CJK KR</vt:lpstr>
      <vt:lpstr>맑은 고딕</vt:lpstr>
      <vt:lpstr>맑은 고딕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KOCETI 건설기계·농기계·특장차 산업 AX 전환 지원 로드맵</dc:title>
  <dc:subject>숙련기술의 데이터 계승과 자율제조 생태계 전환 (2027~2031)</dc:subject>
  <dc:creator>AI working group</dc:creator>
  <cp:keywords/>
  <dc:description>generated using python-pptx</dc:description>
  <cp:lastModifiedBy>eunseong park</cp:lastModifiedBy>
  <cp:revision>154</cp:revision>
  <dcterms:created xsi:type="dcterms:W3CDTF">2013-01-27T09:14:16Z</dcterms:created>
  <dcterms:modified xsi:type="dcterms:W3CDTF">2026-09-07T23:49:28Z</dcterms:modified>
  <cp:category>원장·원내 보고용 발표자료 v2.0</cp:category>
</cp:coreProperties>
</file>